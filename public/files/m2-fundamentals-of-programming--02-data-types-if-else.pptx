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2 builds on Lesson 1: a quick review, then input, comments, operators and if-then-else.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 AVR boards such as the Arduino Mega, double is stored the same way as float.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Run-time error recap: the computer could not perform what you tell it to do, eg 1/0. Syntax answers: missing ; after 10, and SenserValue does not match SensorValue.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a = a+1: the right side is worked out first (1+1), then stored back in a, so the serial monitor prints 2, 3, 4 and so on, one per second, all on the same line because it uses print.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27.98 is larger than 25, so this prints turn on. Ask what prints if temperature is 20.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original slide wrote else (lastCondition). In C++ else takes no condition, so it is shown here as else { }.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5. a&lt;5 is false (10 is not smaller than 5), so else runs: a = 10 - 5.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Bye. 10 is not larger than 20, so else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x&lt;y is true but y&lt;z (7&lt;2) is false, so the AND fails; the OR needs only one true, so else if runs.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any combination with x &gt; y &gt; z, for example 3, 2, 1. !(x&lt;=y) means x is larger than y, and y&gt;z must also be true.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537795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685800" y="726430"/>
            <a:ext cx="5537795" cy="408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685800" y="1440160"/>
            <a:ext cx="10693400" cy="4605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arm grainy close-up of a pale bloom">    </p:cNvPr>
          <p:cNvPicPr>
            <a:picLocks noChangeAspect="1"/>
          </p:cNvPicPr>
          <p:nvPr/>
        </p:nvPicPr>
        <p:blipFill>
          <a:blip r:embed="rId1"/>
          <a:srcRect l="0" r="0" t="39410" b="39410"/>
          <a:stretch/>
        </p:blipFill>
        <p:spPr>
          <a:xfrm>
            <a:off x="0" y="2984500"/>
            <a:ext cx="12192000" cy="387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1000" y="381000"/>
            <a:ext cx="2747010" cy="421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133850" y="381000"/>
            <a:ext cx="3924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CSWCSS Regular Course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5080" y="381000"/>
            <a:ext cx="418592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M1: Programming with C++</a:t>
            </a:r>
            <a:endParaRPr lang="en-US" sz="1600" dirty="0"/>
          </a:p>
        </p:txBody>
      </p:sp>
      <p:sp>
        <p:nvSpPr>
          <p:cNvPr id="6" name="Text 3"/>
          <p:cNvSpPr/>
          <p:nvPr>
            <p:ph type="title"/>
          </p:nvPr>
        </p:nvSpPr>
        <p:spPr>
          <a:xfrm>
            <a:off x="863600" y="1270000"/>
            <a:ext cx="10464800" cy="1038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2</a:t>
            </a:r>
            <a:endParaRPr lang="en-US" sz="3800" dirty="0"/>
          </a:p>
          <a:p>
            <a:pPr algn="ctr" indent="0" marL="0">
              <a:lnSpc>
                <a:spcPts val="3990"/>
              </a:lnSpc>
              <a:buNone/>
            </a:pPr>
            <a:r>
              <a:rPr lang="en-US" sz="3800" b="1" i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More About Programming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21795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Overview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491412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input to decisions.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5768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47800" y="1903710"/>
            <a:ext cx="317200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 of Lesson 1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37931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58886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47800" y="2534890"/>
            <a:ext cx="276433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Input-Process-Output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301049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2004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47800" y="3166070"/>
            <a:ext cx="329243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Comments &amp; the compiler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85800" y="364167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85122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47800" y="3797250"/>
            <a:ext cx="369510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Operators: compare &amp; assign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85800" y="42728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4482405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47800" y="4428430"/>
            <a:ext cx="1448455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85800" y="49040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553521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5113586"/>
            <a:ext cx="457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06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47800" y="5059611"/>
            <a:ext cx="2032754" cy="345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55595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47295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sketch has two functions.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6924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304800" tIns="279400" rIns="151638" bIns="25400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setup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</a:t>
            </a:r>
            <a:r>
              <a:rPr lang="en-US" sz="16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loop</a:t>
            </a: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Serial.println("Hello world");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6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6924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7219950" y="1748135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19950" y="190371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SETUP()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19950" y="218053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once, after each powerup or reset of IA Kit.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219950" y="258499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19950" y="3421856"/>
            <a:ext cx="459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19950" y="27405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LOOP()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50" y="3017391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Runs continuously. Most of your code goes here.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25572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297936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data types.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11112500" cy="3075732"/>
        </p:xfrm>
        <a:graphic>
          <a:graphicData uri="http://schemas.openxmlformats.org/drawingml/2006/table">
            <a:tbl>
              <a:tblPr/>
              <a:tblGrid>
                <a:gridCol w="2000250"/>
                <a:gridCol w="6223000"/>
                <a:gridCol w="2889250"/>
              </a:tblGrid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Type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Example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Integer in Maths, can be positive, 0 or negative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1, 102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Float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7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1.234, 2.345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Double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Numbers that can have up to 15 decimal places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1.234567890123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Char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Single character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String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Multiple characters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ABC, Hello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93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Boolean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 data type whose value is either true or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true, false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01600" marR="1016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43249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Quick Review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3291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Syntax, run-time &amp; logic errors.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SYNTAX ERROR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83680"/>
            <a:ext cx="5153025" cy="16446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SensorValue = 10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 (SenserValue);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75533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Written mistakes stop the code from compiling.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45225" y="1643360"/>
            <a:ext cx="6350" cy="236086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6433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LOGIC 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1983680"/>
            <a:ext cx="5153025" cy="13970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203200" rIns="87725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(sensorValue &gt; threshold)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Print("true"); 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 (sensorValue &lt; threshold)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Print("false"); }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57975" y="3507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would be performed when sensorValue = threshold.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99749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Input-Process-Output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31747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program takes in, works on &amp; gives out.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5800" y="2434530"/>
            <a:ext cx="32615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896791"/>
            <a:ext cx="32615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data that we enter or the computer gets from the environment via sensors.</a:t>
            </a:r>
            <a:endParaRPr lang="en-US" sz="1400" dirty="0"/>
          </a:p>
        </p:txBody>
      </p:sp>
      <p:pic>
        <p:nvPicPr>
          <p:cNvPr id="10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055517" y="2544366"/>
            <a:ext cx="406400" cy="2032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665117" y="1906885"/>
            <a:ext cx="3166566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665117" y="2094210"/>
            <a:ext cx="32615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665117" y="2434530"/>
            <a:ext cx="326156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Process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4665117" y="2896791"/>
            <a:ext cx="3261563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codes (orders) for the computer to process.</a:t>
            </a:r>
            <a:endParaRPr lang="en-US" sz="1400" dirty="0"/>
          </a:p>
        </p:txBody>
      </p:sp>
      <p:pic>
        <p:nvPicPr>
          <p:cNvPr id="15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34883" y="2544366"/>
            <a:ext cx="406400" cy="2032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644483" y="1906885"/>
            <a:ext cx="3166517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644483" y="2094210"/>
            <a:ext cx="32615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Step 3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8644483" y="2434530"/>
            <a:ext cx="3261512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Output</a:t>
            </a:r>
            <a:endParaRPr lang="en-US" sz="2200" dirty="0"/>
          </a:p>
        </p:txBody>
      </p:sp>
      <p:sp>
        <p:nvSpPr>
          <p:cNvPr id="19" name="Text 15"/>
          <p:cNvSpPr/>
          <p:nvPr/>
        </p:nvSpPr>
        <p:spPr>
          <a:xfrm>
            <a:off x="8644483" y="2896791"/>
            <a:ext cx="326151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response from the computer after processing the codes.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1682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26232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Useful functions for input.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EXISTED WITHOUT LIBRARY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2110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typed by the user in the serial monitor.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511971"/>
            <a:ext cx="5153025" cy="14287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Serial.parseInt()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Serial.parseFloat()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 (Serial.available() == 0){}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45225" y="1744960"/>
            <a:ext cx="6350" cy="219576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6657975" y="1744960"/>
            <a:ext cx="530761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WITH INCIPE LIBRARY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57975" y="2110680"/>
            <a:ext cx="530761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 read from the IA Kit’s sensors.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57975" y="2511971"/>
            <a:ext cx="5153025" cy="14287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28600" rIns="114649" bIns="203200" rtlCol="0" anchor="t">
            <a:normAutofit/>
          </a:bodyPr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incipe.getTemperature()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incipe.getLightIntensity()</a:t>
            </a:r>
            <a:endParaRPr lang="en-US" sz="1500" dirty="0"/>
          </a:p>
          <a:p>
            <a:pPr algn="l" indent="0" marL="0">
              <a:lnSpc>
                <a:spcPts val="2550"/>
              </a:lnSpc>
              <a:buNone/>
            </a:pPr>
            <a:r>
              <a:rPr lang="en-US" sz="15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incipe.getDistance()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8351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Input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400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Reading input, line by line.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92560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USER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85800" y="1910655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15430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Serial.println("Please enter your height.");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40600" y="2015430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Ask the user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5800" y="236909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47387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while(Serial.available()==0){}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40600" y="247387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Wait when there’s no input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82753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328597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93231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Serial.parseInt();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40600" y="293231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input from user and store it in “a”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543151"/>
            <a:ext cx="1145895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A SENSOR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85800" y="3861246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66021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incipe.main();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340600" y="3966021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Activate the sensors &amp; sensor libraries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85800" y="431968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778127"/>
            <a:ext cx="111252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4424462"/>
            <a:ext cx="65405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incipe.onscreen("temp1", incipe.getTemperature());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340600" y="4424462"/>
            <a:ext cx="460451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temperature in “temp1”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82816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Comment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62504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Notes the compiler ignores.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541760"/>
            <a:ext cx="6350000" cy="3941763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78740" bIns="17780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 s = "Hello, ";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//declare a string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 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//activate Serial Monitor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Serial.println("What is your name?");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while (Serial.available() == 0)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String input = Serial.readString();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Serial.print(s + input);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put your main code here, to run repeatedly: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*/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42200" y="1541760"/>
            <a:ext cx="6350" cy="3941763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854950" y="1541760"/>
            <a:ext cx="407473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Lines in the program that are used to inform yourself or others about the way the program works. They are ignored by the compiler.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54950" y="244400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54950" y="2574181"/>
            <a:ext cx="749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756650" y="2599581"/>
            <a:ext cx="31459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Single-line comment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854950" y="298881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854950" y="3533626"/>
            <a:ext cx="3956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54950" y="3118991"/>
            <a:ext cx="7493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/* */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756650" y="3144391"/>
            <a:ext cx="3145981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Multi-line comment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607201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Compiler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532662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Think of it like Google Translate.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2277666"/>
            <a:ext cx="3335834" cy="10464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39800" y="2531666"/>
            <a:ext cx="2912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YOU WRITE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39800" y="2821186"/>
            <a:ext cx="2912669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Serial.print("Hi");</a:t>
            </a:r>
            <a:endParaRPr lang="en-US" sz="14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24834" y="2699246"/>
            <a:ext cx="406400" cy="203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834434" y="1906885"/>
            <a:ext cx="28278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34434" y="2094210"/>
            <a:ext cx="2912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COMPILER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834434" y="2383730"/>
            <a:ext cx="2912720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Translates the code you write into something the computer can understand and execute.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834434" y="3206601"/>
            <a:ext cx="29127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Meanwhile, it checks if there’s any mistake in the written code.</a:t>
            </a:r>
            <a:endParaRPr lang="en-US" sz="140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65517" y="2699246"/>
            <a:ext cx="4064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475117" y="2277666"/>
            <a:ext cx="3335883" cy="10464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16" name="Text 12"/>
          <p:cNvSpPr/>
          <p:nvPr/>
        </p:nvSpPr>
        <p:spPr>
          <a:xfrm>
            <a:off x="8729117" y="2531666"/>
            <a:ext cx="29127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COMPUTER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729117" y="2821186"/>
            <a:ext cx="291272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Executes it.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70392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64535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Six ways to compare two values.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340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 OPERATORS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83680"/>
            <a:ext cx="340106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Used to compare the variable on the left with the value or variable on the right.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94200" y="1643360"/>
            <a:ext cx="6350" cy="2910632"/>
          </a:xfrm>
          <a:prstGeom prst="rect">
            <a:avLst/>
          </a:prstGeom>
          <a:solidFill>
            <a:srgbClr val="D4D4D4"/>
          </a:solidFill>
          <a:ln/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19650" y="1656060"/>
          <a:ext cx="6991350" cy="2897932"/>
        </p:xfrm>
        <a:graphic>
          <a:graphicData uri="http://schemas.openxmlformats.org/drawingml/2006/table">
            <a:tbl>
              <a:tblPr/>
              <a:tblGrid>
                <a:gridCol w="2097405"/>
                <a:gridCol w="4893945"/>
              </a:tblGrid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Symbol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Meaning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==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Equals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!=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Not equals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 or equal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&gt;=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 or equal to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&lt;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Smaller than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3990"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&gt;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Larger than</a:t>
                      </a:r>
                      <a:endParaRPr lang="en-US" sz="14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76200" marB="762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00180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Remember!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806035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One equal sign assigns. Two compare.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643360"/>
            <a:ext cx="30544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85800" y="2339280"/>
            <a:ext cx="3054414" cy="775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Assign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value on the right to the variable on the left. e.g a=1 means let a equal to 1.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3216126"/>
            <a:ext cx="3054414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evaluates the expression on the right first, then stores it in the variable on the left side.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057650" y="1643360"/>
            <a:ext cx="6350" cy="26352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4470400" y="1643360"/>
            <a:ext cx="3556000" cy="263525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54000" tIns="203200" rIns="162560" bIns="1778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 = 1;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loop()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 = a+1;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Serial.print(a);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delay(1000);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432800" y="1643360"/>
            <a:ext cx="6350" cy="263525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2" name="Text 10"/>
          <p:cNvSpPr/>
          <p:nvPr/>
        </p:nvSpPr>
        <p:spPr>
          <a:xfrm>
            <a:off x="8845550" y="1643360"/>
            <a:ext cx="305441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8845550" y="2339280"/>
            <a:ext cx="3054414" cy="5263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Compare</a:t>
            </a: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the variable on the left to the variable on the right.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15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795784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917418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runs code when the condition is true.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985000" cy="29337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86614" bIns="2032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const int number = 5;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These constants won't change: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(number &lt; 10)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Serial.println("The number is smaller than 10.");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this order when the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77200" y="1744960"/>
            <a:ext cx="6350" cy="29337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8489950" y="17449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489950" y="2085280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It allows you to do something when the condition is true.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71006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Here 5 &lt; 10, so the message prints.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16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6455882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752141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else runs when the condition is false.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5715000" cy="285750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124714" bIns="20320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float temperature = 27.98;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 setup()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Serial.begin(9600);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if (temperature &gt; 25)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Serial.print("turn on");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else {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Serial.print("turn off");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07200" y="1744960"/>
            <a:ext cx="6350" cy="28575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6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 ELSE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219950" y="2085280"/>
            <a:ext cx="47287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 the primary condition is false, nothing would execute.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219950" y="2461171"/>
            <a:ext cx="4728782" cy="7720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So, we create “else” after the primary conditional statement. When the primary condition is false, the statements inside “else” run.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17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024126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If-then-else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853351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else if adds more conditions.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85800" y="1744960"/>
            <a:ext cx="6985000" cy="2682032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79400" tIns="228600" rIns="86614" bIns="22860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(someCondition)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if the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(anotherCondition)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only if the first condition is false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and the second condition is true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 </a:t>
            </a:r>
            <a:r>
              <a:rPr lang="en-US" sz="13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300" dirty="0">
                <a:solidFill>
                  <a:srgbClr val="76706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do stuff only when first two conditions are both false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077200" y="1744960"/>
            <a:ext cx="6350" cy="2682032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Shape 6"/>
          <p:cNvSpPr/>
          <p:nvPr/>
        </p:nvSpPr>
        <p:spPr>
          <a:xfrm>
            <a:off x="8489950" y="1748135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489950" y="187831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89950" y="2178000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at the first statement.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489950" y="2557066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89950" y="268724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489950" y="298693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As many times as required.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489950" y="3365996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89950" y="4423817"/>
            <a:ext cx="332105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89950" y="3496171"/>
            <a:ext cx="342068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89950" y="379586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Only at the last statement, with no condition.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18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1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2622996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16984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a=10;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if(a&lt;5){a=a+4;}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else{a=a-5;}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Serial.print(a);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807200" y="1744960"/>
            <a:ext cx="6350" cy="262299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a&lt;5 is false, because 10 is not smaller than 5. So else runs: a = 10 − 5 = 5.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19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2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3308945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2511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x=10;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y=20;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(x&gt;y) 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Serial.println("Hi");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Serial.println("Bye");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3308945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Bye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5627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030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x&gt;y is false, because 10 is not larger than 20. So the else block prints Bye.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20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01110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16828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Combine conditions with three symbols.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843385"/>
            <a:ext cx="3437434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030710"/>
            <a:ext cx="3540557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&amp;&amp;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85800" y="2630140"/>
            <a:ext cx="3540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3036540"/>
            <a:ext cx="3540557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Both statements must be true for the computer to process it as true.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29634" y="18433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9634" y="2030710"/>
            <a:ext cx="3540608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||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529634" y="263014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OR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29634" y="3036540"/>
            <a:ext cx="35406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When any one of the statements is true, the computer processes it as true.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373517" y="1843385"/>
            <a:ext cx="3437483" cy="0"/>
          </a:xfrm>
          <a:prstGeom prst="line">
            <a:avLst/>
          </a:prstGeom>
          <a:noFill/>
          <a:ln w="19050">
            <a:solidFill>
              <a:srgbClr val="B5794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73517" y="2030710"/>
            <a:ext cx="3540608" cy="523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373517" y="2630140"/>
            <a:ext cx="35406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373517" y="3036540"/>
            <a:ext cx="35406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Turns true into false, and false into true.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889921"/>
            <a:ext cx="11125200" cy="853380"/>
          </a:xfrm>
          <a:prstGeom prst="rect">
            <a:avLst/>
          </a:prstGeom>
          <a:solidFill>
            <a:srgbClr val="E1E1E1"/>
          </a:solidFill>
          <a:ln/>
        </p:spPr>
        <p:txBody>
          <a:bodyPr wrap="square" lIns="228600" tIns="177800" rIns="0" bIns="15240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These three symbols are important when using if-else statements. If a wrong symbol is used, an undesirable result would be presented.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21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5949658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AND, OR &amp; NOT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6931640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Same numbers, different symbols.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98500" y="1605260"/>
          <a:ext cx="6972300" cy="2743200"/>
        </p:xfrm>
        <a:graphic>
          <a:graphicData uri="http://schemas.openxmlformats.org/drawingml/2006/table">
            <a:tbl>
              <a:tblPr/>
              <a:tblGrid>
                <a:gridCol w="5229225"/>
                <a:gridCol w="174307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Condition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D1D1E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Result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3E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||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5B5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((10&gt;7) || (90&gt;80)){}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&amp;&amp;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670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false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((10 &gt; 7) &amp;&amp; !(90&lt;80)){}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B57946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if (!(10 &gt; 7) &amp;&amp; (90&lt;80)){}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6706C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false</a:t>
                      </a:r>
                      <a:endParaRPr lang="en-US" sz="15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127000" marR="127000" marT="88900" marB="88900" anchor="t">
                    <a:lnL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4C4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077200" y="1592560"/>
            <a:ext cx="6350" cy="275590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8" name="Text 5"/>
          <p:cNvSpPr/>
          <p:nvPr/>
        </p:nvSpPr>
        <p:spPr>
          <a:xfrm>
            <a:off x="8489950" y="1592560"/>
            <a:ext cx="34206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IT AS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489950" y="1932880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&gt; 7 is true.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90 &lt; 80 is false.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8489950" y="2557661"/>
            <a:ext cx="34206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Work out each bracket first, then apply the symbol.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22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810224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3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9439513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following code. What will be printed?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592560"/>
            <a:ext cx="5715000" cy="3585170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18465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161480"/>
            <a:ext cx="5258562" cy="2787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x=5;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y=7;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 z=2;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if(x&lt;y &amp;&amp; y&lt;z){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Serial.print("A");}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 if(x&lt;y || y&lt;z){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Serial.print("B");}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else{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Serial.print("C");}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807200" y="1592560"/>
            <a:ext cx="6350" cy="3585170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0" name="Text 8"/>
          <p:cNvSpPr/>
          <p:nvPr/>
        </p:nvSpPr>
        <p:spPr>
          <a:xfrm>
            <a:off x="7219950" y="15925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219950" y="19328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219950" y="25627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19950" y="29030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x&lt;y is true but y&lt;z (7&lt;2) is false, so &amp;&amp; is false. || needs only one true, so else if runs and prints B.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23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7358727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Checkpoint 4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8573274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Which x, y &amp; z would make this code true?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4960"/>
            <a:ext cx="5715000" cy="1808311"/>
          </a:xfrm>
          <a:prstGeom prst="rect">
            <a:avLst/>
          </a:prstGeom>
          <a:solidFill>
            <a:srgbClr val="E1E1E1"/>
          </a:solidFill>
          <a:ln/>
        </p:spPr>
      </p:sp>
      <p:sp>
        <p:nvSpPr>
          <p:cNvPr id="7" name="Text 5"/>
          <p:cNvSpPr/>
          <p:nvPr/>
        </p:nvSpPr>
        <p:spPr>
          <a:xfrm>
            <a:off x="990600" y="2049760"/>
            <a:ext cx="525856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READ THE CODE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90600" y="2390080"/>
            <a:ext cx="5258562" cy="3600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D1D1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if (!(x&lt;=y) &amp;&amp; (y&gt;z)){}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90600" y="2851696"/>
            <a:ext cx="525856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Give x, y, z respectively.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807200" y="1744960"/>
            <a:ext cx="6350" cy="1808311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1" name="Text 9"/>
          <p:cNvSpPr/>
          <p:nvPr/>
        </p:nvSpPr>
        <p:spPr>
          <a:xfrm>
            <a:off x="7219950" y="1744960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ANSWER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19950" y="2085280"/>
            <a:ext cx="4728782" cy="528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dirty="0">
                <a:solidFill>
                  <a:srgbClr val="B57946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3, 2, 1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219950" y="2715171"/>
            <a:ext cx="472878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219950" y="3055491"/>
            <a:ext cx="472878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!(x&lt;=y) means x is larger than y, and y&gt;z must also be true. Any x &gt; y &gt; z works, for example 3, 2, 1.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252200" y="381000"/>
            <a:ext cx="558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24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381000" y="381000"/>
            <a:ext cx="31750" cy="754360"/>
          </a:xfrm>
          <a:prstGeom prst="rect">
            <a:avLst/>
          </a:prstGeom>
          <a:solidFill>
            <a:srgbClr val="B5794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381000"/>
            <a:ext cx="4578759" cy="2692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Recap &amp; Next Lesson</a:t>
            </a:r>
            <a:endParaRPr lang="en-US" sz="16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685800" y="726430"/>
            <a:ext cx="5334476" cy="43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 things to take away.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685800" y="1748135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903710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19200" y="1906885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Every program is input, process and output.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311350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66925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19200" y="2470100"/>
            <a:ext cx="4813808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= assigns a value; == compares two values.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85800" y="2874566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3686671"/>
            <a:ext cx="5207000" cy="0"/>
          </a:xfrm>
          <a:prstGeom prst="line">
            <a:avLst/>
          </a:prstGeom>
          <a:noFill/>
          <a:ln w="6350">
            <a:solidFill>
              <a:srgbClr val="D4D4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30141"/>
            <a:ext cx="330200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19200" y="3033316"/>
            <a:ext cx="4813808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if, else if &amp; else choose what runs; &amp;&amp;, || &amp; ! combine conditions.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3994646"/>
            <a:ext cx="536321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you!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299200" y="1744960"/>
            <a:ext cx="6350" cy="2605286"/>
          </a:xfrm>
          <a:prstGeom prst="rect">
            <a:avLst/>
          </a:prstGeom>
          <a:solidFill>
            <a:srgbClr val="D4D4D4"/>
          </a:solidFill>
          <a:ln/>
        </p:spPr>
      </p:sp>
      <p:sp>
        <p:nvSpPr>
          <p:cNvPr id="18" name="Text 16"/>
          <p:cNvSpPr/>
          <p:nvPr/>
        </p:nvSpPr>
        <p:spPr>
          <a:xfrm>
            <a:off x="6711950" y="1897360"/>
            <a:ext cx="52520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95" kern="0" dirty="0">
                <a:solidFill>
                  <a:srgbClr val="B5794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LESSON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711950" y="2237680"/>
            <a:ext cx="525202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D1D1E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C++ Fundamentals: Conditional (if-else-if) Statements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1950" y="2974280"/>
            <a:ext cx="5252022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From the Module 1 curriculum.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924550" y="6327180"/>
            <a:ext cx="58864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6706C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© 2026 Incipe Academy Limited. All rights reserved.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SWCSS Lesson 2: More About Programming">
  <a:themeElements>
    <a:clrScheme name="CSWCSS Lesson 2: More About Programming">
      <a:dk1>
        <a:srgbClr val="1D1D1E"/>
      </a:dk1>
      <a:lt1>
        <a:srgbClr val="F5F5F5"/>
      </a:lt1>
      <a:dk2>
        <a:srgbClr val="535354"/>
      </a:dk2>
      <a:lt2>
        <a:srgbClr val="DFDFE0"/>
      </a:lt2>
      <a:accent1>
        <a:srgbClr val="B57946"/>
      </a:accent1>
      <a:accent2>
        <a:srgbClr val="76706C"/>
      </a:accent2>
      <a:accent3>
        <a:srgbClr val="D4D4D4"/>
      </a:accent3>
      <a:accent4>
        <a:srgbClr val="9AA0A6"/>
      </a:accent4>
      <a:accent5>
        <a:srgbClr val="737374"/>
      </a:accent5>
      <a:accent6>
        <a:srgbClr val="949494"/>
      </a:accent6>
      <a:hlink>
        <a:srgbClr val="0563C1"/>
      </a:hlink>
      <a:folHlink>
        <a:srgbClr val="954F72"/>
      </a:folHlink>
    </a:clrScheme>
    <a:fontScheme name="CSWCSS Lesson 2: More About Programming">
      <a:majorFont>
        <a:latin typeface="Helvetica Ne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Helvetica Neu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CSWCSS Lesson 2: More About Programming</dc:title>
  <dc:subject/>
  <dc:creator/>
  <cp:lastModifiedBy/>
  <cp:revision>1</cp:revision>
  <dcterms:created xsi:type="dcterms:W3CDTF">2026-10-08T06:28:45Z</dcterms:created>
  <dcterms:modified xsi:type="dcterms:W3CDTF">2026-10-08T06:28:45Z</dcterms:modified>
</cp:coreProperties>
</file>