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of M1 AI Literacy. Today the Workspace AI writes the first draft of a function for the temperature and humidity sensor, and we learn to review it and make it use less memory. Thirty minutes, five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in thirty minutes. The big idea: the AI is fast at drafts, you are responsible for checking them. The practice task at the end continues as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aloud once. Students only need the plain meaning today; M2 Session 1 goes deeper into memory, RAM and Flash.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the Workspace AI as a new lab partner who types very fast. They have never seen your board before, so you still check their work. Two of these four steps are yours: describing clearly, and checking what comes back. Connecting the board and the Console are covered in the Wiki page Connect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screenshots of the current Workspace. Type the prompt into the chat and send it. When the draft appears, Verify first. Upload only after Verify passes, then open the Console to read what the board 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Checking that the code does what you meant is your job, and it is the rest of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DHT11 is a slow sensor: reading it more often than every 1 to 2 seconds does not give fresher data. Minus one means the sensor is not detected yet. These facts are exactly what the Wiki page says,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kind of draft an AI often gives for "write a function that reads the temperature and humidity". It compiles, and it even works when the sensor is plugged in. Ask the class what could go wrong before showing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five questions one by one. If the AI had written incipe.readTemperature(), Verify would stop at that line because no such function exists. The other two problems are invisible to the compiler.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lockers of 8 bytes become two lockers of 4 bytes: 8 bytes saved, every time the function runs. Building the String every two seconds can also leave memory in scattered pieces. Next: the optimised version, one line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of 10. Same output as the AI draft, less memory, and it handles minus one. We follow one call where the sensor gives 23.4 degrees and 51 percent. void means the function gives nothing back; it prints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The sensor hands back a float, so the box is a float: 4 bytes, not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Two floats: 8 bytes in total, where the AI draft used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This is the minus-one check the AI draft forgot. If either value were minus one, line 5 would print a short message and line 6, return, would leave the function before any fake numbers are printed.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We jumped from line 4 to line 8 because the if was false. Instead of building one long String, the sentence is printed one piece at a time, so nothing is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Serial.print of a float shows two decimal places by default, so 23.4 appears as 23.40.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Still print, not println, so the text keeps going on the same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The humidity float, 51, prints as 51.00.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The finished line: Temperature: 23.40 C, Humidity: 51.00 %. Exactly what the AI draft printed, without storing a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10. To run it every 2 seconds, ask the AI to call printClimate from a user thread paced at 2000 milliseconds, the speed the Wiki gives for the DHT11. M3 Session 1 explains threads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calculator analogy: you trust it to multiply, but you still check you typed the right numbers. A second prompt worth keeping: explain what each line of this function does, in one short sentence per line, for a beginner.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in class. Walk round and check that students make the fixes themselves rather than asking the AI to rewrite. Step 5 proves the minus-one check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curriculum's practice task: use AI to generate a function that reads from the temperature and humidity sensor, then manually optimise the memory usage. Five deliverables.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DHT11 not detected yet. Only one of the two values has to be minus one for the or test to be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Temperature: 18.00 C, Humidity: 60.00 %. The two decimal places come from how Arduino prints a float.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8 bytes. On the INCIPE Board's ESP32 a double is 8 bytes and a float is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Verify stops with an error. Verify compiles the code and reports the first mistake it finds; a function name that does not exist is exactly that kind of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No. The Wiki's read interval for the DHT11 is 2000 milliseconds. M3 Session 1 covers threads and vTaskDelay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points to remember. Homework: finish the climate reader practice table. Next session moves to the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5F5"/>
        </a:solidFill>
      </p:bgPr>
    </p:bg>
    <p:spTree>
      <p:nvGrpSpPr>
        <p:cNvPr id="1" name=""/>
        <p:cNvGrpSpPr/>
        <p:nvPr/>
      </p:nvGrpSpPr>
      <p:grpSpPr>
        <a:xfrm>
          <a:off x="0" y="0"/>
          <a:ext cx="0" cy="0"/>
          <a:chOff x="0" y="0"/>
          <a:chExt cx="0" cy="0"/>
        </a:xfrm>
      </p:grpSpPr>
      <p:sp>
        <p:nvSpPr>
          <p:cNvPr id="2" name="Title Placeholder 1"/>
          <p:cNvSpPr/>
          <p:nvPr>
            <p:ph type="title"/>
          </p:nvPr>
        </p:nvSpPr>
        <p:spPr>
          <a:xfrm>
            <a:off x="685800" y="726430"/>
            <a:ext cx="9220200" cy="408930"/>
          </a:xfrm>
          <a:prstGeom prst="rect">
            <a:avLst/>
          </a:prstGeom>
          <a:noFill/>
          <a:ln/>
        </p:spPr>
        <p:txBody>
          <a:bodyPr wrap="square" lIns="0" tIns="0" rIns="0" bIns="0" rtlCol="0" anchor="t"/>
          <a:lstStyle>
            <a:lvl1pPr algn="l" indent="0" marL="0">
              <a:lnSpc>
                <a:spcPct val="115000"/>
              </a:lnSpc>
              <a:buNone/>
              <a:defRPr lang="en-US" sz="2800" dirty="0">
                <a:solidFill>
                  <a:srgbClr val="1D1D1E"/>
                </a:solidFill>
                <a:latin typeface="Helvetica Neue" pitchFamily="34" charset="0"/>
                <a:ea typeface="Helvetica Neue" pitchFamily="34" charset="-122"/>
                <a:cs typeface="Helvetica Neue"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685800" y="1440160"/>
            <a:ext cx="10693400" cy="4605040"/>
          </a:xfrm>
          <a:prstGeom prst="rect">
            <a:avLst/>
          </a:prstGeom>
          <a:noFill/>
          <a:ln/>
        </p:spPr>
        <p:txBody>
          <a:bodyPr wrap="square" lIns="0" tIns="0" rIns="0" bIns="0" rtlCol="0" anchor="t"/>
          <a:lstStyle>
            <a:lvl1pPr algn="l" indent="0" marL="0">
              <a:lnSpc>
                <a:spcPct val="140000"/>
              </a:lnSpc>
              <a:buNone/>
              <a:defRPr lang="en-US" sz="1600" dirty="0">
                <a:solidFill>
                  <a:srgbClr val="1D1D1E"/>
                </a:solidFill>
                <a:latin typeface="Helvetica Neue" pitchFamily="34" charset="0"/>
                <a:ea typeface="Helvetica Neue" pitchFamily="34" charset="-122"/>
                <a:cs typeface="Helvetica Neue"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5F5"/>
        </a:solidFill>
      </p:bgPr>
    </p:bg>
    <p:spTree>
      <p:nvGrpSpPr>
        <p:cNvPr id="1" name=""/>
        <p:cNvGrpSpPr/>
        <p:nvPr/>
      </p:nvGrpSpPr>
      <p:grpSpPr>
        <a:xfrm>
          <a:off x="0" y="0"/>
          <a:ext cx="0" cy="0"/>
          <a:chOff x="0" y="0"/>
          <a:chExt cx="0" cy="0"/>
        </a:xfrm>
      </p:grpSpPr>
      <p:sp>
        <p:nvSpPr>
          <p:cNvPr id="2" name="Title Placeholder 1"/>
          <p:cNvSpPr/>
          <p:nvPr>
            <p:ph type="title"/>
          </p:nvPr>
        </p:nvSpPr>
        <p:spPr>
          <a:xfrm>
            <a:off x="685800" y="726430"/>
            <a:ext cx="9220200" cy="408930"/>
          </a:xfrm>
          <a:prstGeom prst="rect">
            <a:avLst/>
          </a:prstGeom>
          <a:noFill/>
          <a:ln/>
        </p:spPr>
        <p:txBody>
          <a:bodyPr wrap="square" lIns="0" tIns="0" rIns="0" bIns="0" rtlCol="0" anchor="t"/>
          <a:lstStyle>
            <a:lvl1pPr algn="l" indent="0" marL="0">
              <a:lnSpc>
                <a:spcPct val="115000"/>
              </a:lnSpc>
              <a:buNone/>
              <a:defRPr lang="en-US" sz="2800" dirty="0">
                <a:solidFill>
                  <a:srgbClr val="1D1D1E"/>
                </a:solidFill>
                <a:latin typeface="Helvetica Neue" pitchFamily="34" charset="0"/>
                <a:ea typeface="Helvetica Neue" pitchFamily="34" charset="-122"/>
                <a:cs typeface="Helvetica Neue"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685800" y="1440160"/>
            <a:ext cx="10693400" cy="4605040"/>
          </a:xfrm>
          <a:prstGeom prst="rect">
            <a:avLst/>
          </a:prstGeom>
          <a:noFill/>
          <a:ln/>
        </p:spPr>
        <p:txBody>
          <a:bodyPr wrap="square" lIns="0" tIns="0" rIns="0" bIns="0" rtlCol="0" anchor="t"/>
          <a:lstStyle>
            <a:lvl1pPr algn="l" indent="0" marL="0">
              <a:lnSpc>
                <a:spcPct val="140000"/>
              </a:lnSpc>
              <a:buNone/>
              <a:defRPr lang="en-US" sz="1600" dirty="0">
                <a:solidFill>
                  <a:srgbClr val="1D1D1E"/>
                </a:solidFill>
                <a:latin typeface="Helvetica Neue" pitchFamily="34" charset="0"/>
                <a:ea typeface="Helvetica Neue" pitchFamily="34" charset="-122"/>
                <a:cs typeface="Helvetica Neue"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39462" b="39462"/>
          <a:stretch/>
        </p:blipFill>
        <p:spPr>
          <a:xfrm>
            <a:off x="0" y="3003550"/>
            <a:ext cx="12192000" cy="3854450"/>
          </a:xfrm>
          <a:prstGeom prst="rect">
            <a:avLst/>
          </a:prstGeom>
        </p:spPr>
      </p:pic>
      <p:sp>
        <p:nvSpPr>
          <p:cNvPr id="3" name="Text 0"/>
          <p:cNvSpPr/>
          <p:nvPr/>
        </p:nvSpPr>
        <p:spPr>
          <a:xfrm>
            <a:off x="381000" y="381000"/>
            <a:ext cx="3401060" cy="375841"/>
          </a:xfrm>
          <a:prstGeom prst="rect">
            <a:avLst/>
          </a:prstGeom>
          <a:noFill/>
          <a:ln/>
        </p:spPr>
        <p:txBody>
          <a:bodyPr wrap="square" lIns="0" tIns="0" rIns="0" bIns="0" rtlCol="0" anchor="t">
            <a:normAutofit/>
          </a:bodyPr>
          <a:lstStyle/>
          <a:p>
            <a:pPr algn="l" indent="0" marL="0">
              <a:lnSpc>
                <a:spcPts val="1380"/>
              </a:lnSpc>
              <a:buNone/>
            </a:pPr>
            <a:r>
              <a:rPr lang="en-US" sz="1200" dirty="0">
                <a:solidFill>
                  <a:srgbClr val="B57946"/>
                </a:solidFill>
                <a:latin typeface="Helvetica Neue" pitchFamily="34" charset="0"/>
                <a:ea typeface="Helvetica Neue" pitchFamily="34" charset="-122"/>
                <a:cs typeface="Helvetica Neue" pitchFamily="34" charset="-120"/>
              </a:rPr>
              <a:t>© 2026 Incipe Academy Limited.</a:t>
            </a:r>
            <a:endParaRPr lang="en-US" sz="1200" dirty="0"/>
          </a:p>
          <a:p>
            <a:pPr algn="l" indent="0" marL="0">
              <a:lnSpc>
                <a:spcPts val="1380"/>
              </a:lnSpc>
              <a:buNone/>
            </a:pPr>
            <a:r>
              <a:rPr lang="en-US" sz="1200" dirty="0">
                <a:solidFill>
                  <a:srgbClr val="B57946"/>
                </a:solidFill>
                <a:latin typeface="Helvetica Neue" pitchFamily="34" charset="0"/>
                <a:ea typeface="Helvetica Neue" pitchFamily="34" charset="-122"/>
                <a:cs typeface="Helvetica Neue" pitchFamily="34" charset="-120"/>
              </a:rPr>
              <a:t>All rights reserved.</a:t>
            </a:r>
            <a:endParaRPr lang="en-US" sz="1200" dirty="0"/>
          </a:p>
        </p:txBody>
      </p:sp>
      <p:sp>
        <p:nvSpPr>
          <p:cNvPr id="4" name="Text 1"/>
          <p:cNvSpPr/>
          <p:nvPr/>
        </p:nvSpPr>
        <p:spPr>
          <a:xfrm>
            <a:off x="4133850" y="406400"/>
            <a:ext cx="39243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B57946"/>
                </a:solidFill>
                <a:latin typeface="Helvetica Neue" pitchFamily="34" charset="0"/>
                <a:ea typeface="Helvetica Neue" pitchFamily="34" charset="-122"/>
                <a:cs typeface="Helvetica Neue" pitchFamily="34" charset="-120"/>
              </a:rPr>
              <a:t>Incipe 101</a:t>
            </a:r>
            <a:endParaRPr lang="en-US" sz="1600" dirty="0"/>
          </a:p>
        </p:txBody>
      </p:sp>
      <p:sp>
        <p:nvSpPr>
          <p:cNvPr id="5" name="Text 2"/>
          <p:cNvSpPr/>
          <p:nvPr/>
        </p:nvSpPr>
        <p:spPr>
          <a:xfrm>
            <a:off x="8409940" y="406400"/>
            <a:ext cx="3401060"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B57946"/>
                </a:solidFill>
                <a:latin typeface="Helvetica Neue" pitchFamily="34" charset="0"/>
                <a:ea typeface="Helvetica Neue" pitchFamily="34" charset="-122"/>
                <a:cs typeface="Helvetica Neue" pitchFamily="34" charset="-120"/>
              </a:rPr>
              <a:t>M1: AI Literacy</a:t>
            </a:r>
            <a:endParaRPr lang="en-US" sz="1600" dirty="0"/>
          </a:p>
        </p:txBody>
      </p:sp>
      <p:sp>
        <p:nvSpPr>
          <p:cNvPr id="6" name="Text 3"/>
          <p:cNvSpPr/>
          <p:nvPr>
            <p:ph type="title"/>
          </p:nvPr>
        </p:nvSpPr>
        <p:spPr>
          <a:xfrm>
            <a:off x="863600" y="1085850"/>
            <a:ext cx="10464800" cy="1454150"/>
          </a:xfrm>
          <a:prstGeom prst="rect">
            <a:avLst/>
          </a:prstGeom>
          <a:noFill/>
          <a:ln/>
        </p:spPr>
        <p:txBody>
          <a:bodyPr wrap="square" lIns="0" tIns="0" rIns="0" bIns="0" rtlCol="0" anchor="t">
            <a:normAutofit/>
          </a:bodyPr>
          <a:lstStyle/>
          <a:p>
            <a:pPr algn="ctr" indent="0" marL="0">
              <a:lnSpc>
                <a:spcPts val="3750"/>
              </a:lnSpc>
              <a:buNone/>
            </a:pPr>
            <a:r>
              <a:rPr lang="en-US" sz="3750" b="1" i="0" dirty="0">
                <a:solidFill>
                  <a:srgbClr val="B57946"/>
                </a:solidFill>
                <a:latin typeface="Helvetica Neue" pitchFamily="34" charset="0"/>
                <a:ea typeface="Helvetica Neue" pitchFamily="34" charset="-122"/>
                <a:cs typeface="Helvetica Neue" pitchFamily="34" charset="-120"/>
              </a:rPr>
              <a:t>Session 2</a:t>
            </a:r>
            <a:endParaRPr lang="en-US" sz="3750" dirty="0"/>
          </a:p>
          <a:p>
            <a:pPr algn="ctr" indent="0" marL="0">
              <a:lnSpc>
                <a:spcPts val="3750"/>
              </a:lnSpc>
              <a:buNone/>
            </a:pPr>
            <a:r>
              <a:rPr lang="en-US" sz="3750" b="1" i="0" dirty="0">
                <a:solidFill>
                  <a:srgbClr val="B57946"/>
                </a:solidFill>
                <a:latin typeface="Helvetica Neue" pitchFamily="34" charset="0"/>
                <a:ea typeface="Helvetica Neue" pitchFamily="34" charset="-122"/>
                <a:cs typeface="Helvetica Neue" pitchFamily="34" charset="-120"/>
              </a:rPr>
              <a:t>AI-Powered Firmware</a:t>
            </a:r>
            <a:endParaRPr lang="en-US" sz="3750" dirty="0"/>
          </a:p>
          <a:p>
            <a:pPr algn="ctr" indent="0" marL="0">
              <a:lnSpc>
                <a:spcPts val="3750"/>
              </a:lnSpc>
              <a:buNone/>
            </a:pPr>
            <a:r>
              <a:rPr lang="en-US" sz="3750" b="1" i="0" dirty="0">
                <a:solidFill>
                  <a:srgbClr val="B57946"/>
                </a:solidFill>
                <a:latin typeface="Helvetica Neue" pitchFamily="34" charset="0"/>
                <a:ea typeface="Helvetica Neue" pitchFamily="34" charset="-122"/>
                <a:cs typeface="Helvetica Neue" pitchFamily="34" charset="-120"/>
              </a:rPr>
              <a:t>Development</a:t>
            </a:r>
            <a:endParaRPr lang="en-US" sz="3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116329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Lesson Overview</a:t>
            </a:r>
            <a:endParaRPr lang="en-US" sz="1600" dirty="0"/>
          </a:p>
        </p:txBody>
      </p:sp>
      <p:sp>
        <p:nvSpPr>
          <p:cNvPr id="4" name="Text 2"/>
          <p:cNvSpPr/>
          <p:nvPr>
            <p:ph type="title"/>
          </p:nvPr>
        </p:nvSpPr>
        <p:spPr>
          <a:xfrm>
            <a:off x="685800" y="726430"/>
            <a:ext cx="9496806"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Let the AI write the first draft. You review it, check it and make it smaller.</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8500" y="2171700"/>
          <a:ext cx="10807700" cy="2316063"/>
        </p:xfrm>
        <a:graphic>
          <a:graphicData uri="http://schemas.openxmlformats.org/drawingml/2006/table">
            <a:tbl>
              <a:tblPr/>
              <a:tblGrid>
                <a:gridCol w="1080770"/>
                <a:gridCol w="7781544"/>
                <a:gridCol w="1945386"/>
              </a:tblGrid>
              <a:tr h="386011">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Part</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Topic</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Time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01</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From a sentence to firmware in INCIPE Workspace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6 min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02</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Reviewing what the AI wrote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8 min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03</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Making it smaller: memory</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8 min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04</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When to trust AI, and when to write it yourself</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4 min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05</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Practice: the climate reader</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4 min + homework</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pic>
        <p:nvPicPr>
          <p:cNvPr id="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7" name="Text 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8" name="Text 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Key Words</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Seven words you will hear today.</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8500" y="1727200"/>
          <a:ext cx="10807700" cy="2874566"/>
        </p:xfrm>
        <a:graphic>
          <a:graphicData uri="http://schemas.openxmlformats.org/drawingml/2006/table">
            <a:tbl>
              <a:tblPr/>
              <a:tblGrid>
                <a:gridCol w="2593848"/>
                <a:gridCol w="8213852"/>
              </a:tblGrid>
              <a:tr h="359321">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Word</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Plain meaning</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Firmware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The program that runs on the board itself, not on your computer.</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Compile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Translate the code you can read into instructions the board can run.</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Function</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A named block of code that does one job. You call it by its name.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Variable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A labelled box that holds one value, like temperature.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Memory (RAM)</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The board's short-term workspace, where variables live while the program runs. It is small.</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Byte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The unit memory is counted in. One letter of text takes about one byte.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Code review</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Reading code line by line to find mistakes before it runs.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pic>
        <p:nvPicPr>
          <p:cNvPr id="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7" name="Text 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8" name="Text 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From a Sentence to Firmware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Describe, draft, verify, upload.</a:t>
            </a:r>
            <a:endParaRPr lang="en-US" sz="2800" dirty="0"/>
          </a:p>
        </p:txBody>
      </p:sp>
      <p:sp>
        <p:nvSpPr>
          <p:cNvPr id="5" name="Text 3"/>
          <p:cNvSpPr/>
          <p:nvPr/>
        </p:nvSpPr>
        <p:spPr>
          <a:xfrm>
            <a:off x="685800" y="2095500"/>
            <a:ext cx="2276094"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D1D1E"/>
                </a:solidFill>
                <a:latin typeface="Helvetica Neue" pitchFamily="34" charset="0"/>
                <a:ea typeface="Helvetica Neue" pitchFamily="34" charset="-122"/>
                <a:cs typeface="Helvetica Neue" pitchFamily="34" charset="-120"/>
              </a:rPr>
              <a:t>Describe</a:t>
            </a:r>
            <a:endParaRPr lang="en-US" sz="3200" dirty="0"/>
          </a:p>
        </p:txBody>
      </p:sp>
      <p:sp>
        <p:nvSpPr>
          <p:cNvPr id="6" name="Text 4"/>
          <p:cNvSpPr/>
          <p:nvPr/>
        </p:nvSpPr>
        <p:spPr>
          <a:xfrm>
            <a:off x="685800" y="2664420"/>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The AI chat</a:t>
            </a:r>
            <a:endParaRPr lang="en-US" sz="1200" dirty="0"/>
          </a:p>
        </p:txBody>
      </p:sp>
      <p:sp>
        <p:nvSpPr>
          <p:cNvPr id="7" name="Text 5"/>
          <p:cNvSpPr/>
          <p:nvPr/>
        </p:nvSpPr>
        <p:spPr>
          <a:xfrm>
            <a:off x="685800" y="2979341"/>
            <a:ext cx="2276094"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Say what the board should do, in one or two sentences.</a:t>
            </a:r>
            <a:endParaRPr lang="en-US" sz="1400" dirty="0"/>
          </a:p>
        </p:txBody>
      </p:sp>
      <p:pic>
        <p:nvPicPr>
          <p:cNvPr id="8" name="Image 0" descr="arrow-right">    </p:cNvPr>
          <p:cNvPicPr>
            <a:picLocks noChangeAspect="1"/>
          </p:cNvPicPr>
          <p:nvPr/>
        </p:nvPicPr>
        <p:blipFill>
          <a:blip r:embed="rId1"/>
          <a:srcRect l="0" r="0" t="0" b="0"/>
          <a:stretch/>
        </p:blipFill>
        <p:spPr>
          <a:xfrm>
            <a:off x="3048000" y="2821831"/>
            <a:ext cx="355600" cy="177800"/>
          </a:xfrm>
          <a:prstGeom prst="rect">
            <a:avLst/>
          </a:prstGeom>
        </p:spPr>
      </p:pic>
      <p:sp>
        <p:nvSpPr>
          <p:cNvPr id="9" name="Text 6"/>
          <p:cNvSpPr/>
          <p:nvPr/>
        </p:nvSpPr>
        <p:spPr>
          <a:xfrm>
            <a:off x="3556000" y="2095500"/>
            <a:ext cx="2276094"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D1D1E"/>
                </a:solidFill>
                <a:latin typeface="Helvetica Neue" pitchFamily="34" charset="0"/>
                <a:ea typeface="Helvetica Neue" pitchFamily="34" charset="-122"/>
                <a:cs typeface="Helvetica Neue" pitchFamily="34" charset="-120"/>
              </a:rPr>
              <a:t>Draft</a:t>
            </a:r>
            <a:endParaRPr lang="en-US" sz="3200" dirty="0"/>
          </a:p>
        </p:txBody>
      </p:sp>
      <p:sp>
        <p:nvSpPr>
          <p:cNvPr id="10" name="Text 7"/>
          <p:cNvSpPr/>
          <p:nvPr/>
        </p:nvSpPr>
        <p:spPr>
          <a:xfrm>
            <a:off x="3556000" y="2664420"/>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The code editor</a:t>
            </a:r>
            <a:endParaRPr lang="en-US" sz="1200" dirty="0"/>
          </a:p>
        </p:txBody>
      </p:sp>
      <p:sp>
        <p:nvSpPr>
          <p:cNvPr id="11" name="Text 8"/>
          <p:cNvSpPr/>
          <p:nvPr/>
        </p:nvSpPr>
        <p:spPr>
          <a:xfrm>
            <a:off x="3556000" y="2979341"/>
            <a:ext cx="227609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The AI writes the firmware into your project.</a:t>
            </a:r>
            <a:endParaRPr lang="en-US" sz="1400" dirty="0"/>
          </a:p>
        </p:txBody>
      </p:sp>
      <p:pic>
        <p:nvPicPr>
          <p:cNvPr id="12" name="Image 1" descr="arrow-right">    </p:cNvPr>
          <p:cNvPicPr>
            <a:picLocks noChangeAspect="1"/>
          </p:cNvPicPr>
          <p:nvPr/>
        </p:nvPicPr>
        <p:blipFill>
          <a:blip r:embed="rId2"/>
          <a:srcRect l="0" r="0" t="0" b="0"/>
          <a:stretch/>
        </p:blipFill>
        <p:spPr>
          <a:xfrm>
            <a:off x="5918200" y="2821831"/>
            <a:ext cx="355600" cy="177800"/>
          </a:xfrm>
          <a:prstGeom prst="rect">
            <a:avLst/>
          </a:prstGeom>
        </p:spPr>
      </p:pic>
      <p:sp>
        <p:nvSpPr>
          <p:cNvPr id="13" name="Text 9"/>
          <p:cNvSpPr/>
          <p:nvPr/>
        </p:nvSpPr>
        <p:spPr>
          <a:xfrm>
            <a:off x="6426200" y="2095500"/>
            <a:ext cx="2276094"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D1D1E"/>
                </a:solidFill>
                <a:latin typeface="Helvetica Neue" pitchFamily="34" charset="0"/>
                <a:ea typeface="Helvetica Neue" pitchFamily="34" charset="-122"/>
                <a:cs typeface="Helvetica Neue" pitchFamily="34" charset="-120"/>
              </a:rPr>
              <a:t>Verify</a:t>
            </a:r>
            <a:endParaRPr lang="en-US" sz="3200" dirty="0"/>
          </a:p>
        </p:txBody>
      </p:sp>
      <p:sp>
        <p:nvSpPr>
          <p:cNvPr id="14" name="Text 10"/>
          <p:cNvSpPr/>
          <p:nvPr/>
        </p:nvSpPr>
        <p:spPr>
          <a:xfrm>
            <a:off x="6426200" y="2664420"/>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Top bar</a:t>
            </a:r>
            <a:endParaRPr lang="en-US" sz="1200" dirty="0"/>
          </a:p>
        </p:txBody>
      </p:sp>
      <p:sp>
        <p:nvSpPr>
          <p:cNvPr id="15" name="Text 11"/>
          <p:cNvSpPr/>
          <p:nvPr/>
        </p:nvSpPr>
        <p:spPr>
          <a:xfrm>
            <a:off x="6426200" y="2979341"/>
            <a:ext cx="2276094"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Compiles your code and reports the first mistake it finds.</a:t>
            </a:r>
            <a:endParaRPr lang="en-US" sz="1400" dirty="0"/>
          </a:p>
        </p:txBody>
      </p:sp>
      <p:pic>
        <p:nvPicPr>
          <p:cNvPr id="16" name="Image 2" descr="arrow-right">    </p:cNvPr>
          <p:cNvPicPr>
            <a:picLocks noChangeAspect="1"/>
          </p:cNvPicPr>
          <p:nvPr/>
        </p:nvPicPr>
        <p:blipFill>
          <a:blip r:embed="rId3"/>
          <a:srcRect l="0" r="0" t="0" b="0"/>
          <a:stretch/>
        </p:blipFill>
        <p:spPr>
          <a:xfrm>
            <a:off x="8788400" y="2821831"/>
            <a:ext cx="355600" cy="177800"/>
          </a:xfrm>
          <a:prstGeom prst="rect">
            <a:avLst/>
          </a:prstGeom>
        </p:spPr>
      </p:pic>
      <p:sp>
        <p:nvSpPr>
          <p:cNvPr id="17" name="Text 12"/>
          <p:cNvSpPr/>
          <p:nvPr/>
        </p:nvSpPr>
        <p:spPr>
          <a:xfrm>
            <a:off x="9296400" y="2095500"/>
            <a:ext cx="2276094"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D1D1E"/>
                </a:solidFill>
                <a:latin typeface="Helvetica Neue" pitchFamily="34" charset="0"/>
                <a:ea typeface="Helvetica Neue" pitchFamily="34" charset="-122"/>
                <a:cs typeface="Helvetica Neue" pitchFamily="34" charset="-120"/>
              </a:rPr>
              <a:t>Upload</a:t>
            </a:r>
            <a:endParaRPr lang="en-US" sz="3200" dirty="0"/>
          </a:p>
        </p:txBody>
      </p:sp>
      <p:sp>
        <p:nvSpPr>
          <p:cNvPr id="18" name="Text 13"/>
          <p:cNvSpPr/>
          <p:nvPr/>
        </p:nvSpPr>
        <p:spPr>
          <a:xfrm>
            <a:off x="9296400" y="2664420"/>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Next to Verify</a:t>
            </a:r>
            <a:endParaRPr lang="en-US" sz="1200" dirty="0"/>
          </a:p>
        </p:txBody>
      </p:sp>
      <p:sp>
        <p:nvSpPr>
          <p:cNvPr id="19" name="Text 14"/>
          <p:cNvSpPr/>
          <p:nvPr/>
        </p:nvSpPr>
        <p:spPr>
          <a:xfrm>
            <a:off x="9296400" y="2979341"/>
            <a:ext cx="2276094"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Compiles and sends the code to the selected board. Read it in the Console.</a:t>
            </a:r>
            <a:endParaRPr lang="en-US" sz="1400" dirty="0"/>
          </a:p>
        </p:txBody>
      </p:sp>
      <p:pic>
        <p:nvPicPr>
          <p:cNvPr id="20" name="Image 3" descr="Incipe Academy">    </p:cNvPr>
          <p:cNvPicPr>
            <a:picLocks noChangeAspect="1"/>
          </p:cNvPicPr>
          <p:nvPr/>
        </p:nvPicPr>
        <p:blipFill>
          <a:blip r:embed="rId4"/>
          <a:srcRect l="0" r="0" t="-507" b="-507"/>
          <a:stretch/>
        </p:blipFill>
        <p:spPr>
          <a:xfrm>
            <a:off x="10490200" y="381000"/>
            <a:ext cx="1320800" cy="273050"/>
          </a:xfrm>
          <a:prstGeom prst="rect">
            <a:avLst/>
          </a:prstGeom>
        </p:spPr>
      </p:pic>
      <p:sp>
        <p:nvSpPr>
          <p:cNvPr id="21" name="Text 15"/>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22" name="Text 16"/>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INCIPE Workspace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Describe it in the chat, then Verify and Upload.</a:t>
            </a:r>
            <a:endParaRPr lang="en-US" sz="2800" dirty="0"/>
          </a:p>
        </p:txBody>
      </p:sp>
      <p:pic>
        <p:nvPicPr>
          <p:cNvPr id="5" name="Image 0" descr="The Workspace AI chat composer with the climate-reader prompt typed in">    </p:cNvPr>
          <p:cNvPicPr>
            <a:picLocks noChangeAspect="1"/>
          </p:cNvPicPr>
          <p:nvPr/>
        </p:nvPicPr>
        <p:blipFill>
          <a:blip r:embed="rId1"/>
          <a:srcRect l="-34" r="-34" t="0" b="0"/>
          <a:stretch/>
        </p:blipFill>
        <p:spPr>
          <a:xfrm>
            <a:off x="685800" y="1841500"/>
            <a:ext cx="10820400" cy="1892300"/>
          </a:xfrm>
          <a:prstGeom prst="rect">
            <a:avLst/>
          </a:prstGeom>
        </p:spPr>
      </p:pic>
      <p:sp>
        <p:nvSpPr>
          <p:cNvPr id="6" name="Text 3"/>
          <p:cNvSpPr/>
          <p:nvPr/>
        </p:nvSpPr>
        <p:spPr>
          <a:xfrm>
            <a:off x="685800" y="3886200"/>
            <a:ext cx="111450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The AI chat. Today's prompt: read the DHT11, print both values every 2 seconds, and print a short message if a reading is −1.</a:t>
            </a:r>
            <a:endParaRPr lang="en-US" sz="1200" dirty="0"/>
          </a:p>
        </p:txBody>
      </p:sp>
      <p:pic>
        <p:nvPicPr>
          <p:cNvPr id="7" name="Image 1" descr="The Workspace top bar: Verify, Upload, the Board menu and the panel toggles">    </p:cNvPr>
          <p:cNvPicPr>
            <a:picLocks noChangeAspect="1"/>
          </p:cNvPicPr>
          <p:nvPr/>
        </p:nvPicPr>
        <p:blipFill>
          <a:blip r:embed="rId2"/>
          <a:srcRect l="0" r="0" t="0" b="0"/>
          <a:stretch/>
        </p:blipFill>
        <p:spPr>
          <a:xfrm>
            <a:off x="685800" y="4445000"/>
            <a:ext cx="5842000" cy="711200"/>
          </a:xfrm>
          <a:prstGeom prst="rect">
            <a:avLst/>
          </a:prstGeom>
        </p:spPr>
      </p:pic>
      <p:sp>
        <p:nvSpPr>
          <p:cNvPr id="8" name="Text 4"/>
          <p:cNvSpPr/>
          <p:nvPr/>
        </p:nvSpPr>
        <p:spPr>
          <a:xfrm>
            <a:off x="6781800" y="4521200"/>
            <a:ext cx="486613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The top bar, left to right: Verify, Upload, the Board menu, then the Code editor, Artifacts, Skills and Console panels.</a:t>
            </a:r>
            <a:endParaRPr lang="en-US" sz="1200" dirty="0"/>
          </a:p>
        </p:txBody>
      </p:sp>
      <p:pic>
        <p:nvPicPr>
          <p:cNvPr id="9" name="Image 2" descr="Incipe Academy">    </p:cNvPr>
          <p:cNvPicPr>
            <a:picLocks noChangeAspect="1"/>
          </p:cNvPicPr>
          <p:nvPr/>
        </p:nvPicPr>
        <p:blipFill>
          <a:blip r:embed="rId3"/>
          <a:srcRect l="0" r="0" t="-507" b="-507"/>
          <a:stretch/>
        </p:blipFill>
        <p:spPr>
          <a:xfrm>
            <a:off x="10490200" y="381000"/>
            <a:ext cx="1320800" cy="273050"/>
          </a:xfrm>
          <a:prstGeom prst="rect">
            <a:avLst/>
          </a:prstGeom>
        </p:spPr>
      </p:pic>
      <p:sp>
        <p:nvSpPr>
          <p:cNvPr id="10" name="Text 5"/>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1" name="Text 6"/>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24383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The One Rule</a:t>
            </a:r>
            <a:endParaRPr lang="en-US" sz="1600" dirty="0"/>
          </a:p>
        </p:txBody>
      </p:sp>
      <p:sp>
        <p:nvSpPr>
          <p:cNvPr id="4" name="Text 2"/>
          <p:cNvSpPr/>
          <p:nvPr>
            <p:ph type="title"/>
          </p:nvPr>
        </p:nvSpPr>
        <p:spPr>
          <a:xfrm>
            <a:off x="685800" y="2095500"/>
            <a:ext cx="9810750" cy="136644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1D1D1E"/>
                </a:solidFill>
                <a:latin typeface="Helvetica Neue" pitchFamily="34" charset="0"/>
                <a:ea typeface="Helvetica Neue" pitchFamily="34" charset="-122"/>
                <a:cs typeface="Helvetica Neue" pitchFamily="34" charset="-120"/>
              </a:rPr>
              <a:t>Compiles is not the same as correct.</a:t>
            </a:r>
            <a:endParaRPr lang="en-US" sz="4800" dirty="0"/>
          </a:p>
        </p:txBody>
      </p:sp>
      <p:sp>
        <p:nvSpPr>
          <p:cNvPr id="5" name="Text 3"/>
          <p:cNvSpPr/>
          <p:nvPr/>
        </p:nvSpPr>
        <p:spPr>
          <a:xfrm>
            <a:off x="685800" y="3873500"/>
            <a:ext cx="784860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00000"/>
                </a:solidFill>
                <a:latin typeface="Helvetica Neue" pitchFamily="34" charset="0"/>
                <a:ea typeface="Helvetica Neue" pitchFamily="34" charset="-122"/>
                <a:cs typeface="Helvetica Neue" pitchFamily="34" charset="-120"/>
              </a:rPr>
              <a:t>The Workspace AI builds with Incipe's own toolchain, so its code either compiles or it does not. That catches spelling and grammar mistakes in the code. It cannot tell whether the code does what you meant.</a:t>
            </a:r>
            <a:endParaRPr lang="en-US" sz="1600" dirty="0"/>
          </a:p>
        </p:txBody>
      </p:sp>
      <p:pic>
        <p:nvPicPr>
          <p:cNvPr id="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7" name="Text 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8" name="Text 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Temperature &amp; Humidity Sensor</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One line of code for each value.</a:t>
            </a:r>
            <a:endParaRPr lang="en-US" sz="2800" dirty="0"/>
          </a:p>
        </p:txBody>
      </p:sp>
      <p:sp>
        <p:nvSpPr>
          <p:cNvPr id="5" name="Shape 3"/>
          <p:cNvSpPr/>
          <p:nvPr/>
        </p:nvSpPr>
        <p:spPr>
          <a:xfrm>
            <a:off x="685800" y="1841500"/>
            <a:ext cx="10820400" cy="1229320"/>
          </a:xfrm>
          <a:prstGeom prst="rect">
            <a:avLst/>
          </a:prstGeom>
          <a:solidFill>
            <a:srgbClr val="E1E1E1"/>
          </a:solidFill>
          <a:ln/>
        </p:spPr>
      </p:sp>
      <p:sp>
        <p:nvSpPr>
          <p:cNvPr id="6" name="Text 4"/>
          <p:cNvSpPr/>
          <p:nvPr/>
        </p:nvSpPr>
        <p:spPr>
          <a:xfrm>
            <a:off x="939800" y="2044700"/>
            <a:ext cx="1062177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ONE LINE OF CODE</a:t>
            </a:r>
            <a:endParaRPr lang="en-US" sz="1200" dirty="0"/>
          </a:p>
        </p:txBody>
      </p:sp>
      <p:sp>
        <p:nvSpPr>
          <p:cNvPr id="7" name="Text 5"/>
          <p:cNvSpPr/>
          <p:nvPr/>
        </p:nvSpPr>
        <p:spPr>
          <a:xfrm>
            <a:off x="939800" y="2334220"/>
            <a:ext cx="1062177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D1D1E"/>
                </a:solidFill>
                <a:latin typeface="Courier New" pitchFamily="49" charset="0"/>
                <a:ea typeface="Courier New" pitchFamily="49" charset="-122"/>
                <a:cs typeface="Courier New" pitchFamily="49" charset="-120"/>
              </a:rPr>
              <a:t>float temperature = incipe.getTemperature();</a:t>
            </a:r>
            <a:endParaRPr lang="en-US" sz="1400" dirty="0"/>
          </a:p>
          <a:p>
            <a:pPr algn="l" indent="0" marL="0">
              <a:lnSpc>
                <a:spcPts val="2100"/>
              </a:lnSpc>
              <a:buNone/>
            </a:pPr>
            <a:r>
              <a:rPr lang="en-US" sz="1400" dirty="0">
                <a:solidFill>
                  <a:srgbClr val="1D1D1E"/>
                </a:solidFill>
                <a:latin typeface="Courier New" pitchFamily="49" charset="0"/>
                <a:ea typeface="Courier New" pitchFamily="49" charset="-122"/>
                <a:cs typeface="Courier New" pitchFamily="49" charset="-120"/>
              </a:rPr>
              <a:t>float humidity = incipe.getHumidity();</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98500" y="3568700"/>
          <a:ext cx="10807700" cy="1544042"/>
        </p:xfrm>
        <a:graphic>
          <a:graphicData uri="http://schemas.openxmlformats.org/drawingml/2006/table">
            <a:tbl>
              <a:tblPr/>
              <a:tblGrid>
                <a:gridCol w="2377694"/>
                <a:gridCol w="4215003"/>
                <a:gridCol w="4215003"/>
              </a:tblGrid>
              <a:tr h="386011">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What you get</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incipe.getTemperature()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incipe.getHumidity()</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Value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A float in degrees Celsius (°C)</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A float, % relative humidity, 0–100</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Not detected</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-1</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-1</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Read it every</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2000 ms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2000 ms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sp>
        <p:nvSpPr>
          <p:cNvPr id="9" name="Text 6"/>
          <p:cNvSpPr/>
          <p:nvPr/>
        </p:nvSpPr>
        <p:spPr>
          <a:xfrm>
            <a:off x="685800" y="5334000"/>
            <a:ext cx="111450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A float is a number with a decimal point, like 23.4. Full details: Wiki › Temperature &amp; humidity sensor.</a:t>
            </a:r>
            <a:endParaRPr lang="en-US" sz="1200" dirty="0"/>
          </a:p>
        </p:txBody>
      </p:sp>
      <p:pic>
        <p:nvPicPr>
          <p:cNvPr id="10"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1" name="Text 7"/>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2" name="Text 8"/>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116329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Reviewing the AI's Draft</a:t>
            </a:r>
            <a:endParaRPr lang="en-US" sz="1600" dirty="0"/>
          </a:p>
        </p:txBody>
      </p:sp>
      <p:sp>
        <p:nvSpPr>
          <p:cNvPr id="4" name="Text 2"/>
          <p:cNvSpPr/>
          <p:nvPr>
            <p:ph type="title"/>
          </p:nvPr>
        </p:nvSpPr>
        <p:spPr>
          <a:xfrm>
            <a:off x="685800" y="726430"/>
            <a:ext cx="9496806"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A typical first draft. It compiles, and it works — sometimes.</a:t>
            </a:r>
            <a:endParaRPr lang="en-US" sz="2800" dirty="0"/>
          </a:p>
        </p:txBody>
      </p:sp>
      <p:sp>
        <p:nvSpPr>
          <p:cNvPr id="5" name="Shape 3"/>
          <p:cNvSpPr/>
          <p:nvPr/>
        </p:nvSpPr>
        <p:spPr>
          <a:xfrm>
            <a:off x="685800" y="2159000"/>
            <a:ext cx="10820400" cy="2082701"/>
          </a:xfrm>
          <a:prstGeom prst="rect">
            <a:avLst/>
          </a:prstGeom>
          <a:solidFill>
            <a:srgbClr val="E1E1E1"/>
          </a:solidFill>
          <a:ln/>
        </p:spPr>
      </p:sp>
      <p:sp>
        <p:nvSpPr>
          <p:cNvPr id="6" name="Text 4"/>
          <p:cNvSpPr/>
          <p:nvPr/>
        </p:nvSpPr>
        <p:spPr>
          <a:xfrm>
            <a:off x="889000" y="2336800"/>
            <a:ext cx="107264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AI DRAFT</a:t>
            </a:r>
            <a:endParaRPr lang="en-US" sz="1200" dirty="0"/>
          </a:p>
        </p:txBody>
      </p:sp>
      <p:sp>
        <p:nvSpPr>
          <p:cNvPr id="7" name="Text 5"/>
          <p:cNvSpPr/>
          <p:nvPr/>
        </p:nvSpPr>
        <p:spPr>
          <a:xfrm>
            <a:off x="889000" y="2600920"/>
            <a:ext cx="10726420" cy="14883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76706C"/>
                </a:solidFill>
                <a:latin typeface="Courier New" pitchFamily="49" charset="0"/>
                <a:ea typeface="Courier New" pitchFamily="49" charset="-122"/>
                <a:cs typeface="Courier New" pitchFamily="49" charset="-120"/>
              </a:rPr>
              <a:t>1</a:t>
            </a:r>
            <a:r>
              <a:rPr lang="en-US" sz="1200" dirty="0">
                <a:solidFill>
                  <a:srgbClr val="1D1D1E"/>
                </a:solidFill>
                <a:latin typeface="Courier New" pitchFamily="49" charset="0"/>
                <a:ea typeface="Courier New" pitchFamily="49" charset="-122"/>
                <a:cs typeface="Courier New" pitchFamily="49" charset="-120"/>
              </a:rPr>
              <a:t>  String readClimate() {</a:t>
            </a:r>
            <a:endParaRPr lang="en-US" sz="1200" dirty="0"/>
          </a:p>
          <a:p>
            <a:pPr algn="l" indent="0" marL="0">
              <a:lnSpc>
                <a:spcPts val="1920"/>
              </a:lnSpc>
              <a:buNone/>
            </a:pPr>
            <a:r>
              <a:rPr lang="en-US" sz="1200" dirty="0">
                <a:solidFill>
                  <a:srgbClr val="76706C"/>
                </a:solidFill>
                <a:latin typeface="Courier New" pitchFamily="49" charset="0"/>
                <a:ea typeface="Courier New" pitchFamily="49" charset="-122"/>
                <a:cs typeface="Courier New" pitchFamily="49" charset="-120"/>
              </a:rPr>
              <a:t>2</a:t>
            </a:r>
            <a:r>
              <a:rPr lang="en-US" sz="1200" dirty="0">
                <a:solidFill>
                  <a:srgbClr val="1D1D1E"/>
                </a:solidFill>
                <a:latin typeface="Courier New" pitchFamily="49" charset="0"/>
                <a:ea typeface="Courier New" pitchFamily="49" charset="-122"/>
                <a:cs typeface="Courier New" pitchFamily="49" charset="-120"/>
              </a:rPr>
              <a:t>    double temperature = incipe.getTemperature();</a:t>
            </a:r>
            <a:endParaRPr lang="en-US" sz="1200" dirty="0"/>
          </a:p>
          <a:p>
            <a:pPr algn="l" indent="0" marL="0">
              <a:lnSpc>
                <a:spcPts val="1920"/>
              </a:lnSpc>
              <a:buNone/>
            </a:pPr>
            <a:r>
              <a:rPr lang="en-US" sz="1200" dirty="0">
                <a:solidFill>
                  <a:srgbClr val="76706C"/>
                </a:solidFill>
                <a:latin typeface="Courier New" pitchFamily="49" charset="0"/>
                <a:ea typeface="Courier New" pitchFamily="49" charset="-122"/>
                <a:cs typeface="Courier New" pitchFamily="49" charset="-120"/>
              </a:rPr>
              <a:t>3</a:t>
            </a:r>
            <a:r>
              <a:rPr lang="en-US" sz="1200" dirty="0">
                <a:solidFill>
                  <a:srgbClr val="1D1D1E"/>
                </a:solidFill>
                <a:latin typeface="Courier New" pitchFamily="49" charset="0"/>
                <a:ea typeface="Courier New" pitchFamily="49" charset="-122"/>
                <a:cs typeface="Courier New" pitchFamily="49" charset="-120"/>
              </a:rPr>
              <a:t>    double humidity = incipe.getHumidity();</a:t>
            </a:r>
            <a:endParaRPr lang="en-US" sz="1200" dirty="0"/>
          </a:p>
          <a:p>
            <a:pPr algn="l" indent="0" marL="0">
              <a:lnSpc>
                <a:spcPts val="1920"/>
              </a:lnSpc>
              <a:buNone/>
            </a:pPr>
            <a:r>
              <a:rPr lang="en-US" sz="1200" dirty="0">
                <a:solidFill>
                  <a:srgbClr val="76706C"/>
                </a:solidFill>
                <a:latin typeface="Courier New" pitchFamily="49" charset="0"/>
                <a:ea typeface="Courier New" pitchFamily="49" charset="-122"/>
                <a:cs typeface="Courier New" pitchFamily="49" charset="-120"/>
              </a:rPr>
              <a:t>4</a:t>
            </a:r>
            <a:r>
              <a:rPr lang="en-US" sz="1200" dirty="0">
                <a:solidFill>
                  <a:srgbClr val="1D1D1E"/>
                </a:solidFill>
                <a:latin typeface="Courier New" pitchFamily="49" charset="0"/>
                <a:ea typeface="Courier New" pitchFamily="49" charset="-122"/>
                <a:cs typeface="Courier New" pitchFamily="49" charset="-120"/>
              </a:rPr>
              <a:t>    String report = "Temperature: " + String(temperature) + " C, Humidity: " + String(humidity) + " %";</a:t>
            </a:r>
            <a:endParaRPr lang="en-US" sz="1200" dirty="0"/>
          </a:p>
          <a:p>
            <a:pPr algn="l" indent="0" marL="0">
              <a:lnSpc>
                <a:spcPts val="1920"/>
              </a:lnSpc>
              <a:buNone/>
            </a:pPr>
            <a:r>
              <a:rPr lang="en-US" sz="1200" dirty="0">
                <a:solidFill>
                  <a:srgbClr val="76706C"/>
                </a:solidFill>
                <a:latin typeface="Courier New" pitchFamily="49" charset="0"/>
                <a:ea typeface="Courier New" pitchFamily="49" charset="-122"/>
                <a:cs typeface="Courier New" pitchFamily="49" charset="-120"/>
              </a:rPr>
              <a:t>5</a:t>
            </a:r>
            <a:r>
              <a:rPr lang="en-US" sz="1200" dirty="0">
                <a:solidFill>
                  <a:srgbClr val="1D1D1E"/>
                </a:solidFill>
                <a:latin typeface="Courier New" pitchFamily="49" charset="0"/>
                <a:ea typeface="Courier New" pitchFamily="49" charset="-122"/>
                <a:cs typeface="Courier New" pitchFamily="49" charset="-120"/>
              </a:rPr>
              <a:t>    return report;</a:t>
            </a:r>
            <a:endParaRPr lang="en-US" sz="1200" dirty="0"/>
          </a:p>
          <a:p>
            <a:pPr algn="l" indent="0" marL="0">
              <a:lnSpc>
                <a:spcPts val="1920"/>
              </a:lnSpc>
              <a:buNone/>
            </a:pPr>
            <a:r>
              <a:rPr lang="en-US" sz="1200" dirty="0">
                <a:solidFill>
                  <a:srgbClr val="76706C"/>
                </a:solidFill>
                <a:latin typeface="Courier New" pitchFamily="49" charset="0"/>
                <a:ea typeface="Courier New" pitchFamily="49" charset="-122"/>
                <a:cs typeface="Courier New" pitchFamily="49" charset="-120"/>
              </a:rPr>
              <a:t>6</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98500" y="4330700"/>
          <a:ext cx="10807700" cy="1663402"/>
        </p:xfrm>
        <a:graphic>
          <a:graphicData uri="http://schemas.openxmlformats.org/drawingml/2006/table">
            <a:tbl>
              <a:tblPr/>
              <a:tblGrid>
                <a:gridCol w="1296924"/>
                <a:gridCol w="9510776"/>
              </a:tblGrid>
              <a:tr h="332680">
                <a:tc>
                  <a:txBody>
                    <a:bodyPr/>
                    <a:lstStyle/>
                    <a:p>
                      <a:pPr indent="0" marL="0">
                        <a:lnSpc>
                          <a:spcPts val="1680"/>
                        </a:lnSpc>
                        <a:buNone/>
                      </a:pPr>
                      <a:r>
                        <a:rPr lang="en-US" sz="1200" b="1" dirty="0">
                          <a:solidFill>
                            <a:srgbClr val="1D1D1E"/>
                          </a:solidFill>
                          <a:latin typeface="Helvetica Neue" pitchFamily="34" charset="0"/>
                          <a:ea typeface="Helvetica Neue" pitchFamily="34" charset="-122"/>
                          <a:cs typeface="Helvetica Neue" pitchFamily="34" charset="-120"/>
                        </a:rPr>
                        <a:t>Line</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680"/>
                        </a:lnSpc>
                        <a:buNone/>
                      </a:pPr>
                      <a:r>
                        <a:rPr lang="en-US" sz="1200" b="1" dirty="0">
                          <a:solidFill>
                            <a:srgbClr val="1D1D1E"/>
                          </a:solidFill>
                          <a:latin typeface="Helvetica Neue" pitchFamily="34" charset="0"/>
                          <a:ea typeface="Helvetica Neue" pitchFamily="34" charset="-122"/>
                          <a:cs typeface="Helvetica Neue" pitchFamily="34" charset="-120"/>
                        </a:rPr>
                        <a:t>What it does</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1</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Starts a function called readClimate that hands back a String (a piece of text).</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2–3</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Asks the sensor for each value and keeps it in a double box.</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4</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Glues words and both numbers into one long piece of text called report.</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5–6</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Hands that text back to whoever called the function, and ends it.</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pic>
        <p:nvPicPr>
          <p:cNvPr id="9"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0" name="Text 6"/>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1" name="Text 7"/>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Five Questions for Every Draft</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Review the draft before you trust it.</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8500" y="1790700"/>
          <a:ext cx="10807700" cy="1996083"/>
        </p:xfrm>
        <a:graphic>
          <a:graphicData uri="http://schemas.openxmlformats.org/drawingml/2006/table">
            <a:tbl>
              <a:tblPr/>
              <a:tblGrid>
                <a:gridCol w="648462"/>
                <a:gridCol w="4755388"/>
                <a:gridCol w="5403850"/>
              </a:tblGrid>
              <a:tr h="332680">
                <a:tc>
                  <a:txBody>
                    <a:bodyPr/>
                    <a:lstStyle/>
                    <a:p>
                      <a:pPr indent="0" marL="0">
                        <a:lnSpc>
                          <a:spcPts val="1680"/>
                        </a:lnSpc>
                        <a:buNone/>
                      </a:pPr>
                      <a:r>
                        <a:rPr lang="en-US" sz="1200" b="1" dirty="0">
                          <a:solidFill>
                            <a:srgbClr val="1D1D1E"/>
                          </a:solidFill>
                          <a:latin typeface="Helvetica Neue" pitchFamily="34" charset="0"/>
                          <a:ea typeface="Helvetica Neue" pitchFamily="34" charset="-122"/>
                          <a:cs typeface="Helvetica Neue" pitchFamily="34" charset="-120"/>
                        </a:rPr>
                        <a:t>#</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680"/>
                        </a:lnSpc>
                        <a:buNone/>
                      </a:pPr>
                      <a:r>
                        <a:rPr lang="en-US" sz="1200" b="1" dirty="0">
                          <a:solidFill>
                            <a:srgbClr val="1D1D1E"/>
                          </a:solidFill>
                          <a:latin typeface="Helvetica Neue" pitchFamily="34" charset="0"/>
                          <a:ea typeface="Helvetica Neue" pitchFamily="34" charset="-122"/>
                          <a:cs typeface="Helvetica Neue" pitchFamily="34" charset="-120"/>
                        </a:rPr>
                        <a:t>Ask</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680"/>
                        </a:lnSpc>
                        <a:buNone/>
                      </a:pPr>
                      <a:r>
                        <a:rPr lang="en-US" sz="1200" b="1" dirty="0">
                          <a:solidFill>
                            <a:srgbClr val="1D1D1E"/>
                          </a:solidFill>
                          <a:latin typeface="Helvetica Neue" pitchFamily="34" charset="0"/>
                          <a:ea typeface="Helvetica Neue" pitchFamily="34" charset="-122"/>
                          <a:cs typeface="Helvetica Neue" pitchFamily="34" charset="-120"/>
                        </a:rPr>
                        <a:t>This draft</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1</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Does every incipe.* name match the Wiki exactly?</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Yes — getTemperature(), getHumidity()</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2</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Does it handle −1 (sensor not detected)?</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No. It would print Temperature: -1.00 C as if it were real.</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3</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Do the types match what the function returns?</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No. The Wiki says float; the draft uses double.</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4</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Does it read at the right speed?</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Not decided here — we will run it every 2000 ms.</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5</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Does it keep anything it does not need?</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Yes — the whole sentence is stored as text first.</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sp>
        <p:nvSpPr>
          <p:cNvPr id="6" name="Text 3"/>
          <p:cNvSpPr/>
          <p:nvPr/>
        </p:nvSpPr>
        <p:spPr>
          <a:xfrm>
            <a:off x="685800" y="5080000"/>
            <a:ext cx="1114501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00000"/>
                </a:solidFill>
                <a:latin typeface="Helvetica Neue" pitchFamily="34" charset="0"/>
                <a:ea typeface="Helvetica Neue" pitchFamily="34" charset="-122"/>
                <a:cs typeface="Helvetica Neue" pitchFamily="34" charset="-120"/>
              </a:rPr>
              <a:t>A wrong name is the easiest mistake: Verify stops at it. The −1 mistake and the memory waste both compile without a complaint — only a human review finds them.</a:t>
            </a:r>
            <a:endParaRPr lang="en-US" sz="1300" dirty="0"/>
          </a:p>
        </p:txBody>
      </p:sp>
      <p:pic>
        <p:nvPicPr>
          <p:cNvPr id="7"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8" name="Text 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9" name="Text 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Making It Smaller</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A float takes a 4-byte locker. A double takes 8.</a:t>
            </a:r>
            <a:endParaRPr lang="en-US" sz="2800" dirty="0"/>
          </a:p>
        </p:txBody>
      </p:sp>
      <p:sp>
        <p:nvSpPr>
          <p:cNvPr id="5" name="Text 3"/>
          <p:cNvSpPr/>
          <p:nvPr/>
        </p:nvSpPr>
        <p:spPr>
          <a:xfrm>
            <a:off x="685800" y="1841500"/>
            <a:ext cx="4970780"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The board's memory is a short row of lockers. A double holds extra decimal places — but the sensor only ever hands us a float, so the extra space holds nothing.</a:t>
            </a:r>
            <a:endParaRPr lang="en-US" sz="1400" dirty="0"/>
          </a:p>
        </p:txBody>
      </p:sp>
      <p:sp>
        <p:nvSpPr>
          <p:cNvPr id="6" name="Text 4"/>
          <p:cNvSpPr/>
          <p:nvPr/>
        </p:nvSpPr>
        <p:spPr>
          <a:xfrm>
            <a:off x="685800" y="2740571"/>
            <a:ext cx="4970780"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A String is a stretchy bag: every time you glue more words on, it asks for a new, bigger space and copies everything across. Every two seconds, on a small board, that wastes memory.</a:t>
            </a:r>
            <a:endParaRPr lang="en-US" sz="1400" dirty="0"/>
          </a:p>
        </p:txBody>
      </p:sp>
      <p:sp>
        <p:nvSpPr>
          <p:cNvPr id="7" name="Shape 5"/>
          <p:cNvSpPr/>
          <p:nvPr/>
        </p:nvSpPr>
        <p:spPr>
          <a:xfrm>
            <a:off x="5892800" y="1841500"/>
            <a:ext cx="6350" cy="3556000"/>
          </a:xfrm>
          <a:prstGeom prst="rect">
            <a:avLst/>
          </a:prstGeom>
          <a:solidFill>
            <a:srgbClr val="D4D4D4"/>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286500" y="1854200"/>
          <a:ext cx="5219700" cy="1668413"/>
        </p:xfrm>
        <a:graphic>
          <a:graphicData uri="http://schemas.openxmlformats.org/drawingml/2006/table">
            <a:tbl>
              <a:tblPr/>
              <a:tblGrid>
                <a:gridCol w="1565910"/>
                <a:gridCol w="1826895"/>
                <a:gridCol w="1826895"/>
              </a:tblGrid>
              <a:tr h="359321">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Item</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AI draft</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Optimised</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Temperature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double — 8 bytes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float — 4 bytes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Humidity</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double — 8 bytes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float — 4 bytes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59045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The sentence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Built as one String every call</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Not stored — printed piece by piece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sp>
        <p:nvSpPr>
          <p:cNvPr id="9" name="Text 6"/>
          <p:cNvSpPr/>
          <p:nvPr/>
        </p:nvSpPr>
        <p:spPr>
          <a:xfrm>
            <a:off x="6273800" y="4572000"/>
            <a:ext cx="53893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Sizes for the INCIPE Board's ESP32: float 4 bytes, double 8 bytes.</a:t>
            </a:r>
            <a:endParaRPr lang="en-US" sz="1200" dirty="0"/>
          </a:p>
        </p:txBody>
      </p:sp>
      <p:pic>
        <p:nvPicPr>
          <p:cNvPr id="10"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1" name="Text 7"/>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2" name="Text 8"/>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The optimised printClimate().</a:t>
            </a:r>
            <a:endParaRPr lang="en-US" sz="2800" dirty="0"/>
          </a:p>
        </p:txBody>
      </p:sp>
      <p:sp>
        <p:nvSpPr>
          <p:cNvPr id="5" name="Shape 3"/>
          <p:cNvSpPr/>
          <p:nvPr/>
        </p:nvSpPr>
        <p:spPr>
          <a:xfrm>
            <a:off x="685800" y="1905000"/>
            <a:ext cx="6604000" cy="3683000"/>
          </a:xfrm>
          <a:prstGeom prst="rect">
            <a:avLst/>
          </a:prstGeom>
          <a:solidFill>
            <a:srgbClr val="E1E1E1"/>
          </a:solidFill>
          <a:ln/>
        </p:spPr>
      </p:sp>
      <p:sp>
        <p:nvSpPr>
          <p:cNvPr id="6" name="Shape 4"/>
          <p:cNvSpPr/>
          <p:nvPr/>
        </p:nvSpPr>
        <p:spPr>
          <a:xfrm>
            <a:off x="685800" y="2095500"/>
            <a:ext cx="6604000" cy="254000"/>
          </a:xfrm>
          <a:prstGeom prst="rect">
            <a:avLst/>
          </a:prstGeom>
          <a:solidFill>
            <a:srgbClr val="FFFFFF"/>
          </a:solidFill>
          <a:ln/>
        </p:spPr>
      </p:sp>
      <p:sp>
        <p:nvSpPr>
          <p:cNvPr id="7" name="Shape 5"/>
          <p:cNvSpPr/>
          <p:nvPr/>
        </p:nvSpPr>
        <p:spPr>
          <a:xfrm>
            <a:off x="685800" y="2095500"/>
            <a:ext cx="31750" cy="254000"/>
          </a:xfrm>
          <a:prstGeom prst="rect">
            <a:avLst/>
          </a:prstGeom>
          <a:solidFill>
            <a:srgbClr val="B57946"/>
          </a:solidFill>
          <a:ln/>
        </p:spPr>
      </p:sp>
      <p:sp>
        <p:nvSpPr>
          <p:cNvPr id="8" name="Text 6"/>
          <p:cNvSpPr/>
          <p:nvPr/>
        </p:nvSpPr>
        <p:spPr>
          <a:xfrm>
            <a:off x="889000" y="2095500"/>
            <a:ext cx="6475095" cy="3333849"/>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void printClimate()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float temperature = incipe.getTemperature();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float humidity = incipe.getHumidity();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if (temperature == -1 || humidity == -1)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Serial.println("DHT11 not detected yet");</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return;</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Serial.print("Temperature: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Serial.print(temperature);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Serial.print(" C, Humidity: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Serial.print(humidity);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12</a:t>
            </a:r>
            <a:r>
              <a:rPr lang="en-US" sz="1200" dirty="0">
                <a:solidFill>
                  <a:srgbClr val="1D1D1E"/>
                </a:solidFill>
                <a:latin typeface="Courier New" pitchFamily="49" charset="0"/>
                <a:ea typeface="Courier New" pitchFamily="49" charset="-122"/>
                <a:cs typeface="Courier New" pitchFamily="49" charset="-120"/>
              </a:rPr>
              <a:t>    Serial.println("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13</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1 · STEP 1 OF 10</a:t>
            </a:r>
            <a:endParaRPr lang="en-US" sz="1200" dirty="0"/>
          </a:p>
        </p:txBody>
      </p:sp>
      <p:sp>
        <p:nvSpPr>
          <p:cNvPr id="10" name="Text 8"/>
          <p:cNvSpPr/>
          <p:nvPr/>
        </p:nvSpPr>
        <p:spPr>
          <a:xfrm>
            <a:off x="7670800" y="2190750"/>
            <a:ext cx="4264406" cy="52635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0000"/>
                </a:solidFill>
                <a:latin typeface="Helvetica Neue" pitchFamily="34" charset="0"/>
                <a:ea typeface="Helvetica Neue" pitchFamily="34" charset="-122"/>
                <a:cs typeface="Helvetica Neue" pitchFamily="34" charset="-120"/>
              </a:rPr>
              <a:t>void</a:t>
            </a:r>
            <a:r>
              <a:rPr lang="en-US" sz="1400" dirty="0">
                <a:solidFill>
                  <a:srgbClr val="000000"/>
                </a:solidFill>
                <a:latin typeface="Helvetica Neue" pitchFamily="34" charset="0"/>
                <a:ea typeface="Helvetica Neue" pitchFamily="34" charset="-122"/>
                <a:cs typeface="Helvetica Neue" pitchFamily="34" charset="-120"/>
              </a:rPr>
              <a:t> means the function hands nothing back — it prints instead of returning text.</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76706C"/>
                </a:solidFill>
                <a:latin typeface="Helvetica Neue" pitchFamily="34" charset="0"/>
                <a:ea typeface="Helvetica Neue" pitchFamily="34" charset="-122"/>
                <a:cs typeface="Helvetica Neue" pitchFamily="34" charset="-120"/>
              </a:rPr>
              <a:t>None yet.</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952500"/>
          </a:xfrm>
          <a:prstGeom prst="rect">
            <a:avLst/>
          </a:prstGeom>
          <a:solidFill>
            <a:srgbClr val="FFFFFF"/>
          </a:solidFill>
          <a:ln/>
        </p:spPr>
      </p:sp>
      <p:pic>
        <p:nvPicPr>
          <p:cNvPr id="15"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6" name="Text 1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7" name="Text 1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The optimised printClimate().</a:t>
            </a:r>
            <a:endParaRPr lang="en-US" sz="2800" dirty="0"/>
          </a:p>
        </p:txBody>
      </p:sp>
      <p:sp>
        <p:nvSpPr>
          <p:cNvPr id="5" name="Shape 3"/>
          <p:cNvSpPr/>
          <p:nvPr/>
        </p:nvSpPr>
        <p:spPr>
          <a:xfrm>
            <a:off x="685800" y="1905000"/>
            <a:ext cx="6604000" cy="3683000"/>
          </a:xfrm>
          <a:prstGeom prst="rect">
            <a:avLst/>
          </a:prstGeom>
          <a:solidFill>
            <a:srgbClr val="E1E1E1"/>
          </a:solidFill>
          <a:ln/>
        </p:spPr>
      </p:sp>
      <p:sp>
        <p:nvSpPr>
          <p:cNvPr id="6" name="Shape 4"/>
          <p:cNvSpPr/>
          <p:nvPr/>
        </p:nvSpPr>
        <p:spPr>
          <a:xfrm>
            <a:off x="685800" y="2349500"/>
            <a:ext cx="6604000" cy="254000"/>
          </a:xfrm>
          <a:prstGeom prst="rect">
            <a:avLst/>
          </a:prstGeom>
          <a:solidFill>
            <a:srgbClr val="FFFFFF"/>
          </a:solidFill>
          <a:ln/>
        </p:spPr>
      </p:sp>
      <p:sp>
        <p:nvSpPr>
          <p:cNvPr id="7" name="Shape 5"/>
          <p:cNvSpPr/>
          <p:nvPr/>
        </p:nvSpPr>
        <p:spPr>
          <a:xfrm>
            <a:off x="685800" y="2349500"/>
            <a:ext cx="31750" cy="254000"/>
          </a:xfrm>
          <a:prstGeom prst="rect">
            <a:avLst/>
          </a:prstGeom>
          <a:solidFill>
            <a:srgbClr val="B57946"/>
          </a:solidFill>
          <a:ln/>
        </p:spPr>
      </p:sp>
      <p:sp>
        <p:nvSpPr>
          <p:cNvPr id="8" name="Text 6"/>
          <p:cNvSpPr/>
          <p:nvPr/>
        </p:nvSpPr>
        <p:spPr>
          <a:xfrm>
            <a:off x="889000" y="2095500"/>
            <a:ext cx="6475095" cy="3333849"/>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void printClimate()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float temperature = incipe.getTemperature();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float humidity = incipe.getHumidity();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if (temperature == -1 || humidity == -1)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Serial.println("DHT11 not detected yet");</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return;</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Serial.print("Temperature: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Serial.print(temperature);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Serial.print(" C, Humidity: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Serial.print(humidity);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12</a:t>
            </a:r>
            <a:r>
              <a:rPr lang="en-US" sz="1200" dirty="0">
                <a:solidFill>
                  <a:srgbClr val="1D1D1E"/>
                </a:solidFill>
                <a:latin typeface="Courier New" pitchFamily="49" charset="0"/>
                <a:ea typeface="Courier New" pitchFamily="49" charset="-122"/>
                <a:cs typeface="Courier New" pitchFamily="49" charset="-120"/>
              </a:rPr>
              <a:t>    Serial.println("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13</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2 · STEP 2 OF 10</a:t>
            </a:r>
            <a:endParaRPr lang="en-US" sz="1200" dirty="0"/>
          </a:p>
        </p:txBody>
      </p:sp>
      <p:sp>
        <p:nvSpPr>
          <p:cNvPr id="10" name="Text 8"/>
          <p:cNvSpPr/>
          <p:nvPr/>
        </p:nvSpPr>
        <p:spPr>
          <a:xfrm>
            <a:off x="7670800" y="2190750"/>
            <a:ext cx="4264406" cy="52635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Ask the sensor for the temperature. Say it is 23.4 °C. A </a:t>
            </a:r>
            <a:r>
              <a:rPr lang="en-US" sz="1400" b="1" dirty="0">
                <a:solidFill>
                  <a:srgbClr val="000000"/>
                </a:solidFill>
                <a:latin typeface="Helvetica Neue" pitchFamily="34" charset="0"/>
                <a:ea typeface="Helvetica Neue" pitchFamily="34" charset="-122"/>
                <a:cs typeface="Helvetica Neue" pitchFamily="34" charset="-120"/>
              </a:rPr>
              <a:t>float</a:t>
            </a:r>
            <a:r>
              <a:rPr lang="en-US" sz="1400" dirty="0">
                <a:solidFill>
                  <a:srgbClr val="000000"/>
                </a:solidFill>
                <a:latin typeface="Helvetica Neue" pitchFamily="34" charset="0"/>
                <a:ea typeface="Helvetica Neue" pitchFamily="34" charset="-122"/>
                <a:cs typeface="Helvetica Neue" pitchFamily="34" charset="-120"/>
              </a:rPr>
              <a:t> is all we need.</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temperature = </a:t>
            </a:r>
            <a:r>
              <a:rPr lang="en-US" sz="1300" dirty="0">
                <a:solidFill>
                  <a:srgbClr val="8F5C33"/>
                </a:solidFill>
                <a:latin typeface="Courier New" pitchFamily="49" charset="0"/>
                <a:ea typeface="Courier New" pitchFamily="49" charset="-122"/>
                <a:cs typeface="Courier New" pitchFamily="49" charset="-120"/>
              </a:rPr>
              <a:t>23.4</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952500"/>
          </a:xfrm>
          <a:prstGeom prst="rect">
            <a:avLst/>
          </a:prstGeom>
          <a:solidFill>
            <a:srgbClr val="FFFFFF"/>
          </a:solidFill>
          <a:ln/>
        </p:spPr>
      </p:sp>
      <p:pic>
        <p:nvPicPr>
          <p:cNvPr id="15"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6" name="Text 1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7" name="Text 1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The optimised printClimate().</a:t>
            </a:r>
            <a:endParaRPr lang="en-US" sz="2800" dirty="0"/>
          </a:p>
        </p:txBody>
      </p:sp>
      <p:sp>
        <p:nvSpPr>
          <p:cNvPr id="5" name="Shape 3"/>
          <p:cNvSpPr/>
          <p:nvPr/>
        </p:nvSpPr>
        <p:spPr>
          <a:xfrm>
            <a:off x="685800" y="1905000"/>
            <a:ext cx="6604000" cy="3683000"/>
          </a:xfrm>
          <a:prstGeom prst="rect">
            <a:avLst/>
          </a:prstGeom>
          <a:solidFill>
            <a:srgbClr val="E1E1E1"/>
          </a:solidFill>
          <a:ln/>
        </p:spPr>
      </p:sp>
      <p:sp>
        <p:nvSpPr>
          <p:cNvPr id="6" name="Shape 4"/>
          <p:cNvSpPr/>
          <p:nvPr/>
        </p:nvSpPr>
        <p:spPr>
          <a:xfrm>
            <a:off x="685800" y="2603500"/>
            <a:ext cx="6604000" cy="254000"/>
          </a:xfrm>
          <a:prstGeom prst="rect">
            <a:avLst/>
          </a:prstGeom>
          <a:solidFill>
            <a:srgbClr val="FFFFFF"/>
          </a:solidFill>
          <a:ln/>
        </p:spPr>
      </p:sp>
      <p:sp>
        <p:nvSpPr>
          <p:cNvPr id="7" name="Shape 5"/>
          <p:cNvSpPr/>
          <p:nvPr/>
        </p:nvSpPr>
        <p:spPr>
          <a:xfrm>
            <a:off x="685800" y="2603500"/>
            <a:ext cx="31750" cy="254000"/>
          </a:xfrm>
          <a:prstGeom prst="rect">
            <a:avLst/>
          </a:prstGeom>
          <a:solidFill>
            <a:srgbClr val="B57946"/>
          </a:solidFill>
          <a:ln/>
        </p:spPr>
      </p:sp>
      <p:sp>
        <p:nvSpPr>
          <p:cNvPr id="8" name="Text 6"/>
          <p:cNvSpPr/>
          <p:nvPr/>
        </p:nvSpPr>
        <p:spPr>
          <a:xfrm>
            <a:off x="889000" y="2095500"/>
            <a:ext cx="6475095" cy="3333849"/>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void printClimate()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float temperature = incipe.getTemperature();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float humidity = incipe.getHumidity();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if (temperature == -1 || humidity == -1)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Serial.println("DHT11 not detected yet");</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return;</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Serial.print("Temperature: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Serial.print(temperature);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Serial.print(" C, Humidity: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Serial.print(humidity);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12</a:t>
            </a:r>
            <a:r>
              <a:rPr lang="en-US" sz="1200" dirty="0">
                <a:solidFill>
                  <a:srgbClr val="1D1D1E"/>
                </a:solidFill>
                <a:latin typeface="Courier New" pitchFamily="49" charset="0"/>
                <a:ea typeface="Courier New" pitchFamily="49" charset="-122"/>
                <a:cs typeface="Courier New" pitchFamily="49" charset="-120"/>
              </a:rPr>
              <a:t>    Serial.println("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13</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3 · STEP 3 OF 10</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Ask for the humidity: 51 %. Another 4-byte float.</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temperature = 23.4</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humidity = </a:t>
            </a:r>
            <a:r>
              <a:rPr lang="en-US" sz="1300" dirty="0">
                <a:solidFill>
                  <a:srgbClr val="8F5C33"/>
                </a:solidFill>
                <a:latin typeface="Courier New" pitchFamily="49" charset="0"/>
                <a:ea typeface="Courier New" pitchFamily="49" charset="-122"/>
                <a:cs typeface="Courier New" pitchFamily="49" charset="-120"/>
              </a:rPr>
              <a:t>51.0</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952500"/>
          </a:xfrm>
          <a:prstGeom prst="rect">
            <a:avLst/>
          </a:prstGeom>
          <a:solidFill>
            <a:srgbClr val="FFFFFF"/>
          </a:solidFill>
          <a:ln/>
        </p:spPr>
      </p:sp>
      <p:pic>
        <p:nvPicPr>
          <p:cNvPr id="15"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6" name="Text 1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7" name="Text 1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The optimised printClimate().</a:t>
            </a:r>
            <a:endParaRPr lang="en-US" sz="2800" dirty="0"/>
          </a:p>
        </p:txBody>
      </p:sp>
      <p:sp>
        <p:nvSpPr>
          <p:cNvPr id="5" name="Shape 3"/>
          <p:cNvSpPr/>
          <p:nvPr/>
        </p:nvSpPr>
        <p:spPr>
          <a:xfrm>
            <a:off x="685800" y="1905000"/>
            <a:ext cx="6604000" cy="3683000"/>
          </a:xfrm>
          <a:prstGeom prst="rect">
            <a:avLst/>
          </a:prstGeom>
          <a:solidFill>
            <a:srgbClr val="E1E1E1"/>
          </a:solidFill>
          <a:ln/>
        </p:spPr>
      </p:sp>
      <p:sp>
        <p:nvSpPr>
          <p:cNvPr id="6" name="Shape 4"/>
          <p:cNvSpPr/>
          <p:nvPr/>
        </p:nvSpPr>
        <p:spPr>
          <a:xfrm>
            <a:off x="685800" y="2857500"/>
            <a:ext cx="6604000" cy="254000"/>
          </a:xfrm>
          <a:prstGeom prst="rect">
            <a:avLst/>
          </a:prstGeom>
          <a:solidFill>
            <a:srgbClr val="FFFFFF"/>
          </a:solidFill>
          <a:ln/>
        </p:spPr>
      </p:sp>
      <p:sp>
        <p:nvSpPr>
          <p:cNvPr id="7" name="Shape 5"/>
          <p:cNvSpPr/>
          <p:nvPr/>
        </p:nvSpPr>
        <p:spPr>
          <a:xfrm>
            <a:off x="685800" y="2857500"/>
            <a:ext cx="31750" cy="254000"/>
          </a:xfrm>
          <a:prstGeom prst="rect">
            <a:avLst/>
          </a:prstGeom>
          <a:solidFill>
            <a:srgbClr val="B57946"/>
          </a:solidFill>
          <a:ln/>
        </p:spPr>
      </p:sp>
      <p:sp>
        <p:nvSpPr>
          <p:cNvPr id="8" name="Text 6"/>
          <p:cNvSpPr/>
          <p:nvPr/>
        </p:nvSpPr>
        <p:spPr>
          <a:xfrm>
            <a:off x="889000" y="2095500"/>
            <a:ext cx="6475095" cy="3333849"/>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void printClimate()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float temperature = incipe.getTemperature();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float humidity = incipe.getHumidity();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if (temperature == -1 || humidity == -1)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Serial.println("DHT11 not detected yet");</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return;</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Serial.print("Temperature: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Serial.print(temperature);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Serial.print(" C, Humidity: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Serial.print(humidity);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12</a:t>
            </a:r>
            <a:r>
              <a:rPr lang="en-US" sz="1200" dirty="0">
                <a:solidFill>
                  <a:srgbClr val="1D1D1E"/>
                </a:solidFill>
                <a:latin typeface="Courier New" pitchFamily="49" charset="0"/>
                <a:ea typeface="Courier New" pitchFamily="49" charset="-122"/>
                <a:cs typeface="Courier New" pitchFamily="49" charset="-120"/>
              </a:rPr>
              <a:t>    Serial.println("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13</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4 · STEP 4 OF 10</a:t>
            </a:r>
            <a:endParaRPr lang="en-US" sz="1200" dirty="0"/>
          </a:p>
        </p:txBody>
      </p:sp>
      <p:sp>
        <p:nvSpPr>
          <p:cNvPr id="10" name="Text 8"/>
          <p:cNvSpPr/>
          <p:nvPr/>
        </p:nvSpPr>
        <p:spPr>
          <a:xfrm>
            <a:off x="7670800" y="2190750"/>
            <a:ext cx="4264406" cy="52635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0000"/>
                </a:solidFill>
                <a:latin typeface="Helvetica Neue" pitchFamily="34" charset="0"/>
                <a:ea typeface="Helvetica Neue" pitchFamily="34" charset="-122"/>
                <a:cs typeface="Helvetica Neue" pitchFamily="34" charset="-120"/>
              </a:rPr>
              <a:t>||</a:t>
            </a:r>
            <a:r>
              <a:rPr lang="en-US" sz="1400" dirty="0">
                <a:solidFill>
                  <a:srgbClr val="000000"/>
                </a:solidFill>
                <a:latin typeface="Helvetica Neue" pitchFamily="34" charset="0"/>
                <a:ea typeface="Helvetica Neue" pitchFamily="34" charset="-122"/>
                <a:cs typeface="Helvetica Neue" pitchFamily="34" charset="-120"/>
              </a:rPr>
              <a:t> means "or". Is either value −1? Neither is, so we skip lines 5 and 6.</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temperature = 23.4</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humidity = 51.0</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952500"/>
          </a:xfrm>
          <a:prstGeom prst="rect">
            <a:avLst/>
          </a:prstGeom>
          <a:solidFill>
            <a:srgbClr val="FFFFFF"/>
          </a:solidFill>
          <a:ln/>
        </p:spPr>
      </p:sp>
      <p:pic>
        <p:nvPicPr>
          <p:cNvPr id="15"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6" name="Text 1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7" name="Text 1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The optimised printClimate().</a:t>
            </a:r>
            <a:endParaRPr lang="en-US" sz="2800" dirty="0"/>
          </a:p>
        </p:txBody>
      </p:sp>
      <p:sp>
        <p:nvSpPr>
          <p:cNvPr id="5" name="Shape 3"/>
          <p:cNvSpPr/>
          <p:nvPr/>
        </p:nvSpPr>
        <p:spPr>
          <a:xfrm>
            <a:off x="685800" y="1905000"/>
            <a:ext cx="6604000" cy="3683000"/>
          </a:xfrm>
          <a:prstGeom prst="rect">
            <a:avLst/>
          </a:prstGeom>
          <a:solidFill>
            <a:srgbClr val="E1E1E1"/>
          </a:solidFill>
          <a:ln/>
        </p:spPr>
      </p:sp>
      <p:sp>
        <p:nvSpPr>
          <p:cNvPr id="6" name="Shape 4"/>
          <p:cNvSpPr/>
          <p:nvPr/>
        </p:nvSpPr>
        <p:spPr>
          <a:xfrm>
            <a:off x="685800" y="3873500"/>
            <a:ext cx="6604000" cy="254000"/>
          </a:xfrm>
          <a:prstGeom prst="rect">
            <a:avLst/>
          </a:prstGeom>
          <a:solidFill>
            <a:srgbClr val="FFFFFF"/>
          </a:solidFill>
          <a:ln/>
        </p:spPr>
      </p:sp>
      <p:sp>
        <p:nvSpPr>
          <p:cNvPr id="7" name="Shape 5"/>
          <p:cNvSpPr/>
          <p:nvPr/>
        </p:nvSpPr>
        <p:spPr>
          <a:xfrm>
            <a:off x="685800" y="3873500"/>
            <a:ext cx="31750" cy="254000"/>
          </a:xfrm>
          <a:prstGeom prst="rect">
            <a:avLst/>
          </a:prstGeom>
          <a:solidFill>
            <a:srgbClr val="B57946"/>
          </a:solidFill>
          <a:ln/>
        </p:spPr>
      </p:sp>
      <p:sp>
        <p:nvSpPr>
          <p:cNvPr id="8" name="Text 6"/>
          <p:cNvSpPr/>
          <p:nvPr/>
        </p:nvSpPr>
        <p:spPr>
          <a:xfrm>
            <a:off x="889000" y="2095500"/>
            <a:ext cx="6475095" cy="3333849"/>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void printClimate()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float temperature = incipe.getTemperature();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float humidity = incipe.getHumidity();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if (temperature == -1 || humidity == -1)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Serial.println("DHT11 not detected yet");</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return;</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Serial.print("Temperature: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Serial.print(temperature);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Serial.print(" C, Humidity: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Serial.print(humidity);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12</a:t>
            </a:r>
            <a:r>
              <a:rPr lang="en-US" sz="1200" dirty="0">
                <a:solidFill>
                  <a:srgbClr val="1D1D1E"/>
                </a:solidFill>
                <a:latin typeface="Courier New" pitchFamily="49" charset="0"/>
                <a:ea typeface="Courier New" pitchFamily="49" charset="-122"/>
                <a:cs typeface="Courier New" pitchFamily="49" charset="-120"/>
              </a:rPr>
              <a:t>    Serial.println("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13</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8 · STEP 5 OF 10</a:t>
            </a:r>
            <a:endParaRPr lang="en-US" sz="1200" dirty="0"/>
          </a:p>
        </p:txBody>
      </p:sp>
      <p:sp>
        <p:nvSpPr>
          <p:cNvPr id="10" name="Text 8"/>
          <p:cNvSpPr/>
          <p:nvPr/>
        </p:nvSpPr>
        <p:spPr>
          <a:xfrm>
            <a:off x="7670800" y="2190750"/>
            <a:ext cx="4264406" cy="27746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Print the label. </a:t>
            </a:r>
            <a:r>
              <a:rPr lang="en-US" sz="1400" b="1" dirty="0">
                <a:solidFill>
                  <a:srgbClr val="000000"/>
                </a:solidFill>
                <a:latin typeface="Helvetica Neue" pitchFamily="34" charset="0"/>
                <a:ea typeface="Helvetica Neue" pitchFamily="34" charset="-122"/>
                <a:cs typeface="Helvetica Neue" pitchFamily="34" charset="-120"/>
              </a:rPr>
              <a:t>print</a:t>
            </a:r>
            <a:r>
              <a:rPr lang="en-US" sz="1400" dirty="0">
                <a:solidFill>
                  <a:srgbClr val="000000"/>
                </a:solidFill>
                <a:latin typeface="Helvetica Neue" pitchFamily="34" charset="0"/>
                <a:ea typeface="Helvetica Neue" pitchFamily="34" charset="-122"/>
                <a:cs typeface="Helvetica Neue" pitchFamily="34" charset="-120"/>
              </a:rPr>
              <a:t> stays on the same line.</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temperature = 23.4</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humidity = 51.0</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952500"/>
          </a:xfrm>
          <a:prstGeom prst="rect">
            <a:avLst/>
          </a:prstGeom>
          <a:solidFill>
            <a:srgbClr val="FFFFFF"/>
          </a:solidFill>
          <a:ln/>
        </p:spPr>
      </p:sp>
      <p:sp>
        <p:nvSpPr>
          <p:cNvPr id="15" name="Text 13"/>
          <p:cNvSpPr/>
          <p:nvPr/>
        </p:nvSpPr>
        <p:spPr>
          <a:xfrm>
            <a:off x="7823200" y="4762500"/>
            <a:ext cx="39504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Temperature:</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The optimised printClimate().</a:t>
            </a:r>
            <a:endParaRPr lang="en-US" sz="2800" dirty="0"/>
          </a:p>
        </p:txBody>
      </p:sp>
      <p:sp>
        <p:nvSpPr>
          <p:cNvPr id="5" name="Shape 3"/>
          <p:cNvSpPr/>
          <p:nvPr/>
        </p:nvSpPr>
        <p:spPr>
          <a:xfrm>
            <a:off x="685800" y="1905000"/>
            <a:ext cx="6604000" cy="3683000"/>
          </a:xfrm>
          <a:prstGeom prst="rect">
            <a:avLst/>
          </a:prstGeom>
          <a:solidFill>
            <a:srgbClr val="E1E1E1"/>
          </a:solidFill>
          <a:ln/>
        </p:spPr>
      </p:sp>
      <p:sp>
        <p:nvSpPr>
          <p:cNvPr id="6" name="Shape 4"/>
          <p:cNvSpPr/>
          <p:nvPr/>
        </p:nvSpPr>
        <p:spPr>
          <a:xfrm>
            <a:off x="685800" y="4127500"/>
            <a:ext cx="6604000" cy="254000"/>
          </a:xfrm>
          <a:prstGeom prst="rect">
            <a:avLst/>
          </a:prstGeom>
          <a:solidFill>
            <a:srgbClr val="FFFFFF"/>
          </a:solidFill>
          <a:ln/>
        </p:spPr>
      </p:sp>
      <p:sp>
        <p:nvSpPr>
          <p:cNvPr id="7" name="Shape 5"/>
          <p:cNvSpPr/>
          <p:nvPr/>
        </p:nvSpPr>
        <p:spPr>
          <a:xfrm>
            <a:off x="685800" y="4127500"/>
            <a:ext cx="31750" cy="254000"/>
          </a:xfrm>
          <a:prstGeom prst="rect">
            <a:avLst/>
          </a:prstGeom>
          <a:solidFill>
            <a:srgbClr val="B57946"/>
          </a:solidFill>
          <a:ln/>
        </p:spPr>
      </p:sp>
      <p:sp>
        <p:nvSpPr>
          <p:cNvPr id="8" name="Text 6"/>
          <p:cNvSpPr/>
          <p:nvPr/>
        </p:nvSpPr>
        <p:spPr>
          <a:xfrm>
            <a:off x="889000" y="2095500"/>
            <a:ext cx="6475095" cy="3333849"/>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void printClimate()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float temperature = incipe.getTemperature();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float humidity = incipe.getHumidity();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if (temperature == -1 || humidity == -1)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Serial.println("DHT11 not detected yet");</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return;</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Serial.print("Temperature: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Serial.print(temperature);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Serial.print(" C, Humidity: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Serial.print(humidity);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12</a:t>
            </a:r>
            <a:r>
              <a:rPr lang="en-US" sz="1200" dirty="0">
                <a:solidFill>
                  <a:srgbClr val="1D1D1E"/>
                </a:solidFill>
                <a:latin typeface="Courier New" pitchFamily="49" charset="0"/>
                <a:ea typeface="Courier New" pitchFamily="49" charset="-122"/>
                <a:cs typeface="Courier New" pitchFamily="49" charset="-120"/>
              </a:rPr>
              <a:t>    Serial.println("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13</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9 · STEP 6 OF 10</a:t>
            </a:r>
            <a:endParaRPr lang="en-US" sz="1200" dirty="0"/>
          </a:p>
        </p:txBody>
      </p:sp>
      <p:sp>
        <p:nvSpPr>
          <p:cNvPr id="10" name="Text 8"/>
          <p:cNvSpPr/>
          <p:nvPr/>
        </p:nvSpPr>
        <p:spPr>
          <a:xfrm>
            <a:off x="7670800" y="2190750"/>
            <a:ext cx="4264406" cy="52635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Print the number. Arduino prints a </a:t>
            </a:r>
            <a:r>
              <a:rPr lang="en-US" sz="1400" b="1" dirty="0">
                <a:solidFill>
                  <a:srgbClr val="000000"/>
                </a:solidFill>
                <a:latin typeface="Helvetica Neue" pitchFamily="34" charset="0"/>
                <a:ea typeface="Helvetica Neue" pitchFamily="34" charset="-122"/>
                <a:cs typeface="Helvetica Neue" pitchFamily="34" charset="-120"/>
              </a:rPr>
              <a:t>float</a:t>
            </a:r>
            <a:r>
              <a:rPr lang="en-US" sz="1400" dirty="0">
                <a:solidFill>
                  <a:srgbClr val="000000"/>
                </a:solidFill>
                <a:latin typeface="Helvetica Neue" pitchFamily="34" charset="0"/>
                <a:ea typeface="Helvetica Neue" pitchFamily="34" charset="-122"/>
                <a:cs typeface="Helvetica Neue" pitchFamily="34" charset="-120"/>
              </a:rPr>
              <a:t> with two decimal places: 23.40.</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temperature = 23.4</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humidity = 51.0</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952500"/>
          </a:xfrm>
          <a:prstGeom prst="rect">
            <a:avLst/>
          </a:prstGeom>
          <a:solidFill>
            <a:srgbClr val="FFFFFF"/>
          </a:solidFill>
          <a:ln/>
        </p:spPr>
      </p:sp>
      <p:sp>
        <p:nvSpPr>
          <p:cNvPr id="15" name="Text 13"/>
          <p:cNvSpPr/>
          <p:nvPr/>
        </p:nvSpPr>
        <p:spPr>
          <a:xfrm>
            <a:off x="7823200" y="4762500"/>
            <a:ext cx="39504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Temperature: </a:t>
            </a:r>
            <a:r>
              <a:rPr lang="en-US" sz="1200" dirty="0">
                <a:solidFill>
                  <a:srgbClr val="8F5C33"/>
                </a:solidFill>
                <a:latin typeface="Courier New" pitchFamily="49" charset="0"/>
                <a:ea typeface="Courier New" pitchFamily="49" charset="-122"/>
                <a:cs typeface="Courier New" pitchFamily="49" charset="-120"/>
              </a:rPr>
              <a:t>23.40</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The optimised printClimate().</a:t>
            </a:r>
            <a:endParaRPr lang="en-US" sz="2800" dirty="0"/>
          </a:p>
        </p:txBody>
      </p:sp>
      <p:sp>
        <p:nvSpPr>
          <p:cNvPr id="5" name="Shape 3"/>
          <p:cNvSpPr/>
          <p:nvPr/>
        </p:nvSpPr>
        <p:spPr>
          <a:xfrm>
            <a:off x="685800" y="1905000"/>
            <a:ext cx="6604000" cy="3683000"/>
          </a:xfrm>
          <a:prstGeom prst="rect">
            <a:avLst/>
          </a:prstGeom>
          <a:solidFill>
            <a:srgbClr val="E1E1E1"/>
          </a:solidFill>
          <a:ln/>
        </p:spPr>
      </p:sp>
      <p:sp>
        <p:nvSpPr>
          <p:cNvPr id="6" name="Shape 4"/>
          <p:cNvSpPr/>
          <p:nvPr/>
        </p:nvSpPr>
        <p:spPr>
          <a:xfrm>
            <a:off x="685800" y="4381500"/>
            <a:ext cx="6604000" cy="254000"/>
          </a:xfrm>
          <a:prstGeom prst="rect">
            <a:avLst/>
          </a:prstGeom>
          <a:solidFill>
            <a:srgbClr val="FFFFFF"/>
          </a:solidFill>
          <a:ln/>
        </p:spPr>
      </p:sp>
      <p:sp>
        <p:nvSpPr>
          <p:cNvPr id="7" name="Shape 5"/>
          <p:cNvSpPr/>
          <p:nvPr/>
        </p:nvSpPr>
        <p:spPr>
          <a:xfrm>
            <a:off x="685800" y="4381500"/>
            <a:ext cx="31750" cy="254000"/>
          </a:xfrm>
          <a:prstGeom prst="rect">
            <a:avLst/>
          </a:prstGeom>
          <a:solidFill>
            <a:srgbClr val="B57946"/>
          </a:solidFill>
          <a:ln/>
        </p:spPr>
      </p:sp>
      <p:sp>
        <p:nvSpPr>
          <p:cNvPr id="8" name="Text 6"/>
          <p:cNvSpPr/>
          <p:nvPr/>
        </p:nvSpPr>
        <p:spPr>
          <a:xfrm>
            <a:off x="889000" y="2095500"/>
            <a:ext cx="6475095" cy="3333849"/>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void printClimate()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float temperature = incipe.getTemperature();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float humidity = incipe.getHumidity();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if (temperature == -1 || humidity == -1)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Serial.println("DHT11 not detected yet");</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return;</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Serial.print("Temperature: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Serial.print(temperature);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Serial.print(" C, Humidity: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Serial.print(humidity);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12</a:t>
            </a:r>
            <a:r>
              <a:rPr lang="en-US" sz="1200" dirty="0">
                <a:solidFill>
                  <a:srgbClr val="1D1D1E"/>
                </a:solidFill>
                <a:latin typeface="Courier New" pitchFamily="49" charset="0"/>
                <a:ea typeface="Courier New" pitchFamily="49" charset="-122"/>
                <a:cs typeface="Courier New" pitchFamily="49" charset="-120"/>
              </a:rPr>
              <a:t>    Serial.println("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13</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10 · STEP 7 OF 10</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More label text, still on the same line.</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temperature = 23.4</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humidity = 51.0</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952500"/>
          </a:xfrm>
          <a:prstGeom prst="rect">
            <a:avLst/>
          </a:prstGeom>
          <a:solidFill>
            <a:srgbClr val="FFFFFF"/>
          </a:solidFill>
          <a:ln/>
        </p:spPr>
      </p:sp>
      <p:sp>
        <p:nvSpPr>
          <p:cNvPr id="15" name="Text 13"/>
          <p:cNvSpPr/>
          <p:nvPr/>
        </p:nvSpPr>
        <p:spPr>
          <a:xfrm>
            <a:off x="7823200" y="4762500"/>
            <a:ext cx="39504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Temperature: 23.40</a:t>
            </a:r>
            <a:r>
              <a:rPr lang="en-US" sz="1200" dirty="0">
                <a:solidFill>
                  <a:srgbClr val="8F5C33"/>
                </a:solidFill>
                <a:latin typeface="Courier New" pitchFamily="49" charset="0"/>
                <a:ea typeface="Courier New" pitchFamily="49" charset="-122"/>
                <a:cs typeface="Courier New" pitchFamily="49" charset="-120"/>
              </a:rPr>
              <a:t> C, Humidity:</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The optimised printClimate().</a:t>
            </a:r>
            <a:endParaRPr lang="en-US" sz="2800" dirty="0"/>
          </a:p>
        </p:txBody>
      </p:sp>
      <p:sp>
        <p:nvSpPr>
          <p:cNvPr id="5" name="Shape 3"/>
          <p:cNvSpPr/>
          <p:nvPr/>
        </p:nvSpPr>
        <p:spPr>
          <a:xfrm>
            <a:off x="685800" y="1905000"/>
            <a:ext cx="6604000" cy="3683000"/>
          </a:xfrm>
          <a:prstGeom prst="rect">
            <a:avLst/>
          </a:prstGeom>
          <a:solidFill>
            <a:srgbClr val="E1E1E1"/>
          </a:solidFill>
          <a:ln/>
        </p:spPr>
      </p:sp>
      <p:sp>
        <p:nvSpPr>
          <p:cNvPr id="6" name="Shape 4"/>
          <p:cNvSpPr/>
          <p:nvPr/>
        </p:nvSpPr>
        <p:spPr>
          <a:xfrm>
            <a:off x="685800" y="4635500"/>
            <a:ext cx="6604000" cy="254000"/>
          </a:xfrm>
          <a:prstGeom prst="rect">
            <a:avLst/>
          </a:prstGeom>
          <a:solidFill>
            <a:srgbClr val="FFFFFF"/>
          </a:solidFill>
          <a:ln/>
        </p:spPr>
      </p:sp>
      <p:sp>
        <p:nvSpPr>
          <p:cNvPr id="7" name="Shape 5"/>
          <p:cNvSpPr/>
          <p:nvPr/>
        </p:nvSpPr>
        <p:spPr>
          <a:xfrm>
            <a:off x="685800" y="4635500"/>
            <a:ext cx="31750" cy="254000"/>
          </a:xfrm>
          <a:prstGeom prst="rect">
            <a:avLst/>
          </a:prstGeom>
          <a:solidFill>
            <a:srgbClr val="B57946"/>
          </a:solidFill>
          <a:ln/>
        </p:spPr>
      </p:sp>
      <p:sp>
        <p:nvSpPr>
          <p:cNvPr id="8" name="Text 6"/>
          <p:cNvSpPr/>
          <p:nvPr/>
        </p:nvSpPr>
        <p:spPr>
          <a:xfrm>
            <a:off x="889000" y="2095500"/>
            <a:ext cx="6475095" cy="3333849"/>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void printClimate()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float temperature = incipe.getTemperature();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float humidity = incipe.getHumidity();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if (temperature == -1 || humidity == -1)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Serial.println("DHT11 not detected yet");</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return;</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Serial.print("Temperature: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Serial.print(temperature);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Serial.print(" C, Humidity: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Serial.print(humidity);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12</a:t>
            </a:r>
            <a:r>
              <a:rPr lang="en-US" sz="1200" dirty="0">
                <a:solidFill>
                  <a:srgbClr val="1D1D1E"/>
                </a:solidFill>
                <a:latin typeface="Courier New" pitchFamily="49" charset="0"/>
                <a:ea typeface="Courier New" pitchFamily="49" charset="-122"/>
                <a:cs typeface="Courier New" pitchFamily="49" charset="-120"/>
              </a:rPr>
              <a:t>    Serial.println("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13</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11 · STEP 8 OF 10</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Print the humidity, also with two decimals: 51.00.</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temperature = 23.4</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humidity = 51.0</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952500"/>
          </a:xfrm>
          <a:prstGeom prst="rect">
            <a:avLst/>
          </a:prstGeom>
          <a:solidFill>
            <a:srgbClr val="FFFFFF"/>
          </a:solidFill>
          <a:ln/>
        </p:spPr>
      </p:sp>
      <p:sp>
        <p:nvSpPr>
          <p:cNvPr id="15" name="Text 13"/>
          <p:cNvSpPr/>
          <p:nvPr/>
        </p:nvSpPr>
        <p:spPr>
          <a:xfrm>
            <a:off x="7823200" y="4762500"/>
            <a:ext cx="39504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Temperature: 23.40 C, Humidity: </a:t>
            </a:r>
            <a:r>
              <a:rPr lang="en-US" sz="1200" dirty="0">
                <a:solidFill>
                  <a:srgbClr val="8F5C33"/>
                </a:solidFill>
                <a:latin typeface="Courier New" pitchFamily="49" charset="0"/>
                <a:ea typeface="Courier New" pitchFamily="49" charset="-122"/>
                <a:cs typeface="Courier New" pitchFamily="49" charset="-120"/>
              </a:rPr>
              <a:t>51.00</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The optimised printClimate().</a:t>
            </a:r>
            <a:endParaRPr lang="en-US" sz="2800" dirty="0"/>
          </a:p>
        </p:txBody>
      </p:sp>
      <p:sp>
        <p:nvSpPr>
          <p:cNvPr id="5" name="Shape 3"/>
          <p:cNvSpPr/>
          <p:nvPr/>
        </p:nvSpPr>
        <p:spPr>
          <a:xfrm>
            <a:off x="685800" y="1905000"/>
            <a:ext cx="6604000" cy="3683000"/>
          </a:xfrm>
          <a:prstGeom prst="rect">
            <a:avLst/>
          </a:prstGeom>
          <a:solidFill>
            <a:srgbClr val="E1E1E1"/>
          </a:solidFill>
          <a:ln/>
        </p:spPr>
      </p:sp>
      <p:sp>
        <p:nvSpPr>
          <p:cNvPr id="6" name="Shape 4"/>
          <p:cNvSpPr/>
          <p:nvPr/>
        </p:nvSpPr>
        <p:spPr>
          <a:xfrm>
            <a:off x="685800" y="4889500"/>
            <a:ext cx="6604000" cy="254000"/>
          </a:xfrm>
          <a:prstGeom prst="rect">
            <a:avLst/>
          </a:prstGeom>
          <a:solidFill>
            <a:srgbClr val="FFFFFF"/>
          </a:solidFill>
          <a:ln/>
        </p:spPr>
      </p:sp>
      <p:sp>
        <p:nvSpPr>
          <p:cNvPr id="7" name="Shape 5"/>
          <p:cNvSpPr/>
          <p:nvPr/>
        </p:nvSpPr>
        <p:spPr>
          <a:xfrm>
            <a:off x="685800" y="4889500"/>
            <a:ext cx="31750" cy="254000"/>
          </a:xfrm>
          <a:prstGeom prst="rect">
            <a:avLst/>
          </a:prstGeom>
          <a:solidFill>
            <a:srgbClr val="B57946"/>
          </a:solidFill>
          <a:ln/>
        </p:spPr>
      </p:sp>
      <p:sp>
        <p:nvSpPr>
          <p:cNvPr id="8" name="Text 6"/>
          <p:cNvSpPr/>
          <p:nvPr/>
        </p:nvSpPr>
        <p:spPr>
          <a:xfrm>
            <a:off x="889000" y="2095500"/>
            <a:ext cx="6475095" cy="3333849"/>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void printClimate()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float temperature = incipe.getTemperature();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float humidity = incipe.getHumidity();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if (temperature == -1 || humidity == -1)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Serial.println("DHT11 not detected yet");</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return;</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Serial.print("Temperature: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Serial.print(temperature);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Serial.print(" C, Humidity: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Serial.print(humidity);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12</a:t>
            </a:r>
            <a:r>
              <a:rPr lang="en-US" sz="1200" dirty="0">
                <a:solidFill>
                  <a:srgbClr val="1D1D1E"/>
                </a:solidFill>
                <a:latin typeface="Courier New" pitchFamily="49" charset="0"/>
                <a:ea typeface="Courier New" pitchFamily="49" charset="-122"/>
                <a:cs typeface="Courier New" pitchFamily="49" charset="-120"/>
              </a:rPr>
              <a:t>    Serial.println("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13</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12 · STEP 9 OF 10</a:t>
            </a:r>
            <a:endParaRPr lang="en-US" sz="1200" dirty="0"/>
          </a:p>
        </p:txBody>
      </p:sp>
      <p:sp>
        <p:nvSpPr>
          <p:cNvPr id="10" name="Text 8"/>
          <p:cNvSpPr/>
          <p:nvPr/>
        </p:nvSpPr>
        <p:spPr>
          <a:xfrm>
            <a:off x="7670800" y="2190750"/>
            <a:ext cx="4264406" cy="52635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0000"/>
                </a:solidFill>
                <a:latin typeface="Helvetica Neue" pitchFamily="34" charset="0"/>
                <a:ea typeface="Helvetica Neue" pitchFamily="34" charset="-122"/>
                <a:cs typeface="Helvetica Neue" pitchFamily="34" charset="-120"/>
              </a:rPr>
              <a:t>println</a:t>
            </a:r>
            <a:r>
              <a:rPr lang="en-US" sz="1400" dirty="0">
                <a:solidFill>
                  <a:srgbClr val="000000"/>
                </a:solidFill>
                <a:latin typeface="Helvetica Neue" pitchFamily="34" charset="0"/>
                <a:ea typeface="Helvetica Neue" pitchFamily="34" charset="-122"/>
                <a:cs typeface="Helvetica Neue" pitchFamily="34" charset="-120"/>
              </a:rPr>
              <a:t> adds the last piece and then starts a new line.</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temperature = 23.4</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humidity = 51.0</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952500"/>
          </a:xfrm>
          <a:prstGeom prst="rect">
            <a:avLst/>
          </a:prstGeom>
          <a:solidFill>
            <a:srgbClr val="FFFFFF"/>
          </a:solidFill>
          <a:ln/>
        </p:spPr>
      </p:sp>
      <p:sp>
        <p:nvSpPr>
          <p:cNvPr id="15" name="Text 13"/>
          <p:cNvSpPr/>
          <p:nvPr/>
        </p:nvSpPr>
        <p:spPr>
          <a:xfrm>
            <a:off x="7823200" y="4762500"/>
            <a:ext cx="39504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Temperature: 23.40 C, Humidity: 51.00</a:t>
            </a:r>
            <a:r>
              <a:rPr lang="en-US" sz="1200" dirty="0">
                <a:solidFill>
                  <a:srgbClr val="8F5C33"/>
                </a:solidFill>
                <a:latin typeface="Courier New" pitchFamily="49" charset="0"/>
                <a:ea typeface="Courier New" pitchFamily="49" charset="-122"/>
                <a:cs typeface="Courier New" pitchFamily="49" charset="-120"/>
              </a:rPr>
              <a:t> %</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The optimised printClimate().</a:t>
            </a:r>
            <a:endParaRPr lang="en-US" sz="2800" dirty="0"/>
          </a:p>
        </p:txBody>
      </p:sp>
      <p:sp>
        <p:nvSpPr>
          <p:cNvPr id="5" name="Shape 3"/>
          <p:cNvSpPr/>
          <p:nvPr/>
        </p:nvSpPr>
        <p:spPr>
          <a:xfrm>
            <a:off x="685800" y="1905000"/>
            <a:ext cx="6604000" cy="3683000"/>
          </a:xfrm>
          <a:prstGeom prst="rect">
            <a:avLst/>
          </a:prstGeom>
          <a:solidFill>
            <a:srgbClr val="E1E1E1"/>
          </a:solidFill>
          <a:ln/>
        </p:spPr>
      </p:sp>
      <p:sp>
        <p:nvSpPr>
          <p:cNvPr id="6" name="Shape 4"/>
          <p:cNvSpPr/>
          <p:nvPr/>
        </p:nvSpPr>
        <p:spPr>
          <a:xfrm>
            <a:off x="685800" y="5143500"/>
            <a:ext cx="6604000" cy="254000"/>
          </a:xfrm>
          <a:prstGeom prst="rect">
            <a:avLst/>
          </a:prstGeom>
          <a:solidFill>
            <a:srgbClr val="FFFFFF"/>
          </a:solidFill>
          <a:ln/>
        </p:spPr>
      </p:sp>
      <p:sp>
        <p:nvSpPr>
          <p:cNvPr id="7" name="Shape 5"/>
          <p:cNvSpPr/>
          <p:nvPr/>
        </p:nvSpPr>
        <p:spPr>
          <a:xfrm>
            <a:off x="685800" y="5143500"/>
            <a:ext cx="31750" cy="254000"/>
          </a:xfrm>
          <a:prstGeom prst="rect">
            <a:avLst/>
          </a:prstGeom>
          <a:solidFill>
            <a:srgbClr val="B57946"/>
          </a:solidFill>
          <a:ln/>
        </p:spPr>
      </p:sp>
      <p:sp>
        <p:nvSpPr>
          <p:cNvPr id="8" name="Text 6"/>
          <p:cNvSpPr/>
          <p:nvPr/>
        </p:nvSpPr>
        <p:spPr>
          <a:xfrm>
            <a:off x="889000" y="2095500"/>
            <a:ext cx="6475095" cy="3333849"/>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void printClimate()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float temperature = incipe.getTemperature();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float humidity = incipe.getHumidity();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if (temperature == -1 || humidity == -1)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Serial.println("DHT11 not detected yet");</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return;</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Serial.print("Temperature: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Serial.print(temperature);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Serial.print(" C, Humidity: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Serial.print(humidity);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12</a:t>
            </a:r>
            <a:r>
              <a:rPr lang="en-US" sz="1200" dirty="0">
                <a:solidFill>
                  <a:srgbClr val="1D1D1E"/>
                </a:solidFill>
                <a:latin typeface="Courier New" pitchFamily="49" charset="0"/>
                <a:ea typeface="Courier New" pitchFamily="49" charset="-122"/>
                <a:cs typeface="Courier New" pitchFamily="49" charset="-120"/>
              </a:rPr>
              <a:t>    Serial.println("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13</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13 · STEP 10 OF 10</a:t>
            </a:r>
            <a:endParaRPr lang="en-US" sz="1200" dirty="0"/>
          </a:p>
        </p:txBody>
      </p:sp>
      <p:sp>
        <p:nvSpPr>
          <p:cNvPr id="10" name="Text 8"/>
          <p:cNvSpPr/>
          <p:nvPr/>
        </p:nvSpPr>
        <p:spPr>
          <a:xfrm>
            <a:off x="7670800" y="2190750"/>
            <a:ext cx="42644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The function ends. Next call, it reads fresh values. Run it every 2000 ms from a user thread.</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temperature = 23.4</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humidity = 51.0</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952500"/>
          </a:xfrm>
          <a:prstGeom prst="rect">
            <a:avLst/>
          </a:prstGeom>
          <a:solidFill>
            <a:srgbClr val="FFFFFF"/>
          </a:solidFill>
          <a:ln/>
        </p:spPr>
      </p:sp>
      <p:sp>
        <p:nvSpPr>
          <p:cNvPr id="15" name="Text 13"/>
          <p:cNvSpPr/>
          <p:nvPr/>
        </p:nvSpPr>
        <p:spPr>
          <a:xfrm>
            <a:off x="7823200" y="4762500"/>
            <a:ext cx="39504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Temperature: 23.40 C, Humidity: 51.00 %</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116329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When to Trust AI</a:t>
            </a:r>
            <a:endParaRPr lang="en-US" sz="1600" dirty="0"/>
          </a:p>
        </p:txBody>
      </p:sp>
      <p:sp>
        <p:nvSpPr>
          <p:cNvPr id="4" name="Text 2"/>
          <p:cNvSpPr/>
          <p:nvPr>
            <p:ph type="title"/>
          </p:nvPr>
        </p:nvSpPr>
        <p:spPr>
          <a:xfrm>
            <a:off x="685800" y="726430"/>
            <a:ext cx="9496806"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Trust it to multiply. Check that you typed the right numbers.</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8500" y="1854200"/>
          <a:ext cx="10807700" cy="2090043"/>
        </p:xfrm>
        <a:graphic>
          <a:graphicData uri="http://schemas.openxmlformats.org/drawingml/2006/table">
            <a:tbl>
              <a:tblPr/>
              <a:tblGrid>
                <a:gridCol w="3566541"/>
                <a:gridCol w="3674618"/>
                <a:gridCol w="3566541"/>
              </a:tblGrid>
              <a:tr h="332680">
                <a:tc>
                  <a:txBody>
                    <a:bodyPr/>
                    <a:lstStyle/>
                    <a:p>
                      <a:pPr indent="0" marL="0">
                        <a:lnSpc>
                          <a:spcPts val="1680"/>
                        </a:lnSpc>
                        <a:buNone/>
                      </a:pPr>
                      <a:r>
                        <a:rPr lang="en-US" sz="1200" b="1" dirty="0">
                          <a:solidFill>
                            <a:srgbClr val="1D1D1E"/>
                          </a:solidFill>
                          <a:latin typeface="Helvetica Neue" pitchFamily="34" charset="0"/>
                          <a:ea typeface="Helvetica Neue" pitchFamily="34" charset="-122"/>
                          <a:cs typeface="Helvetica Neue" pitchFamily="34" charset="-120"/>
                        </a:rPr>
                        <a:t>Trust the AI to…</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680"/>
                        </a:lnSpc>
                        <a:buNone/>
                      </a:pPr>
                      <a:r>
                        <a:rPr lang="en-US" sz="1200" b="1" dirty="0">
                          <a:solidFill>
                            <a:srgbClr val="1D1D1E"/>
                          </a:solidFill>
                          <a:latin typeface="Helvetica Neue" pitchFamily="34" charset="0"/>
                          <a:ea typeface="Helvetica Neue" pitchFamily="34" charset="-122"/>
                          <a:cs typeface="Helvetica Neue" pitchFamily="34" charset="-120"/>
                        </a:rPr>
                        <a:t>Check it yourself when…</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680"/>
                        </a:lnSpc>
                        <a:buNone/>
                      </a:pPr>
                      <a:r>
                        <a:rPr lang="en-US" sz="1200" b="1" dirty="0">
                          <a:solidFill>
                            <a:srgbClr val="1D1D1E"/>
                          </a:solidFill>
                          <a:latin typeface="Helvetica Neue" pitchFamily="34" charset="0"/>
                          <a:ea typeface="Helvetica Neue" pitchFamily="34" charset="-122"/>
                          <a:cs typeface="Helvetica Neue" pitchFamily="34" charset="-120"/>
                        </a:rPr>
                        <a:t>Write it yourself when…</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546001">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Write a first draft fast</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It uses an incipe.* name — compare it with the Wiki</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You cannot explain what a line does yet</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Explain an error message</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It reads a sensor — is −1 handled?</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The fix is one or two lines</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546001">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Suggest a review checklist</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It picks a type or a timing — does it match the Wiki?</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You are learning that idea for the first time</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Draft comments and a README</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It builds text or keeps lists of values</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Safety matters: anything that moves or gets hot</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sp>
        <p:nvSpPr>
          <p:cNvPr id="6" name="Text 3"/>
          <p:cNvSpPr/>
          <p:nvPr/>
        </p:nvSpPr>
        <p:spPr>
          <a:xfrm>
            <a:off x="685800" y="4953000"/>
            <a:ext cx="10820400" cy="770235"/>
          </a:xfrm>
          <a:prstGeom prst="rect">
            <a:avLst/>
          </a:prstGeom>
          <a:solidFill>
            <a:srgbClr val="E1E1E1"/>
          </a:solidFill>
          <a:ln/>
        </p:spPr>
        <p:txBody>
          <a:bodyPr wrap="square" lIns="203200" tIns="152400" rIns="0" bIns="127000" rtlCol="0" anchor="t">
            <a:normAutofit/>
          </a:bodyPr>
          <a:lstStyle/>
          <a:p>
            <a:pPr algn="l" indent="0" marL="0">
              <a:lnSpc>
                <a:spcPts val="1820"/>
              </a:lnSpc>
              <a:buNone/>
            </a:pPr>
            <a:r>
              <a:rPr lang="en-US" sz="1300" b="1" dirty="0">
                <a:solidFill>
                  <a:srgbClr val="000000"/>
                </a:solidFill>
                <a:latin typeface="Helvetica Neue" pitchFamily="34" charset="0"/>
                <a:ea typeface="Helvetica Neue" pitchFamily="34" charset="-122"/>
                <a:cs typeface="Helvetica Neue" pitchFamily="34" charset="-120"/>
              </a:rPr>
              <a:t>Reusable prompt:</a:t>
            </a:r>
            <a:r>
              <a:rPr lang="en-US" sz="1300" dirty="0">
                <a:solidFill>
                  <a:srgbClr val="000000"/>
                </a:solidFill>
                <a:latin typeface="Helvetica Neue" pitchFamily="34" charset="0"/>
                <a:ea typeface="Helvetica Neue" pitchFamily="34" charset="-122"/>
                <a:cs typeface="Helvetica Neue" pitchFamily="34" charset="-120"/>
              </a:rPr>
              <a:t> Review this function line by line. List anything that wastes memory and anything that breaks if the sensor returns −1. Do not rewrite it.</a:t>
            </a:r>
            <a:endParaRPr lang="en-US" sz="1300" dirty="0"/>
          </a:p>
        </p:txBody>
      </p:sp>
      <p:pic>
        <p:nvPicPr>
          <p:cNvPr id="7"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8" name="Text 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9" name="Text 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Try It</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Prompt, verify, review, fix by hand, upload.</a:t>
            </a:r>
            <a:endParaRPr lang="en-US" sz="2800" dirty="0"/>
          </a:p>
        </p:txBody>
      </p:sp>
      <p:sp>
        <p:nvSpPr>
          <p:cNvPr id="5" name="Text 3"/>
          <p:cNvSpPr/>
          <p:nvPr/>
        </p:nvSpPr>
        <p:spPr>
          <a:xfrm>
            <a:off x="727869" y="1841500"/>
            <a:ext cx="9761061" cy="1739900"/>
          </a:xfrm>
          <a:prstGeom prst="rect">
            <a:avLst/>
          </a:prstGeom>
          <a:noFill/>
          <a:ln/>
        </p:spPr>
        <p:txBody>
          <a:bodyPr wrap="square" lIns="0" tIns="0" rIns="0" bIns="0" rtlCol="0" anchor="t">
            <a:normAutofit/>
          </a:bodyPr>
          <a:lstStyle/>
          <a:p>
            <a:pPr algn="l" marL="211931" indent="-211931">
              <a:lnSpc>
                <a:spcPts val="2250"/>
              </a:lnSpc>
              <a:buSzPct val="100000"/>
              <a:buFontTx/>
              <a:buAutoNum type="arabicPeriod" startAt="1"/>
            </a:pPr>
            <a:r>
              <a:rPr lang="en-US" sz="1500" dirty="0">
                <a:solidFill>
                  <a:srgbClr val="1D1D1E"/>
                </a:solidFill>
                <a:latin typeface="Helvetica Neue" pitchFamily="34" charset="0"/>
                <a:ea typeface="Helvetica Neue" pitchFamily="34" charset="-122"/>
                <a:cs typeface="Helvetica Neue" pitchFamily="34" charset="-120"/>
              </a:rPr>
              <a:t>Open a new project in INCIPE Workspace and send today's prompt.</a:t>
            </a:r>
            <a:endParaRPr lang="en-US" sz="1500" dirty="0"/>
          </a:p>
          <a:p>
            <a:pPr algn="l" marL="211931" indent="-211931">
              <a:lnSpc>
                <a:spcPts val="2250"/>
              </a:lnSpc>
              <a:buSzPct val="100000"/>
              <a:buFontTx/>
              <a:buAutoNum type="arabicPeriod" startAt="1"/>
            </a:pPr>
            <a:r>
              <a:rPr lang="en-US" sz="1500" dirty="0">
                <a:solidFill>
                  <a:srgbClr val="1D1D1E"/>
                </a:solidFill>
                <a:latin typeface="Helvetica Neue" pitchFamily="34" charset="0"/>
                <a:ea typeface="Helvetica Neue" pitchFamily="34" charset="-122"/>
                <a:cs typeface="Helvetica Neue" pitchFamily="34" charset="-120"/>
              </a:rPr>
              <a:t>Click Verify. If it fails, ask the AI: "Explain this error in one sentence. Do not rewrite the code."</a:t>
            </a:r>
            <a:endParaRPr lang="en-US" sz="1500" dirty="0"/>
          </a:p>
          <a:p>
            <a:pPr algn="l" marL="211931" indent="-211931">
              <a:lnSpc>
                <a:spcPts val="2250"/>
              </a:lnSpc>
              <a:buSzPct val="100000"/>
              <a:buFontTx/>
              <a:buAutoNum type="arabicPeriod" startAt="1"/>
            </a:pPr>
            <a:r>
              <a:rPr lang="en-US" sz="1500" dirty="0">
                <a:solidFill>
                  <a:srgbClr val="1D1D1E"/>
                </a:solidFill>
                <a:latin typeface="Helvetica Neue" pitchFamily="34" charset="0"/>
                <a:ea typeface="Helvetica Neue" pitchFamily="34" charset="-122"/>
                <a:cs typeface="Helvetica Neue" pitchFamily="34" charset="-120"/>
              </a:rPr>
              <a:t>Review the draft with the five questions. Write down every "No".</a:t>
            </a:r>
            <a:endParaRPr lang="en-US" sz="1500" dirty="0"/>
          </a:p>
          <a:p>
            <a:pPr algn="l" marL="211931" indent="-211931">
              <a:lnSpc>
                <a:spcPts val="2250"/>
              </a:lnSpc>
              <a:buSzPct val="100000"/>
              <a:buFontTx/>
              <a:buAutoNum type="arabicPeriod" startAt="1"/>
            </a:pPr>
            <a:r>
              <a:rPr lang="en-US" sz="1500" dirty="0">
                <a:solidFill>
                  <a:srgbClr val="1D1D1E"/>
                </a:solidFill>
                <a:latin typeface="Helvetica Neue" pitchFamily="34" charset="0"/>
                <a:ea typeface="Helvetica Neue" pitchFamily="34" charset="-122"/>
                <a:cs typeface="Helvetica Neue" pitchFamily="34" charset="-120"/>
              </a:rPr>
              <a:t>Fix them by hand: double to float, add the −1 check, print instead of building a String.</a:t>
            </a:r>
            <a:endParaRPr lang="en-US" sz="1500" dirty="0"/>
          </a:p>
          <a:p>
            <a:pPr algn="l" marL="211931" indent="-211931">
              <a:lnSpc>
                <a:spcPts val="2250"/>
              </a:lnSpc>
              <a:buSzPct val="100000"/>
              <a:buFontTx/>
              <a:buAutoNum type="arabicPeriod" startAt="1"/>
            </a:pPr>
            <a:r>
              <a:rPr lang="en-US" sz="1500" dirty="0">
                <a:solidFill>
                  <a:srgbClr val="1D1D1E"/>
                </a:solidFill>
                <a:latin typeface="Helvetica Neue" pitchFamily="34" charset="0"/>
                <a:ea typeface="Helvetica Neue" pitchFamily="34" charset="-122"/>
                <a:cs typeface="Helvetica Neue" pitchFamily="34" charset="-120"/>
              </a:rPr>
              <a:t>Verify again, then Upload and watch the Console. Unplug the sensor: you should see DHT11 not detected yet.</a:t>
            </a:r>
            <a:endParaRPr lang="en-US" sz="1500" dirty="0"/>
          </a:p>
        </p:txBody>
      </p:sp>
      <p:pic>
        <p:nvPicPr>
          <p:cNvPr id="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7" name="Text 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8" name="Text 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116329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Practice: The Climate Reader</a:t>
            </a:r>
            <a:endParaRPr lang="en-US" sz="1600" dirty="0"/>
          </a:p>
        </p:txBody>
      </p:sp>
      <p:sp>
        <p:nvSpPr>
          <p:cNvPr id="4" name="Text 2"/>
          <p:cNvSpPr/>
          <p:nvPr>
            <p:ph type="title"/>
          </p:nvPr>
        </p:nvSpPr>
        <p:spPr>
          <a:xfrm>
            <a:off x="685800" y="726430"/>
            <a:ext cx="9496806"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Generate it with AI, then optimise the memory by hand.</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8500" y="2171700"/>
          <a:ext cx="10807700" cy="2387054"/>
        </p:xfrm>
        <a:graphic>
          <a:graphicData uri="http://schemas.openxmlformats.org/drawingml/2006/table">
            <a:tbl>
              <a:tblPr/>
              <a:tblGrid>
                <a:gridCol w="864616"/>
                <a:gridCol w="7781544"/>
                <a:gridCol w="2161540"/>
              </a:tblGrid>
              <a:tr h="359321">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Step</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Do this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Hand in</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59045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1</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Prompt the Workspace AI for a temperature &amp; humidity read function, using Role, Goal, Context from Lesson 1.</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Your prompt</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2</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Copy the AI's first draft, unchanged.</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Draft A</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3</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Mark every line that uses more memory than it needs, and say why in one sentence.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Your notes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4</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Rewrite it by hand so it uses float, stores no String, and handles −1.</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Draft B</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5</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Fill in the table: bytes used by the variables in Draft A vs Draft B.</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The table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pic>
        <p:nvPicPr>
          <p:cNvPr id="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7" name="Text 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8" name="Text 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Checkpoint 1</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Temperature is 23.4 and humidity is −1. What prints?</a:t>
            </a:r>
            <a:endParaRPr lang="en-US" sz="2800" dirty="0"/>
          </a:p>
        </p:txBody>
      </p:sp>
      <p:sp>
        <p:nvSpPr>
          <p:cNvPr id="5" name="Shape 3"/>
          <p:cNvSpPr/>
          <p:nvPr/>
        </p:nvSpPr>
        <p:spPr>
          <a:xfrm>
            <a:off x="685800" y="1905000"/>
            <a:ext cx="5334000" cy="3556000"/>
          </a:xfrm>
          <a:prstGeom prst="rect">
            <a:avLst/>
          </a:prstGeom>
          <a:solidFill>
            <a:srgbClr val="E1E1E1"/>
          </a:solidFill>
          <a:ln/>
        </p:spPr>
      </p:sp>
      <p:sp>
        <p:nvSpPr>
          <p:cNvPr id="6" name="Text 4"/>
          <p:cNvSpPr/>
          <p:nvPr/>
        </p:nvSpPr>
        <p:spPr>
          <a:xfrm>
            <a:off x="939800" y="21590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READ THE CODE</a:t>
            </a:r>
            <a:endParaRPr lang="en-US" sz="1200" dirty="0"/>
          </a:p>
        </p:txBody>
      </p:sp>
      <p:sp>
        <p:nvSpPr>
          <p:cNvPr id="7" name="Text 5"/>
          <p:cNvSpPr/>
          <p:nvPr/>
        </p:nvSpPr>
        <p:spPr>
          <a:xfrm>
            <a:off x="939800" y="2524720"/>
            <a:ext cx="4970780" cy="197604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float temperature = incipe.getTemperature();</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float humidity = incipe.getHumidity();</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if (temperature == -1 || humidity == -1) {</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Serial.println("DHT11 not detected yet");</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return;</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Serial.print("Temperature: ");</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a:t>
            </a:r>
            <a:endParaRPr lang="en-US" sz="1200" dirty="0"/>
          </a:p>
        </p:txBody>
      </p:sp>
      <p:sp>
        <p:nvSpPr>
          <p:cNvPr id="8" name="Shape 6"/>
          <p:cNvSpPr/>
          <p:nvPr/>
        </p:nvSpPr>
        <p:spPr>
          <a:xfrm>
            <a:off x="6273800" y="1905000"/>
            <a:ext cx="6350" cy="3556000"/>
          </a:xfrm>
          <a:prstGeom prst="rect">
            <a:avLst/>
          </a:prstGeom>
          <a:solidFill>
            <a:srgbClr val="D4D4D4"/>
          </a:solidFill>
          <a:ln/>
        </p:spPr>
      </p:sp>
      <p:sp>
        <p:nvSpPr>
          <p:cNvPr id="9" name="Text 7"/>
          <p:cNvSpPr/>
          <p:nvPr/>
        </p:nvSpPr>
        <p:spPr>
          <a:xfrm>
            <a:off x="6527800" y="19050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ANSWER</a:t>
            </a:r>
            <a:endParaRPr lang="en-US" sz="1200" dirty="0"/>
          </a:p>
        </p:txBody>
      </p:sp>
      <p:sp>
        <p:nvSpPr>
          <p:cNvPr id="10" name="Text 8"/>
          <p:cNvSpPr/>
          <p:nvPr/>
        </p:nvSpPr>
        <p:spPr>
          <a:xfrm>
            <a:off x="6527800" y="2270720"/>
            <a:ext cx="512775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B57946"/>
                </a:solidFill>
                <a:latin typeface="Helvetica Neue" pitchFamily="34" charset="0"/>
                <a:ea typeface="Helvetica Neue" pitchFamily="34" charset="-122"/>
                <a:cs typeface="Helvetica Neue" pitchFamily="34" charset="-120"/>
              </a:rPr>
              <a:t>DHT11 not detected yet</a:t>
            </a:r>
            <a:endParaRPr lang="en-US" sz="2800" dirty="0"/>
          </a:p>
        </p:txBody>
      </p:sp>
      <p:sp>
        <p:nvSpPr>
          <p:cNvPr id="11" name="Text 9"/>
          <p:cNvSpPr/>
          <p:nvPr/>
        </p:nvSpPr>
        <p:spPr>
          <a:xfrm>
            <a:off x="6527800" y="283205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WHY</a:t>
            </a:r>
            <a:endParaRPr lang="en-US" sz="1200" dirty="0"/>
          </a:p>
        </p:txBody>
      </p:sp>
      <p:sp>
        <p:nvSpPr>
          <p:cNvPr id="12" name="Text 10"/>
          <p:cNvSpPr/>
          <p:nvPr/>
        </p:nvSpPr>
        <p:spPr>
          <a:xfrm>
            <a:off x="6527800" y="3197771"/>
            <a:ext cx="512775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23.4 is fine, but humidity is −1, so the "or" test is true. The function prints the message and returns before any numbers.</a:t>
            </a:r>
            <a:endParaRPr lang="en-US" sz="14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Checkpoint 2</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Temperature is 18 and humidity is 60. What prints?</a:t>
            </a:r>
            <a:endParaRPr lang="en-US" sz="2800" dirty="0"/>
          </a:p>
        </p:txBody>
      </p:sp>
      <p:sp>
        <p:nvSpPr>
          <p:cNvPr id="5" name="Shape 3"/>
          <p:cNvSpPr/>
          <p:nvPr/>
        </p:nvSpPr>
        <p:spPr>
          <a:xfrm>
            <a:off x="685800" y="1905000"/>
            <a:ext cx="5334000" cy="3556000"/>
          </a:xfrm>
          <a:prstGeom prst="rect">
            <a:avLst/>
          </a:prstGeom>
          <a:solidFill>
            <a:srgbClr val="E1E1E1"/>
          </a:solidFill>
          <a:ln/>
        </p:spPr>
      </p:sp>
      <p:sp>
        <p:nvSpPr>
          <p:cNvPr id="6" name="Text 4"/>
          <p:cNvSpPr/>
          <p:nvPr/>
        </p:nvSpPr>
        <p:spPr>
          <a:xfrm>
            <a:off x="939800" y="21590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READ THE CODE</a:t>
            </a:r>
            <a:endParaRPr lang="en-US" sz="1200" dirty="0"/>
          </a:p>
        </p:txBody>
      </p:sp>
      <p:sp>
        <p:nvSpPr>
          <p:cNvPr id="7" name="Text 5"/>
          <p:cNvSpPr/>
          <p:nvPr/>
        </p:nvSpPr>
        <p:spPr>
          <a:xfrm>
            <a:off x="939800" y="2524720"/>
            <a:ext cx="4970780" cy="124455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Serial.print("Temperature: ");</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Serial.print(temperature);</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Serial.print(" C, Humidity: ");</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Serial.print(humidity);</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Serial.println(" %");</a:t>
            </a:r>
            <a:endParaRPr lang="en-US" sz="1200" dirty="0"/>
          </a:p>
        </p:txBody>
      </p:sp>
      <p:sp>
        <p:nvSpPr>
          <p:cNvPr id="8" name="Shape 6"/>
          <p:cNvSpPr/>
          <p:nvPr/>
        </p:nvSpPr>
        <p:spPr>
          <a:xfrm>
            <a:off x="6273800" y="1905000"/>
            <a:ext cx="6350" cy="3556000"/>
          </a:xfrm>
          <a:prstGeom prst="rect">
            <a:avLst/>
          </a:prstGeom>
          <a:solidFill>
            <a:srgbClr val="D4D4D4"/>
          </a:solidFill>
          <a:ln/>
        </p:spPr>
      </p:sp>
      <p:sp>
        <p:nvSpPr>
          <p:cNvPr id="9" name="Text 7"/>
          <p:cNvSpPr/>
          <p:nvPr/>
        </p:nvSpPr>
        <p:spPr>
          <a:xfrm>
            <a:off x="6527800" y="19050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ANSWER</a:t>
            </a:r>
            <a:endParaRPr lang="en-US" sz="1200" dirty="0"/>
          </a:p>
        </p:txBody>
      </p:sp>
      <p:sp>
        <p:nvSpPr>
          <p:cNvPr id="10" name="Text 8"/>
          <p:cNvSpPr/>
          <p:nvPr/>
        </p:nvSpPr>
        <p:spPr>
          <a:xfrm>
            <a:off x="6527800" y="2270720"/>
            <a:ext cx="5127752" cy="72390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B57946"/>
                </a:solidFill>
                <a:latin typeface="Courier New" pitchFamily="49" charset="0"/>
                <a:ea typeface="Courier New" pitchFamily="49" charset="-122"/>
                <a:cs typeface="Courier New" pitchFamily="49" charset="-120"/>
              </a:rPr>
              <a:t>Temperature: 18.00 C, Humidity: 60.00 %</a:t>
            </a:r>
            <a:endParaRPr lang="en-US" sz="2200" dirty="0"/>
          </a:p>
        </p:txBody>
      </p:sp>
      <p:sp>
        <p:nvSpPr>
          <p:cNvPr id="11" name="Text 9"/>
          <p:cNvSpPr/>
          <p:nvPr/>
        </p:nvSpPr>
        <p:spPr>
          <a:xfrm>
            <a:off x="6527800" y="312162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WHY</a:t>
            </a:r>
            <a:endParaRPr lang="en-US" sz="1200" dirty="0"/>
          </a:p>
        </p:txBody>
      </p:sp>
      <p:sp>
        <p:nvSpPr>
          <p:cNvPr id="12" name="Text 10"/>
          <p:cNvSpPr/>
          <p:nvPr/>
        </p:nvSpPr>
        <p:spPr>
          <a:xfrm>
            <a:off x="6527800" y="3487341"/>
            <a:ext cx="512775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Neither value is −1, so the whole line prints. Arduino prints each float with two decimal places.</a:t>
            </a:r>
            <a:endParaRPr lang="en-US" sz="14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116329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Checkpoint 3</a:t>
            </a:r>
            <a:endParaRPr lang="en-US" sz="1600" dirty="0"/>
          </a:p>
        </p:txBody>
      </p:sp>
      <p:sp>
        <p:nvSpPr>
          <p:cNvPr id="4" name="Text 2"/>
          <p:cNvSpPr/>
          <p:nvPr>
            <p:ph type="title"/>
          </p:nvPr>
        </p:nvSpPr>
        <p:spPr>
          <a:xfrm>
            <a:off x="685800" y="726430"/>
            <a:ext cx="9496806"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Two doubles become two floats. How many bytes are saved?</a:t>
            </a:r>
            <a:endParaRPr lang="en-US" sz="2800" dirty="0"/>
          </a:p>
        </p:txBody>
      </p:sp>
      <p:sp>
        <p:nvSpPr>
          <p:cNvPr id="5" name="Shape 3"/>
          <p:cNvSpPr/>
          <p:nvPr/>
        </p:nvSpPr>
        <p:spPr>
          <a:xfrm>
            <a:off x="685800" y="2159000"/>
            <a:ext cx="5334000" cy="3302000"/>
          </a:xfrm>
          <a:prstGeom prst="rect">
            <a:avLst/>
          </a:prstGeom>
          <a:solidFill>
            <a:srgbClr val="E1E1E1"/>
          </a:solidFill>
          <a:ln/>
        </p:spPr>
      </p:sp>
      <p:sp>
        <p:nvSpPr>
          <p:cNvPr id="6" name="Text 4"/>
          <p:cNvSpPr/>
          <p:nvPr/>
        </p:nvSpPr>
        <p:spPr>
          <a:xfrm>
            <a:off x="939800" y="24130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READ THE CODE</a:t>
            </a:r>
            <a:endParaRPr lang="en-US" sz="1200" dirty="0"/>
          </a:p>
        </p:txBody>
      </p:sp>
      <p:sp>
        <p:nvSpPr>
          <p:cNvPr id="7" name="Text 5"/>
          <p:cNvSpPr/>
          <p:nvPr/>
        </p:nvSpPr>
        <p:spPr>
          <a:xfrm>
            <a:off x="939800" y="2778720"/>
            <a:ext cx="4970780" cy="173221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AI draft</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double temperature = incipe.getTemperature();</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double humidity = incipe.getHumidity();</a:t>
            </a:r>
            <a:endParaRPr lang="en-US" sz="1200" dirty="0"/>
          </a:p>
          <a:p>
            <a:pPr algn="l" indent="0" marL="0">
              <a:lnSpc>
                <a:spcPts val="1920"/>
              </a:lnSpc>
              <a:buNone/>
            </a:pP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Optimised</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float temperature = incipe.getTemperature();</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float humidity = incipe.getHumidity();</a:t>
            </a:r>
            <a:endParaRPr lang="en-US" sz="1200" dirty="0"/>
          </a:p>
        </p:txBody>
      </p:sp>
      <p:sp>
        <p:nvSpPr>
          <p:cNvPr id="8" name="Shape 6"/>
          <p:cNvSpPr/>
          <p:nvPr/>
        </p:nvSpPr>
        <p:spPr>
          <a:xfrm>
            <a:off x="6273800" y="2159000"/>
            <a:ext cx="6350" cy="3302000"/>
          </a:xfrm>
          <a:prstGeom prst="rect">
            <a:avLst/>
          </a:prstGeom>
          <a:solidFill>
            <a:srgbClr val="D4D4D4"/>
          </a:solidFill>
          <a:ln/>
        </p:spPr>
      </p:sp>
      <p:sp>
        <p:nvSpPr>
          <p:cNvPr id="9" name="Text 7"/>
          <p:cNvSpPr/>
          <p:nvPr/>
        </p:nvSpPr>
        <p:spPr>
          <a:xfrm>
            <a:off x="6527800" y="21590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ANSWER</a:t>
            </a:r>
            <a:endParaRPr lang="en-US" sz="1200" dirty="0"/>
          </a:p>
        </p:txBody>
      </p:sp>
      <p:sp>
        <p:nvSpPr>
          <p:cNvPr id="10" name="Text 8"/>
          <p:cNvSpPr/>
          <p:nvPr/>
        </p:nvSpPr>
        <p:spPr>
          <a:xfrm>
            <a:off x="6527800" y="2524720"/>
            <a:ext cx="512775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B57946"/>
                </a:solidFill>
                <a:latin typeface="Helvetica Neue" pitchFamily="34" charset="0"/>
                <a:ea typeface="Helvetica Neue" pitchFamily="34" charset="-122"/>
                <a:cs typeface="Helvetica Neue" pitchFamily="34" charset="-120"/>
              </a:rPr>
              <a:t>8 bytes</a:t>
            </a:r>
            <a:endParaRPr lang="en-US" sz="3200" dirty="0"/>
          </a:p>
        </p:txBody>
      </p:sp>
      <p:sp>
        <p:nvSpPr>
          <p:cNvPr id="11" name="Text 9"/>
          <p:cNvSpPr/>
          <p:nvPr/>
        </p:nvSpPr>
        <p:spPr>
          <a:xfrm>
            <a:off x="6527800" y="3144441"/>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WHY</a:t>
            </a:r>
            <a:endParaRPr lang="en-US" sz="1200" dirty="0"/>
          </a:p>
        </p:txBody>
      </p:sp>
      <p:sp>
        <p:nvSpPr>
          <p:cNvPr id="12" name="Text 10"/>
          <p:cNvSpPr/>
          <p:nvPr/>
        </p:nvSpPr>
        <p:spPr>
          <a:xfrm>
            <a:off x="6527800" y="3510161"/>
            <a:ext cx="512775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Two doubles = 2 × 8 = 16 bytes. Two floats = 2 × 4 = 8 bytes. 16 − 8 = 8.</a:t>
            </a:r>
            <a:endParaRPr lang="en-US" sz="14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116329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Checkpoint 4</a:t>
            </a:r>
            <a:endParaRPr lang="en-US" sz="1600" dirty="0"/>
          </a:p>
        </p:txBody>
      </p:sp>
      <p:sp>
        <p:nvSpPr>
          <p:cNvPr id="4" name="Text 2"/>
          <p:cNvSpPr/>
          <p:nvPr>
            <p:ph type="title"/>
          </p:nvPr>
        </p:nvSpPr>
        <p:spPr>
          <a:xfrm>
            <a:off x="685800" y="726430"/>
            <a:ext cx="9496806"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The AI wrote this line. What happens when you click Verify?</a:t>
            </a:r>
            <a:endParaRPr lang="en-US" sz="2800" dirty="0"/>
          </a:p>
        </p:txBody>
      </p:sp>
      <p:sp>
        <p:nvSpPr>
          <p:cNvPr id="5" name="Shape 3"/>
          <p:cNvSpPr/>
          <p:nvPr/>
        </p:nvSpPr>
        <p:spPr>
          <a:xfrm>
            <a:off x="685800" y="2159000"/>
            <a:ext cx="5334000" cy="3302000"/>
          </a:xfrm>
          <a:prstGeom prst="rect">
            <a:avLst/>
          </a:prstGeom>
          <a:solidFill>
            <a:srgbClr val="E1E1E1"/>
          </a:solidFill>
          <a:ln/>
        </p:spPr>
      </p:sp>
      <p:sp>
        <p:nvSpPr>
          <p:cNvPr id="6" name="Text 4"/>
          <p:cNvSpPr/>
          <p:nvPr/>
        </p:nvSpPr>
        <p:spPr>
          <a:xfrm>
            <a:off x="939800" y="24130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READ THE CODE</a:t>
            </a:r>
            <a:endParaRPr lang="en-US" sz="1200" dirty="0"/>
          </a:p>
        </p:txBody>
      </p:sp>
      <p:sp>
        <p:nvSpPr>
          <p:cNvPr id="7" name="Text 5"/>
          <p:cNvSpPr/>
          <p:nvPr/>
        </p:nvSpPr>
        <p:spPr>
          <a:xfrm>
            <a:off x="939800" y="2778720"/>
            <a:ext cx="4970780" cy="26923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float t = incipe.readTemperature();</a:t>
            </a:r>
            <a:endParaRPr lang="en-US" sz="1200" dirty="0"/>
          </a:p>
        </p:txBody>
      </p:sp>
      <p:sp>
        <p:nvSpPr>
          <p:cNvPr id="8" name="Shape 6"/>
          <p:cNvSpPr/>
          <p:nvPr/>
        </p:nvSpPr>
        <p:spPr>
          <a:xfrm>
            <a:off x="6273800" y="2159000"/>
            <a:ext cx="6350" cy="3302000"/>
          </a:xfrm>
          <a:prstGeom prst="rect">
            <a:avLst/>
          </a:prstGeom>
          <a:solidFill>
            <a:srgbClr val="D4D4D4"/>
          </a:solidFill>
          <a:ln/>
        </p:spPr>
      </p:sp>
      <p:sp>
        <p:nvSpPr>
          <p:cNvPr id="9" name="Text 7"/>
          <p:cNvSpPr/>
          <p:nvPr/>
        </p:nvSpPr>
        <p:spPr>
          <a:xfrm>
            <a:off x="6527800" y="21590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ANSWER</a:t>
            </a:r>
            <a:endParaRPr lang="en-US" sz="1200" dirty="0"/>
          </a:p>
        </p:txBody>
      </p:sp>
      <p:sp>
        <p:nvSpPr>
          <p:cNvPr id="10" name="Text 8"/>
          <p:cNvSpPr/>
          <p:nvPr/>
        </p:nvSpPr>
        <p:spPr>
          <a:xfrm>
            <a:off x="6527800" y="2524720"/>
            <a:ext cx="5127752" cy="84326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B57946"/>
                </a:solidFill>
                <a:latin typeface="Helvetica Neue" pitchFamily="34" charset="0"/>
                <a:ea typeface="Helvetica Neue" pitchFamily="34" charset="-122"/>
                <a:cs typeface="Helvetica Neue" pitchFamily="34" charset="-120"/>
              </a:rPr>
              <a:t>Verify stops with an error at that line</a:t>
            </a:r>
            <a:endParaRPr lang="en-US" sz="2800" dirty="0"/>
          </a:p>
        </p:txBody>
      </p:sp>
      <p:sp>
        <p:nvSpPr>
          <p:cNvPr id="11" name="Text 9"/>
          <p:cNvSpPr/>
          <p:nvPr/>
        </p:nvSpPr>
        <p:spPr>
          <a:xfrm>
            <a:off x="6527800" y="349498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WHY</a:t>
            </a:r>
            <a:endParaRPr lang="en-US" sz="1200" dirty="0"/>
          </a:p>
        </p:txBody>
      </p:sp>
      <p:sp>
        <p:nvSpPr>
          <p:cNvPr id="12" name="Text 10"/>
          <p:cNvSpPr/>
          <p:nvPr/>
        </p:nvSpPr>
        <p:spPr>
          <a:xfrm>
            <a:off x="6527800" y="3860701"/>
            <a:ext cx="512775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There is no readTemperature(). The Wiki's name is incipe.getTemperature(), and names must match exactly.</a:t>
            </a:r>
            <a:endParaRPr lang="en-US" sz="14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116329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Checkpoint 5</a:t>
            </a:r>
            <a:endParaRPr lang="en-US" sz="1600" dirty="0"/>
          </a:p>
        </p:txBody>
      </p:sp>
      <p:sp>
        <p:nvSpPr>
          <p:cNvPr id="4" name="Text 2"/>
          <p:cNvSpPr/>
          <p:nvPr>
            <p:ph type="title"/>
          </p:nvPr>
        </p:nvSpPr>
        <p:spPr>
          <a:xfrm>
            <a:off x="685800" y="726430"/>
            <a:ext cx="9496806"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A classmate reads the DHT11 every 500 ms "for fresher data". Right?</a:t>
            </a:r>
            <a:endParaRPr lang="en-US" sz="2800" dirty="0"/>
          </a:p>
        </p:txBody>
      </p:sp>
      <p:sp>
        <p:nvSpPr>
          <p:cNvPr id="5" name="Shape 3"/>
          <p:cNvSpPr/>
          <p:nvPr/>
        </p:nvSpPr>
        <p:spPr>
          <a:xfrm>
            <a:off x="685800" y="2159000"/>
            <a:ext cx="5334000" cy="3302000"/>
          </a:xfrm>
          <a:prstGeom prst="rect">
            <a:avLst/>
          </a:prstGeom>
          <a:solidFill>
            <a:srgbClr val="E1E1E1"/>
          </a:solidFill>
          <a:ln/>
        </p:spPr>
      </p:sp>
      <p:sp>
        <p:nvSpPr>
          <p:cNvPr id="6" name="Text 4"/>
          <p:cNvSpPr/>
          <p:nvPr/>
        </p:nvSpPr>
        <p:spPr>
          <a:xfrm>
            <a:off x="939800" y="24130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READ THE CODE</a:t>
            </a:r>
            <a:endParaRPr lang="en-US" sz="1200" dirty="0"/>
          </a:p>
        </p:txBody>
      </p:sp>
      <p:sp>
        <p:nvSpPr>
          <p:cNvPr id="7" name="Text 5"/>
          <p:cNvSpPr/>
          <p:nvPr/>
        </p:nvSpPr>
        <p:spPr>
          <a:xfrm>
            <a:off x="939800" y="2778720"/>
            <a:ext cx="4970780" cy="51306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printClimate();</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vTaskDelay(pdMS_TO_TICKS(500));</a:t>
            </a:r>
            <a:endParaRPr lang="en-US" sz="1200" dirty="0"/>
          </a:p>
        </p:txBody>
      </p:sp>
      <p:sp>
        <p:nvSpPr>
          <p:cNvPr id="8" name="Shape 6"/>
          <p:cNvSpPr/>
          <p:nvPr/>
        </p:nvSpPr>
        <p:spPr>
          <a:xfrm>
            <a:off x="6273800" y="2159000"/>
            <a:ext cx="6350" cy="3302000"/>
          </a:xfrm>
          <a:prstGeom prst="rect">
            <a:avLst/>
          </a:prstGeom>
          <a:solidFill>
            <a:srgbClr val="D4D4D4"/>
          </a:solidFill>
          <a:ln/>
        </p:spPr>
      </p:sp>
      <p:sp>
        <p:nvSpPr>
          <p:cNvPr id="9" name="Text 7"/>
          <p:cNvSpPr/>
          <p:nvPr/>
        </p:nvSpPr>
        <p:spPr>
          <a:xfrm>
            <a:off x="6527800" y="21590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ANSWER</a:t>
            </a:r>
            <a:endParaRPr lang="en-US" sz="1200" dirty="0"/>
          </a:p>
        </p:txBody>
      </p:sp>
      <p:sp>
        <p:nvSpPr>
          <p:cNvPr id="10" name="Text 8"/>
          <p:cNvSpPr/>
          <p:nvPr/>
        </p:nvSpPr>
        <p:spPr>
          <a:xfrm>
            <a:off x="6527800" y="2524720"/>
            <a:ext cx="512775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B57946"/>
                </a:solidFill>
                <a:latin typeface="Helvetica Neue" pitchFamily="34" charset="0"/>
                <a:ea typeface="Helvetica Neue" pitchFamily="34" charset="-122"/>
                <a:cs typeface="Helvetica Neue" pitchFamily="34" charset="-120"/>
              </a:rPr>
              <a:t>No — read it every 2000 ms</a:t>
            </a:r>
            <a:endParaRPr lang="en-US" sz="2800" dirty="0"/>
          </a:p>
        </p:txBody>
      </p:sp>
      <p:sp>
        <p:nvSpPr>
          <p:cNvPr id="11" name="Text 9"/>
          <p:cNvSpPr/>
          <p:nvPr/>
        </p:nvSpPr>
        <p:spPr>
          <a:xfrm>
            <a:off x="6527800" y="308605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WHY</a:t>
            </a:r>
            <a:endParaRPr lang="en-US" sz="1200" dirty="0"/>
          </a:p>
        </p:txBody>
      </p:sp>
      <p:sp>
        <p:nvSpPr>
          <p:cNvPr id="12" name="Text 10"/>
          <p:cNvSpPr/>
          <p:nvPr/>
        </p:nvSpPr>
        <p:spPr>
          <a:xfrm>
            <a:off x="6527800" y="3451771"/>
            <a:ext cx="512775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The Wiki says the DHT11 is a slow sensor: reading it more often than every 1–2 seconds does not give fresher data. It only prints the same values more often.</a:t>
            </a:r>
            <a:endParaRPr lang="en-US" sz="14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Recap</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Three things to take away.</a:t>
            </a:r>
            <a:endParaRPr lang="en-US" sz="2800" dirty="0"/>
          </a:p>
        </p:txBody>
      </p:sp>
      <p:sp>
        <p:nvSpPr>
          <p:cNvPr id="5" name="Text 3"/>
          <p:cNvSpPr/>
          <p:nvPr/>
        </p:nvSpPr>
        <p:spPr>
          <a:xfrm>
            <a:off x="685800" y="1905000"/>
            <a:ext cx="3435909"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B57946"/>
                </a:solidFill>
                <a:latin typeface="Helvetica Neue" pitchFamily="34" charset="0"/>
                <a:ea typeface="Helvetica Neue" pitchFamily="34" charset="-122"/>
                <a:cs typeface="Helvetica Neue" pitchFamily="34" charset="-120"/>
              </a:rPr>
              <a:t>1</a:t>
            </a:r>
            <a:endParaRPr lang="en-US" sz="3200" dirty="0"/>
          </a:p>
        </p:txBody>
      </p:sp>
      <p:sp>
        <p:nvSpPr>
          <p:cNvPr id="6" name="Text 4"/>
          <p:cNvSpPr/>
          <p:nvPr/>
        </p:nvSpPr>
        <p:spPr>
          <a:xfrm>
            <a:off x="685800" y="2473920"/>
            <a:ext cx="343590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D1D1E"/>
                </a:solidFill>
                <a:latin typeface="Helvetica Neue" pitchFamily="34" charset="0"/>
                <a:ea typeface="Helvetica Neue" pitchFamily="34" charset="-122"/>
                <a:cs typeface="Helvetica Neue" pitchFamily="34" charset="-120"/>
              </a:rPr>
              <a:t>The Workspace AI turns a sentence into firmware that compiles. Compiling is not the same as correct.</a:t>
            </a:r>
            <a:endParaRPr lang="en-US" sz="1500" dirty="0"/>
          </a:p>
        </p:txBody>
      </p:sp>
      <p:sp>
        <p:nvSpPr>
          <p:cNvPr id="7" name="Text 5"/>
          <p:cNvSpPr/>
          <p:nvPr/>
        </p:nvSpPr>
        <p:spPr>
          <a:xfrm>
            <a:off x="4428034" y="1905000"/>
            <a:ext cx="34359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B57946"/>
                </a:solidFill>
                <a:latin typeface="Helvetica Neue" pitchFamily="34" charset="0"/>
                <a:ea typeface="Helvetica Neue" pitchFamily="34" charset="-122"/>
                <a:cs typeface="Helvetica Neue" pitchFamily="34" charset="-120"/>
              </a:rPr>
              <a:t>2</a:t>
            </a:r>
            <a:endParaRPr lang="en-US" sz="3200" dirty="0"/>
          </a:p>
        </p:txBody>
      </p:sp>
      <p:sp>
        <p:nvSpPr>
          <p:cNvPr id="8" name="Text 6"/>
          <p:cNvSpPr/>
          <p:nvPr/>
        </p:nvSpPr>
        <p:spPr>
          <a:xfrm>
            <a:off x="4428034" y="2473920"/>
            <a:ext cx="3435960"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D1D1E"/>
                </a:solidFill>
                <a:latin typeface="Helvetica Neue" pitchFamily="34" charset="0"/>
                <a:ea typeface="Helvetica Neue" pitchFamily="34" charset="-122"/>
                <a:cs typeface="Helvetica Neue" pitchFamily="34" charset="-120"/>
              </a:rPr>
              <a:t>Review every draft: exact incipe.* names, the −1 rule, types and timing from the Wiki, and nothing stored that is not needed.</a:t>
            </a:r>
            <a:endParaRPr lang="en-US" sz="1500" dirty="0"/>
          </a:p>
        </p:txBody>
      </p:sp>
      <p:sp>
        <p:nvSpPr>
          <p:cNvPr id="9" name="Text 7"/>
          <p:cNvSpPr/>
          <p:nvPr/>
        </p:nvSpPr>
        <p:spPr>
          <a:xfrm>
            <a:off x="8170317" y="1905000"/>
            <a:ext cx="34359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B57946"/>
                </a:solidFill>
                <a:latin typeface="Helvetica Neue" pitchFamily="34" charset="0"/>
                <a:ea typeface="Helvetica Neue" pitchFamily="34" charset="-122"/>
                <a:cs typeface="Helvetica Neue" pitchFamily="34" charset="-120"/>
              </a:rPr>
              <a:t>3</a:t>
            </a:r>
            <a:endParaRPr lang="en-US" sz="3200" dirty="0"/>
          </a:p>
        </p:txBody>
      </p:sp>
      <p:sp>
        <p:nvSpPr>
          <p:cNvPr id="10" name="Text 8"/>
          <p:cNvSpPr/>
          <p:nvPr/>
        </p:nvSpPr>
        <p:spPr>
          <a:xfrm>
            <a:off x="8170317" y="2473920"/>
            <a:ext cx="34359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D1D1E"/>
                </a:solidFill>
                <a:latin typeface="Helvetica Neue" pitchFamily="34" charset="0"/>
                <a:ea typeface="Helvetica Neue" pitchFamily="34" charset="-122"/>
                <a:cs typeface="Helvetica Neue" pitchFamily="34" charset="-120"/>
              </a:rPr>
              <a:t>Match the type to the data — float, not double — and print instead of building Strings. Same output, less memory.</a:t>
            </a:r>
            <a:endParaRPr lang="en-US" sz="1500" dirty="0"/>
          </a:p>
        </p:txBody>
      </p:sp>
      <p:sp>
        <p:nvSpPr>
          <p:cNvPr id="11" name="Text 9"/>
          <p:cNvSpPr/>
          <p:nvPr/>
        </p:nvSpPr>
        <p:spPr>
          <a:xfrm>
            <a:off x="685800" y="4953000"/>
            <a:ext cx="10820400" cy="539105"/>
          </a:xfrm>
          <a:prstGeom prst="rect">
            <a:avLst/>
          </a:prstGeom>
          <a:solidFill>
            <a:srgbClr val="E1E1E1"/>
          </a:solidFill>
          <a:ln/>
        </p:spPr>
        <p:txBody>
          <a:bodyPr wrap="square" lIns="203200" tIns="152400" rIns="0" bIns="127000" rtlCol="0" anchor="t">
            <a:normAutofit/>
          </a:bodyPr>
          <a:lstStyle/>
          <a:p>
            <a:pPr algn="l" indent="0" marL="0">
              <a:lnSpc>
                <a:spcPts val="1820"/>
              </a:lnSpc>
              <a:buNone/>
            </a:pPr>
            <a:r>
              <a:rPr lang="en-US" sz="1300" b="1" dirty="0">
                <a:solidFill>
                  <a:srgbClr val="000000"/>
                </a:solidFill>
                <a:latin typeface="Helvetica Neue" pitchFamily="34" charset="0"/>
                <a:ea typeface="Helvetica Neue" pitchFamily="34" charset="-122"/>
                <a:cs typeface="Helvetica Neue" pitchFamily="34" charset="-120"/>
              </a:rPr>
              <a:t>Next — Session 3: Terminal commands &amp; environment setup.</a:t>
            </a:r>
            <a:r>
              <a:rPr lang="en-US" sz="1300" dirty="0">
                <a:solidFill>
                  <a:srgbClr val="000000"/>
                </a:solidFill>
                <a:latin typeface="Helvetica Neue" pitchFamily="34" charset="0"/>
                <a:ea typeface="Helvetica Neue" pitchFamily="34" charset="-122"/>
                <a:cs typeface="Helvetica Neue" pitchFamily="34" charset="-120"/>
              </a:rPr>
              <a:t> ls, cd, mkdir and friends, and your first look at Git.</a:t>
            </a:r>
            <a:endParaRPr lang="en-US" sz="1300" dirty="0"/>
          </a:p>
        </p:txBody>
      </p:sp>
      <p:pic>
        <p:nvPicPr>
          <p:cNvPr id="12"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3" name="Text 10"/>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4" name="Text 11"/>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29</a:t>
            </a:r>
            <a:endParaRPr lang="en-US" sz="1200" dirty="0"/>
          </a:p>
        </p:txBody>
      </p:sp>
    </p:spTree>
  </p:cSld>
  <p:clrMapOvr>
    <a:masterClrMapping/>
  </p:clrMapOvr>
</p:sld>
</file>

<file path=ppt/theme/theme1.xml><?xml version="1.0" encoding="utf-8"?>
<a:theme xmlns:a="http://schemas.openxmlformats.org/drawingml/2006/main" name="Session 2 · AI-Powered Firmware Development">
  <a:themeElements>
    <a:clrScheme name="Session 2 · AI-Powered Firmware Development">
      <a:dk1>
        <a:srgbClr val="1D1D1E"/>
      </a:dk1>
      <a:lt1>
        <a:srgbClr val="F5F5F5"/>
      </a:lt1>
      <a:dk2>
        <a:srgbClr val="535354"/>
      </a:dk2>
      <a:lt2>
        <a:srgbClr val="DFDFE0"/>
      </a:lt2>
      <a:accent1>
        <a:srgbClr val="B57946"/>
      </a:accent1>
      <a:accent2>
        <a:srgbClr val="76706C"/>
      </a:accent2>
      <a:accent3>
        <a:srgbClr val="D4D4D4"/>
      </a:accent3>
      <a:accent4>
        <a:srgbClr val="9AA0A6"/>
      </a:accent4>
      <a:accent5>
        <a:srgbClr val="737374"/>
      </a:accent5>
      <a:accent6>
        <a:srgbClr val="949494"/>
      </a:accent6>
      <a:hlink>
        <a:srgbClr val="0563C1"/>
      </a:hlink>
      <a:folHlink>
        <a:srgbClr val="954F72"/>
      </a:folHlink>
    </a:clrScheme>
    <a:fontScheme name="Session 2 · AI-Powered Firmware Development">
      <a:majorFont>
        <a:latin typeface="Helvetica Ne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Neu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2 · AI-Powered Firmware Development</dc:title>
  <dc:subject/>
  <dc:creator/>
  <cp:lastModifiedBy/>
  <cp:revision>1</cp:revision>
  <dcterms:created xsi:type="dcterms:W3CDTF">2026-10-09T04:57:57Z</dcterms:created>
  <dcterms:modified xsi:type="dcterms:W3CDTF">2026-10-09T04:57:57Z</dcterms:modified>
</cp:coreProperties>
</file>