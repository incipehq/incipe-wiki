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 builds on Lesson 1: a quick review, then input, comments, operators and if-then-else.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 AVR boards such as the Arduino Mega, double is stored the same way as float.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Run-time error recap: the computer could not perform what you tell it to do, eg 1/0. Syntax answers: missing ; after 10, and SenserValue does not match SensorValue.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= a+1: the right side is worked out first (1+1), then stored back in a, so the serial monitor prints 2, 3, 4 and so on, one per second, all on the same line because it uses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27.98 is larger than 25, so this prints turn on. Ask what prints if temperature is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slide wrote else (lastCondition). In C++ else takes no condition, so it is shown here as else { 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5. a&lt;5 is false (10 is not smaller than 5), so else runs: a = 10 - 5.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Bye. 10 is not larger than 20, so else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x&lt;y is true but y&lt;z (7&lt;2) is false, so the AND fails; the OR needs only one true, so else if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any combination with x &gt; y &gt; z, for example 3, 2, 1. !(x&lt;=y) means x is larger than y, and y&gt;z must also be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537795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537795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Taster Workshop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270000"/>
            <a:ext cx="1046480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2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More About Programming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21795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9141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input to decisions.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576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903710"/>
            <a:ext cx="317200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 of Lesson 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79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88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534890"/>
            <a:ext cx="276433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Input-Process-Output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30104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200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166070"/>
            <a:ext cx="329243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Comments &amp; the compiler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6416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512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797250"/>
            <a:ext cx="369510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Operators: compare &amp; assign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2728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824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7800" y="4428430"/>
            <a:ext cx="144845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If-then-else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4904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53521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113586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7800" y="5059611"/>
            <a:ext cx="203275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AND, OR &amp; NOT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55595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729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sketch has two functions.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715000" cy="2692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79400" rIns="151638" bIns="25400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setup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loop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Serial.println("Hello world");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delay(1000);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07200" y="1744960"/>
            <a:ext cx="6350" cy="2692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219950" y="1748135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19950" y="190371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19950" y="218053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once, after each powerup or reset of IA Kit.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19950" y="2584996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19950" y="3421856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19950" y="27405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LOOP()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50" y="301739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continuously. Most of your code goes here.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2557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297936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data types.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605260"/>
          <a:ext cx="11112500" cy="3075732"/>
        </p:xfrm>
        <a:graphic>
          <a:graphicData uri="http://schemas.openxmlformats.org/drawingml/2006/table">
            <a:tbl>
              <a:tblPr/>
              <a:tblGrid>
                <a:gridCol w="2000250"/>
                <a:gridCol w="6223000"/>
                <a:gridCol w="2889250"/>
              </a:tblGrid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Integer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Integer in Maths, can be positive, 0 or negative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1, 102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Float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Numbers that can have up to 7 decimal places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1.234, 2.345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Double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Numbers that can have up to 15 decimal places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1.234567890123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Single character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String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Multiple characters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ABC, Hello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Boolean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data type whose value is either true or false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true, false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324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2912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Syntax, run-time &amp; logic errors.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 ERROR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83680"/>
            <a:ext cx="5153025" cy="16446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203200" rIns="87725" bIns="1778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SensorValue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 (SenserValue);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755330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mistakes stop the code from compiling.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225" y="1643360"/>
            <a:ext cx="6350" cy="236086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657975" y="16433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 ERROR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7975" y="1983680"/>
            <a:ext cx="5153025" cy="1397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203200" rIns="87725" bIns="1778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(sensorValue &gt; threshold)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Print("true"); 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(sensorValue &lt; threshold)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Print("false"); 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57975" y="3507680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would be performed when sensorValue = threshold.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99749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Input-Process-Output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31747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program takes in, works on &amp; gives out.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06885"/>
            <a:ext cx="31665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94210"/>
            <a:ext cx="3261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34530"/>
            <a:ext cx="32615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896791"/>
            <a:ext cx="326151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 that we enter or the computer gets from the environment via sensors.</a:t>
            </a:r>
            <a:endParaRPr lang="en-US" sz="14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5517" y="2544366"/>
            <a:ext cx="406400" cy="20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5117" y="1906885"/>
            <a:ext cx="3166566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5117" y="2094210"/>
            <a:ext cx="32615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65117" y="2434530"/>
            <a:ext cx="326156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65117" y="2896791"/>
            <a:ext cx="326156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codes (orders) for the computer to process.</a:t>
            </a:r>
            <a:endParaRPr lang="en-US" sz="1400" dirty="0"/>
          </a:p>
        </p:txBody>
      </p:sp>
      <p:pic>
        <p:nvPicPr>
          <p:cNvPr id="15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34883" y="2544366"/>
            <a:ext cx="406400" cy="203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644483" y="1906885"/>
            <a:ext cx="31665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44483" y="2094210"/>
            <a:ext cx="3261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644483" y="2434530"/>
            <a:ext cx="32615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644483" y="2896791"/>
            <a:ext cx="326151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response from the computer after processing the codes.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1682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26232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Useful functions for input.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EXISTED WITHOUT LIBRARY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10680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typed by the user in the serial monitor.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11971"/>
            <a:ext cx="5153025" cy="14287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28600" rIns="114649" bIns="20320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Serial.parseInt()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Serial.parseFloat()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(Serial.available() == 0){}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5225" y="1744960"/>
            <a:ext cx="6350" cy="219576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657975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INCIPE LIBRARY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7975" y="2110680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read from the IA Kit’s sensors.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57975" y="2511971"/>
            <a:ext cx="5153025" cy="14287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28600" rIns="114649" bIns="20320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incipe.getDistance()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835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400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Reading input, line by line.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114589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THE 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106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5430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enter your height.");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40600" y="2015430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the user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3690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73871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while(Serial.available()==0){}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40600" y="2473871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 when there’s no input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8275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8597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32311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Serial.parseInt();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40600" y="2932311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input from user and store it in “a”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543151"/>
            <a:ext cx="114589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A SENSOR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86124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66021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incipe.main();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40600" y="3966021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Activate the sensors &amp; sensor libraries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319687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778127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24462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incipe.onscreen("temp1", incipe.getTemperature());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40600" y="4424462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temperature in “temp1”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2816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2504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Notes the compiler ignores.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41760"/>
            <a:ext cx="6350000" cy="3941763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78740" bIns="1778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String s = "Hello, ";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//declare a string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//activate Serial Monitor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Serial.println("What is your name?");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 (Serial.available() == 0)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String input = Serial.readString();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Serial.print(s + input);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put your main code here, to run repeatedly: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*/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42200" y="1541760"/>
            <a:ext cx="6350" cy="3941763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7854950" y="1541760"/>
            <a:ext cx="407473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Lines in the program that are used to inform yourself or others about the way the program works. They are ignored by the compiler.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54950" y="244400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54950" y="2574181"/>
            <a:ext cx="749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56650" y="2599581"/>
            <a:ext cx="314598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Single-line comment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54950" y="298881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54950" y="353362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54950" y="3118991"/>
            <a:ext cx="749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*/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56650" y="3144391"/>
            <a:ext cx="314598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Multi-line comment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60720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Compiler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53266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Think of it like Google Translate.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277666"/>
            <a:ext cx="3335834" cy="104641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39800" y="2531666"/>
            <a:ext cx="29126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WRITE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9800" y="2821186"/>
            <a:ext cx="291266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Serial.print("Hi");</a:t>
            </a:r>
            <a:endParaRPr lang="en-US" sz="14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24834" y="2699246"/>
            <a:ext cx="406400" cy="20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34434" y="1906885"/>
            <a:ext cx="28278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34434" y="2094210"/>
            <a:ext cx="29127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COMPILER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34434" y="2383730"/>
            <a:ext cx="291272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Translates the code you write into something the computer can understand and execute.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34434" y="3206601"/>
            <a:ext cx="29127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Meanwhile, it checks if there’s any mistake in the written code.</a:t>
            </a:r>
            <a:endParaRPr lang="en-US" sz="140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5517" y="2699246"/>
            <a:ext cx="406400" cy="20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475117" y="2277666"/>
            <a:ext cx="3335883" cy="104641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6" name="Text 12"/>
          <p:cNvSpPr/>
          <p:nvPr/>
        </p:nvSpPr>
        <p:spPr>
          <a:xfrm>
            <a:off x="8729117" y="2531666"/>
            <a:ext cx="29127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COMPUTER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729117" y="2821186"/>
            <a:ext cx="29127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Executes it.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70392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64535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ways to compare two values.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 OPERATORS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83680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to compare the variable on the left with the value or variable on the right.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4200" y="1643360"/>
            <a:ext cx="6350" cy="2910632"/>
          </a:xfrm>
          <a:prstGeom prst="rect">
            <a:avLst/>
          </a:prstGeom>
          <a:solidFill>
            <a:srgbClr val="D4D4D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9650" y="1656060"/>
          <a:ext cx="6991350" cy="2897932"/>
        </p:xfrm>
        <a:graphic>
          <a:graphicData uri="http://schemas.openxmlformats.org/drawingml/2006/table">
            <a:tbl>
              <a:tblPr/>
              <a:tblGrid>
                <a:gridCol w="2097405"/>
                <a:gridCol w="4893945"/>
              </a:tblGrid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Symbol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==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Equals to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!=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equals to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&lt;=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 or equal to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&gt;=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 or equal to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7001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Remember!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80603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equal sign assigns. Two compare.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305441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339280"/>
            <a:ext cx="3054414" cy="775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value on the right to the variable on the left. e.g a=1 means let a equal to 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16126"/>
            <a:ext cx="3054414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evaluates the expression on the right first, then stores it in the variable on the left side.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57650" y="1643360"/>
            <a:ext cx="6350" cy="26352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4470400" y="1643360"/>
            <a:ext cx="3556000" cy="26352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162560" bIns="1778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1;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a+1;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Serial.print(a);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delay(1000);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32800" y="1643360"/>
            <a:ext cx="6350" cy="26352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8845550" y="1643360"/>
            <a:ext cx="305441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==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845550" y="2339280"/>
            <a:ext cx="3054414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variable on the left to the variable on the right.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7957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If-then-else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91741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runs code when the condition is true.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6985000" cy="29337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28600" rIns="86614" bIns="2032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int number = 5;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These constants won't change: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(number &lt; 10)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Serial.println("The number is smaller than 10.");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do this order when the condition is true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77200" y="1744960"/>
            <a:ext cx="6350" cy="29337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489950" y="1744960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89950" y="2085280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allows you to do something when the condition is true.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89950" y="271006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 5 &lt; 10, so the message prints.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45588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If-then-else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52141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else runs when the condition is false.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715000" cy="2857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28600" rIns="124714" bIns="20320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temperature = 27.98;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(temperature &gt; 25)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Serial.print("turn on");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Serial.print("turn off");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07200" y="1744960"/>
            <a:ext cx="6350" cy="28575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ELSE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19950" y="208528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the primary condition is false, nothing would execute.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19950" y="2461171"/>
            <a:ext cx="472878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So, we create “else” after the primary conditional statement. When the primary condition is false, the statements inside “else” run.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02412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If-then-else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85335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else if adds more conditions.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6985000" cy="2682032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28600" rIns="86614" bIns="2286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(someCondition)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do stuff if the condition is true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(anotherCondition)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do stuff only if the first condition is false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and the second condition is true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do stuff only when first two conditions are both false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77200" y="1744960"/>
            <a:ext cx="6350" cy="268203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8489950" y="1748135"/>
            <a:ext cx="332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89950" y="1878310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89950" y="2178000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at the first statement.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89950" y="2557066"/>
            <a:ext cx="332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9950" y="268724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89950" y="298693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many times as required.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89950" y="3365996"/>
            <a:ext cx="332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9950" y="4423817"/>
            <a:ext cx="332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9950" y="349617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89950" y="3795861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at the last statement, with no condition.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0224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4395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following code. 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2622996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1698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a=10;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if(a&lt;5){a=a+4;}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else{a=a-5;}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Serial.print(a);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262299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7151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30554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a&lt;5 is false, because 10 is not smaller than 5. So else runs: a = 10 − 5 = 5.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0224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4395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following code. 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2560"/>
            <a:ext cx="5715000" cy="3308945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465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161480"/>
            <a:ext cx="5258562" cy="2511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x=10;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y=20;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(x&gt;y) 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Serial.println("Hi");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Serial.println("Bye");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07200" y="1592560"/>
            <a:ext cx="6350" cy="3308945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5925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328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Bye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5627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030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x&gt;y is false, because 10 is not larger than 20. So the else block prints Bye.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01110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AND, OR &amp; NOT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6828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 conditions with three symbols.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843385"/>
            <a:ext cx="3437434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30710"/>
            <a:ext cx="3540557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630140"/>
            <a:ext cx="3540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036540"/>
            <a:ext cx="354055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Both statements must be true for the computer to process it as true.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9634" y="18433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9634" y="2030710"/>
            <a:ext cx="3540608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||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29634" y="2630140"/>
            <a:ext cx="35406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9634" y="3036540"/>
            <a:ext cx="35406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any one of the statements is true, the computer processes it as true.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73517" y="18433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3517" y="2030710"/>
            <a:ext cx="3540608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73517" y="2630140"/>
            <a:ext cx="35406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3517" y="3036540"/>
            <a:ext cx="3540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Turns true into false, and false into true.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889921"/>
            <a:ext cx="11125200" cy="8533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0" bIns="1524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These three symbols are important when using if-else statements. If a wrong symbol is used, an undesirable result would be presented.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94965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AND, OR &amp; NOT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93164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numbers, different symbols.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605260"/>
          <a:ext cx="6972300" cy="2743200"/>
        </p:xfrm>
        <a:graphic>
          <a:graphicData uri="http://schemas.openxmlformats.org/drawingml/2006/table">
            <a:tbl>
              <a:tblPr/>
              <a:tblGrid>
                <a:gridCol w="5229225"/>
                <a:gridCol w="17430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Condition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Result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((10 &gt; 7) || (90&lt;80)){}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((10&gt;7) || (90&gt;80)){}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((10 &gt; 7) &amp;&amp; (90&lt;80)){}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7670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false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((10 &gt; 7) &amp;&amp; !(90&lt;80)){}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(!(10 &gt; 7) &amp;&amp; (90&lt;80)){}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7670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false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77200" y="1592560"/>
            <a:ext cx="6350" cy="27559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5"/>
          <p:cNvSpPr/>
          <p:nvPr/>
        </p:nvSpPr>
        <p:spPr>
          <a:xfrm>
            <a:off x="8489950" y="1592560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IT 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89950" y="1932880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&gt; 7 is true.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 &lt; 80 is false.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89950" y="2557661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 out each bracket first, then apply the symbol.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0224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4395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following code. 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2560"/>
            <a:ext cx="5715000" cy="35851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465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161480"/>
            <a:ext cx="5258562" cy="278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x=5;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y=7;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z=2;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if(x&lt;y &amp;&amp; y&lt;z){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Serial.print("A");}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if(x&lt;y || y&lt;z){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Serial.print("B");}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Serial.print("C");}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07200" y="1592560"/>
            <a:ext cx="6350" cy="358517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5925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328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5627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030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x&lt;y is true but y&lt;z (7&lt;2) is false, so &amp;&amp; is false. || needs only one true, so else if runs and prints B.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3587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57327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x, y &amp; z would make this code true?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80831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(!(x&lt;=y) &amp;&amp; (y&gt;z)){}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0600" y="2851696"/>
            <a:ext cx="52585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Give x, y, z respectively.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07200" y="1744960"/>
            <a:ext cx="6350" cy="180831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19950" y="20852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3, 2, 1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219950" y="27151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50" y="30554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!(x&lt;=y) means x is larger than y, and y&gt;z must also be true. Any x &gt; y &gt; z works, for example 3, 2, 1.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787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 &amp; Next Lesson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3447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037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906885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program is input, process and output.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11350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692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9200" y="2470100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assigns a value; == compares two values.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874566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686671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301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19200" y="3033316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if, else if &amp; else choose what runs; &amp;&amp;, || &amp; ! combine conditions.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994646"/>
            <a:ext cx="53632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99200" y="1744960"/>
            <a:ext cx="6350" cy="260528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711950" y="1897360"/>
            <a:ext cx="52520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11950" y="2237680"/>
            <a:ext cx="52520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C++ Fundamentals: Conditional (if-else-if) Statements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11950" y="2974280"/>
            <a:ext cx="525202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the Module 1 curriculum.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WCSS Lesson 2: More About Programming">
  <a:themeElements>
    <a:clrScheme name="CSWCSS Lesson 2: More About Programming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CSWCSS Lesson 2: More About Programming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CSWCSS Lesson 2: More About Programming</dc:title>
  <dc:subject/>
  <dc:creator/>
  <cp:lastModifiedBy/>
  <cp:revision>1</cp:revision>
  <dcterms:created xsi:type="dcterms:W3CDTF">2026-10-09T05:25:04Z</dcterms:created>
  <dcterms:modified xsi:type="dcterms:W3CDTF">2026-10-09T05:25:04Z</dcterms:modified>
</cp:coreProperties>
</file>