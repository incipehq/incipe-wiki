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3716000" cy="7715250"/>
  <p:notesSz cx="7715250" cy="13716000"/>
  <p:embeddedFontLst>
    <p:embeddedFont>
      <p:font typeface="Inter Tight"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7" d="100"/>
          <a:sy n="107" d="100"/>
        </p:scale>
        <p:origin x="768"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Frame the lesson: this is about working with AI agents day to day. No hardware background assumed. 30 minutes, four parts, one demo at the end.</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Four parts. Say up front that the prompting section is the longest and the most immediately useful, and that questions are held to the demo.</a:t>
            </a:r>
            <a:endParaRPr/>
          </a:p>
        </p:txBody>
      </p:sp>
      <p:sp>
        <p:nvSpPr>
          <p:cNvPr id="27" name="Google Shape;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Walk left to right. The point: AI is not a stage of its own, it sits inside every stage. It shortens the drafting; the decisions stay with the person.</a:t>
            </a:r>
            <a:endParaRPr/>
          </a:p>
        </p:txBody>
      </p:sp>
      <p:sp>
        <p:nvSpPr>
          <p:cNvPr id="54" name="Google Shape;5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Three tools, three amounts of context. Copilot sees your open file. ChatGPT sees only what you paste. Workspace AI sees the whole project and compiles the firmware.</a:t>
            </a:r>
            <a:endParaRPr/>
          </a:p>
        </p:txBody>
      </p:sp>
      <p:sp>
        <p:nvSpPr>
          <p:cNvPr id="84" name="Google Shape;8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practical takeaway of the first half. Rule of thumb: the more the answer depends on the actual board, the further down the table you go.</a:t>
            </a:r>
            <a:endParaRPr/>
          </a:p>
        </p:txBody>
      </p:sp>
      <p:sp>
        <p:nvSpPr>
          <p:cNvPr id="113" name="Google Shape;11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core framework. Role, Goal, Context are the three you must always give. Constraints, Format and Check are what turn a good answer into a usable one. The next slides apply this.</a:t>
            </a:r>
            <a:endParaRPr/>
          </a:p>
        </p:txBody>
      </p:sp>
      <p:sp>
        <p:nvSpPr>
          <p:cNvPr id="161" name="Google Shape;16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Example one of three. The vague prompt gets code for an unknown board. The specific one names the board, the module, the language and the limits, so the output can be compiled and checked.</a:t>
            </a:r>
            <a:endParaRPr/>
          </a:p>
        </p:txBody>
      </p:sp>
      <p:sp>
        <p:nvSpPr>
          <p:cNvPr id="196" name="Google Shape;19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Example two. Debugging prompts live or die on evidence. Paste the symptom, the code and what you already ruled out. Ask for ranked causes, not a rewrite.</a:t>
            </a:r>
            <a:endParaRPr/>
          </a:p>
        </p:txBody>
      </p:sp>
      <p:sp>
        <p:nvSpPr>
          <p:cNvPr id="215" name="Google Shape;21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Example three. Documentation is the highest-yield use of AI for a mixed team. Name the reader, the sections, the length, and where the facts must come from.</a:t>
            </a:r>
            <a:endParaRPr/>
          </a:p>
        </p:txBody>
      </p:sp>
      <p:sp>
        <p:nvSpPr>
          <p:cNvPr id="234" name="Google Shape;23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Demonstrate this one live if you can. Set a format with a marker word at the top of the conversation. When the marker or the dividers stop appearing, the model has dropped your instructions and it is time to start a fresh chat.</a:t>
            </a:r>
            <a:endParaRPr/>
          </a:p>
        </p:txBody>
      </p:sp>
      <p:sp>
        <p:nvSpPr>
          <p:cNvPr id="253" name="Google Shape;25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Turn the questioning around. A wrong assumption is cheap to fix now and expensive to fix after two hundred lines. Cap the number of questions or it will keep going.</a:t>
            </a:r>
            <a:endParaRPr/>
          </a:p>
        </p:txBody>
      </p:sp>
      <p:sp>
        <p:nvSpPr>
          <p:cNvPr id="277" name="Google Shape;27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prompt that worked is an asset, not a throwaway. Blank the specifics into brackets and keep it in the project. This is how a class or a team gets consistent output.</a:t>
            </a:r>
            <a:endParaRPr/>
          </a:p>
        </p:txBody>
      </p:sp>
      <p:sp>
        <p:nvSpPr>
          <p:cNvPr id="297" name="Google Shape;29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Demo slot. Placeholder — drop in the flow you want to show live, and decide the fallback if the network or the board misbehaves.</a:t>
            </a:r>
            <a:endParaRPr/>
          </a:p>
        </p:txBody>
      </p:sp>
      <p:sp>
        <p:nvSpPr>
          <p:cNvPr id="317" name="Google Shape;31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1" name="Google Shape;33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Recap in three lines, then set up Lesson 2: firmware compilation in the Workspace, AI-assisted review and optimization, where the limits are, and the sensor exercise.</a:t>
            </a:r>
            <a:endParaRPr/>
          </a:p>
        </p:txBody>
      </p:sp>
      <p:sp>
        <p:nvSpPr>
          <p:cNvPr id="332" name="Google Shape;33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
        <p:cNvGrpSpPr/>
        <p:nvPr/>
      </p:nvGrpSpPr>
      <p:grpSpPr>
        <a:xfrm>
          <a:off x="0" y="0"/>
          <a:ext cx="0" cy="0"/>
          <a:chOff x="0" y="0"/>
          <a:chExt cx="0" cy="0"/>
        </a:xfrm>
      </p:grpSpPr>
      <p:sp>
        <p:nvSpPr>
          <p:cNvPr id="16" name="Google Shape;16;p3"/>
          <p:cNvSpPr/>
          <p:nvPr/>
        </p:nvSpPr>
        <p:spPr>
          <a:xfrm>
            <a:off x="428625" y="428625"/>
            <a:ext cx="2479104" cy="388590"/>
          </a:xfrm>
          <a:prstGeom prst="rect">
            <a:avLst/>
          </a:prstGeom>
          <a:noFill/>
          <a:ln>
            <a:noFill/>
          </a:ln>
        </p:spPr>
        <p:txBody>
          <a:bodyPr spcFirstLastPara="1" wrap="square" lIns="25400" tIns="25400" rIns="25400" bIns="25400" anchor="t" anchorCtr="0">
            <a:noAutofit/>
          </a:bodyPr>
          <a:lstStyle/>
          <a:p>
            <a:pPr marL="0" marR="0" lvl="0" indent="0" algn="l" rtl="0">
              <a:lnSpc>
                <a:spcPct val="99459"/>
              </a:lnSpc>
              <a:spcBef>
                <a:spcPts val="0"/>
              </a:spcBef>
              <a:spcAft>
                <a:spcPts val="0"/>
              </a:spcAft>
              <a:buClr>
                <a:srgbClr val="B57946"/>
              </a:buClr>
              <a:buSzPts val="1200"/>
              <a:buFont typeface="Arial"/>
              <a:buNone/>
            </a:pPr>
            <a:r>
              <a:rPr lang="en-US" sz="1200" i="0" u="none" strike="noStrike" cap="none">
                <a:solidFill>
                  <a:srgbClr val="B57946"/>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
        <p:nvSpPr>
          <p:cNvPr id="17" name="Google Shape;17;p3"/>
          <p:cNvSpPr/>
          <p:nvPr/>
        </p:nvSpPr>
        <p:spPr>
          <a:xfrm>
            <a:off x="-685800" y="457200"/>
            <a:ext cx="15087600" cy="312390"/>
          </a:xfrm>
          <a:prstGeom prst="rect">
            <a:avLst/>
          </a:prstGeom>
          <a:noFill/>
          <a:ln>
            <a:noFill/>
          </a:ln>
        </p:spPr>
        <p:txBody>
          <a:bodyPr spcFirstLastPara="1" wrap="square" lIns="25400" tIns="25400" rIns="25400" bIns="25400" anchor="t" anchorCtr="0">
            <a:noAutofit/>
          </a:bodyPr>
          <a:lstStyle/>
          <a:p>
            <a:pPr marL="0" marR="0" lvl="0" indent="0" algn="ctr" rtl="0">
              <a:lnSpc>
                <a:spcPct val="104727"/>
              </a:lnSpc>
              <a:spcBef>
                <a:spcPts val="0"/>
              </a:spcBef>
              <a:spcAft>
                <a:spcPts val="0"/>
              </a:spcAft>
              <a:buClr>
                <a:srgbClr val="B57946"/>
              </a:buClr>
              <a:buSzPts val="1800"/>
              <a:buFont typeface="Arial"/>
              <a:buNone/>
            </a:pPr>
            <a:r>
              <a:rPr lang="en-US" sz="1800" i="0" u="none" strike="noStrike" cap="none">
                <a:solidFill>
                  <a:srgbClr val="B57946"/>
                </a:solidFill>
                <a:latin typeface="Helvetica Neue"/>
                <a:ea typeface="Helvetica Neue"/>
                <a:cs typeface="Helvetica Neue"/>
                <a:sym typeface="Helvetica Neue"/>
              </a:rPr>
              <a:t>Incipe 101</a:t>
            </a:r>
            <a:endParaRPr sz="1800" i="0" u="none" strike="noStrike" cap="none">
              <a:solidFill>
                <a:schemeClr val="dk1"/>
              </a:solidFill>
              <a:latin typeface="Helvetica Neue"/>
              <a:ea typeface="Helvetica Neue"/>
              <a:cs typeface="Helvetica Neue"/>
              <a:sym typeface="Helvetica Neue"/>
            </a:endParaRPr>
          </a:p>
        </p:txBody>
      </p:sp>
      <p:sp>
        <p:nvSpPr>
          <p:cNvPr id="18" name="Google Shape;18;p3"/>
          <p:cNvSpPr/>
          <p:nvPr/>
        </p:nvSpPr>
        <p:spPr>
          <a:xfrm>
            <a:off x="11669092" y="457200"/>
            <a:ext cx="1780111"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i="0" u="none" strike="noStrike" cap="none">
                <a:solidFill>
                  <a:srgbClr val="B57946"/>
                </a:solidFill>
                <a:latin typeface="Helvetica Neue"/>
                <a:ea typeface="Helvetica Neue"/>
                <a:cs typeface="Helvetica Neue"/>
                <a:sym typeface="Helvetica Neue"/>
              </a:rPr>
              <a:t>M1: AI Literacy</a:t>
            </a:r>
            <a:endParaRPr sz="1800" i="0" u="none" strike="noStrike" cap="none">
              <a:solidFill>
                <a:schemeClr val="dk1"/>
              </a:solidFill>
              <a:latin typeface="Helvetica Neue"/>
              <a:ea typeface="Helvetica Neue"/>
              <a:cs typeface="Helvetica Neue"/>
              <a:sym typeface="Helvetica Neue"/>
            </a:endParaRPr>
          </a:p>
        </p:txBody>
      </p:sp>
      <p:sp>
        <p:nvSpPr>
          <p:cNvPr id="19" name="Google Shape;19;p3"/>
          <p:cNvSpPr/>
          <p:nvPr/>
        </p:nvSpPr>
        <p:spPr>
          <a:xfrm>
            <a:off x="-685800" y="1219200"/>
            <a:ext cx="15087600" cy="571500"/>
          </a:xfrm>
          <a:prstGeom prst="rect">
            <a:avLst/>
          </a:prstGeom>
          <a:noFill/>
          <a:ln>
            <a:noFill/>
          </a:ln>
        </p:spPr>
        <p:txBody>
          <a:bodyPr spcFirstLastPara="1" wrap="square" lIns="25400" tIns="25400" rIns="25400" bIns="25400" anchor="t" anchorCtr="0">
            <a:noAutofit/>
          </a:bodyPr>
          <a:lstStyle/>
          <a:p>
            <a:pPr marL="0" marR="0" lvl="0" indent="0" algn="ctr" rtl="0">
              <a:lnSpc>
                <a:spcPct val="86822"/>
              </a:lnSpc>
              <a:spcBef>
                <a:spcPts val="0"/>
              </a:spcBef>
              <a:spcAft>
                <a:spcPts val="0"/>
              </a:spcAft>
              <a:buClr>
                <a:srgbClr val="B57946"/>
              </a:buClr>
              <a:buSzPts val="4200"/>
              <a:buFont typeface="Arial"/>
              <a:buNone/>
            </a:pPr>
            <a:r>
              <a:rPr lang="en-US" sz="4200" b="1" i="0" u="none" strike="noStrike" cap="none">
                <a:solidFill>
                  <a:srgbClr val="B57946"/>
                </a:solidFill>
                <a:latin typeface="Helvetica Neue"/>
                <a:ea typeface="Helvetica Neue"/>
                <a:cs typeface="Helvetica Neue"/>
                <a:sym typeface="Helvetica Neue"/>
              </a:rPr>
              <a:t>Lesson 1</a:t>
            </a:r>
            <a:endParaRPr sz="4200" i="0" u="none" strike="noStrike" cap="none">
              <a:solidFill>
                <a:schemeClr val="dk1"/>
              </a:solidFill>
              <a:latin typeface="Helvetica Neue"/>
              <a:ea typeface="Helvetica Neue"/>
              <a:cs typeface="Helvetica Neue"/>
              <a:sym typeface="Helvetica Neue"/>
            </a:endParaRPr>
          </a:p>
        </p:txBody>
      </p:sp>
      <p:sp>
        <p:nvSpPr>
          <p:cNvPr id="20" name="Google Shape;20;p3"/>
          <p:cNvSpPr/>
          <p:nvPr/>
        </p:nvSpPr>
        <p:spPr>
          <a:xfrm>
            <a:off x="-685800" y="1752600"/>
            <a:ext cx="15087600" cy="571500"/>
          </a:xfrm>
          <a:prstGeom prst="rect">
            <a:avLst/>
          </a:prstGeom>
          <a:noFill/>
          <a:ln>
            <a:noFill/>
          </a:ln>
        </p:spPr>
        <p:txBody>
          <a:bodyPr spcFirstLastPara="1" wrap="square" lIns="25400" tIns="25400" rIns="25400" bIns="25400" anchor="t" anchorCtr="0">
            <a:noAutofit/>
          </a:bodyPr>
          <a:lstStyle/>
          <a:p>
            <a:pPr marL="0" marR="0" lvl="0" indent="0" algn="ctr" rtl="0">
              <a:lnSpc>
                <a:spcPct val="86822"/>
              </a:lnSpc>
              <a:spcBef>
                <a:spcPts val="0"/>
              </a:spcBef>
              <a:spcAft>
                <a:spcPts val="0"/>
              </a:spcAft>
              <a:buClr>
                <a:srgbClr val="B57946"/>
              </a:buClr>
              <a:buSzPts val="4200"/>
              <a:buFont typeface="Arial"/>
              <a:buNone/>
            </a:pPr>
            <a:r>
              <a:rPr lang="en-US" sz="4200" b="1" i="0" u="none" strike="noStrike" cap="none">
                <a:solidFill>
                  <a:srgbClr val="B57946"/>
                </a:solidFill>
                <a:latin typeface="Helvetica Neue"/>
                <a:ea typeface="Helvetica Neue"/>
                <a:cs typeface="Helvetica Neue"/>
                <a:sym typeface="Helvetica Neue"/>
              </a:rPr>
              <a:t>Introduction to</a:t>
            </a:r>
            <a:endParaRPr sz="4200" i="0" u="none" strike="noStrike" cap="none">
              <a:solidFill>
                <a:schemeClr val="dk1"/>
              </a:solidFill>
              <a:latin typeface="Helvetica Neue"/>
              <a:ea typeface="Helvetica Neue"/>
              <a:cs typeface="Helvetica Neue"/>
              <a:sym typeface="Helvetica Neue"/>
            </a:endParaRPr>
          </a:p>
        </p:txBody>
      </p:sp>
      <p:sp>
        <p:nvSpPr>
          <p:cNvPr id="21" name="Google Shape;21;p3"/>
          <p:cNvSpPr/>
          <p:nvPr/>
        </p:nvSpPr>
        <p:spPr>
          <a:xfrm>
            <a:off x="-685800" y="2286000"/>
            <a:ext cx="15087600" cy="571500"/>
          </a:xfrm>
          <a:prstGeom prst="rect">
            <a:avLst/>
          </a:prstGeom>
          <a:noFill/>
          <a:ln>
            <a:noFill/>
          </a:ln>
        </p:spPr>
        <p:txBody>
          <a:bodyPr spcFirstLastPara="1" wrap="square" lIns="25400" tIns="25400" rIns="25400" bIns="25400" anchor="t" anchorCtr="0">
            <a:noAutofit/>
          </a:bodyPr>
          <a:lstStyle/>
          <a:p>
            <a:pPr marL="0" marR="0" lvl="0" indent="0" algn="ctr" rtl="0">
              <a:lnSpc>
                <a:spcPct val="86822"/>
              </a:lnSpc>
              <a:spcBef>
                <a:spcPts val="0"/>
              </a:spcBef>
              <a:spcAft>
                <a:spcPts val="0"/>
              </a:spcAft>
              <a:buClr>
                <a:srgbClr val="B57946"/>
              </a:buClr>
              <a:buSzPts val="4200"/>
              <a:buFont typeface="Arial"/>
              <a:buNone/>
            </a:pPr>
            <a:r>
              <a:rPr lang="en-US" sz="4200" b="1" i="0" u="none" strike="noStrike" cap="none">
                <a:solidFill>
                  <a:srgbClr val="B57946"/>
                </a:solidFill>
                <a:latin typeface="Helvetica Neue"/>
                <a:ea typeface="Helvetica Neue"/>
                <a:cs typeface="Helvetica Neue"/>
                <a:sym typeface="Helvetica Neue"/>
              </a:rPr>
              <a:t>AI Development Workflows</a:t>
            </a:r>
            <a:endParaRPr sz="4200" i="0" u="none" strike="noStrike" cap="none">
              <a:solidFill>
                <a:schemeClr val="dk1"/>
              </a:solidFill>
              <a:latin typeface="Helvetica Neue"/>
              <a:ea typeface="Helvetica Neue"/>
              <a:cs typeface="Helvetica Neue"/>
              <a:sym typeface="Helvetica Neue"/>
            </a:endParaRPr>
          </a:p>
        </p:txBody>
      </p:sp>
      <p:sp>
        <p:nvSpPr>
          <p:cNvPr id="22" name="Google Shape;22;p3"/>
          <p:cNvSpPr/>
          <p:nvPr/>
        </p:nvSpPr>
        <p:spPr>
          <a:xfrm>
            <a:off x="0" y="3381375"/>
            <a:ext cx="13716000" cy="4333875"/>
          </a:xfrm>
          <a:prstGeom prst="rect">
            <a:avLst/>
          </a:prstGeom>
          <a:solidFill>
            <a:srgbClr val="732B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 name="Google Shape;23;p3" descr="preencoded.png"/>
          <p:cNvPicPr preferRelativeResize="0"/>
          <p:nvPr/>
        </p:nvPicPr>
        <p:blipFill rotWithShape="1">
          <a:blip r:embed="rId3">
            <a:alphaModFix/>
          </a:blip>
          <a:srcRect t="39468" b="39468"/>
          <a:stretch/>
        </p:blipFill>
        <p:spPr>
          <a:xfrm>
            <a:off x="0" y="3381375"/>
            <a:ext cx="13716000" cy="4333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28"/>
        <p:cNvGrpSpPr/>
        <p:nvPr/>
      </p:nvGrpSpPr>
      <p:grpSpPr>
        <a:xfrm>
          <a:off x="0" y="0"/>
          <a:ext cx="0" cy="0"/>
          <a:chOff x="0" y="0"/>
          <a:chExt cx="0" cy="0"/>
        </a:xfrm>
      </p:grpSpPr>
      <p:sp>
        <p:nvSpPr>
          <p:cNvPr id="29" name="Google Shape;29;p4"/>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nter Tight"/>
              <a:ea typeface="Inter Tight"/>
              <a:cs typeface="Inter Tight"/>
              <a:sym typeface="Inter Tight"/>
            </a:endParaRPr>
          </a:p>
        </p:txBody>
      </p:sp>
      <p:sp>
        <p:nvSpPr>
          <p:cNvPr id="30" name="Google Shape;30;p4"/>
          <p:cNvSpPr/>
          <p:nvPr/>
        </p:nvSpPr>
        <p:spPr>
          <a:xfrm>
            <a:off x="771525" y="428625"/>
            <a:ext cx="4988927"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Lesson Overview</a:t>
            </a:r>
            <a:endParaRPr sz="1800" i="0" u="none" strike="noStrike" cap="none">
              <a:solidFill>
                <a:schemeClr val="dk1"/>
              </a:solidFill>
              <a:latin typeface="Helvetica Neue"/>
              <a:ea typeface="Helvetica Neue"/>
              <a:cs typeface="Helvetica Neue"/>
              <a:sym typeface="Helvetica Neue"/>
            </a:endParaRPr>
          </a:p>
        </p:txBody>
      </p:sp>
      <p:sp>
        <p:nvSpPr>
          <p:cNvPr id="31" name="Google Shape;31;p4"/>
          <p:cNvSpPr/>
          <p:nvPr/>
        </p:nvSpPr>
        <p:spPr>
          <a:xfrm>
            <a:off x="771525" y="817225"/>
            <a:ext cx="7473600" cy="498000"/>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Four parts, thirty minutes.</a:t>
            </a:r>
            <a:endParaRPr sz="3150" i="0" u="none" strike="noStrike" cap="none">
              <a:solidFill>
                <a:schemeClr val="dk1"/>
              </a:solidFill>
              <a:latin typeface="Helvetica Neue"/>
              <a:ea typeface="Helvetica Neue"/>
              <a:cs typeface="Helvetica Neue"/>
              <a:sym typeface="Helvetica Neue"/>
            </a:endParaRPr>
          </a:p>
        </p:txBody>
      </p:sp>
      <p:sp>
        <p:nvSpPr>
          <p:cNvPr id="32" name="Google Shape;32;p4"/>
          <p:cNvSpPr/>
          <p:nvPr/>
        </p:nvSpPr>
        <p:spPr>
          <a:xfrm>
            <a:off x="771525" y="2381250"/>
            <a:ext cx="1217295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3" name="Google Shape;33;p4"/>
          <p:cNvSpPr/>
          <p:nvPr/>
        </p:nvSpPr>
        <p:spPr>
          <a:xfrm>
            <a:off x="771525" y="2719388"/>
            <a:ext cx="533400"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01</a:t>
            </a:r>
            <a:endParaRPr sz="1800" i="0" u="none" strike="noStrike" cap="none">
              <a:solidFill>
                <a:schemeClr val="dk1"/>
              </a:solidFill>
              <a:latin typeface="Helvetica Neue"/>
              <a:ea typeface="Helvetica Neue"/>
              <a:cs typeface="Helvetica Neue"/>
              <a:sym typeface="Helvetica Neue"/>
            </a:endParaRPr>
          </a:p>
        </p:txBody>
      </p:sp>
      <p:sp>
        <p:nvSpPr>
          <p:cNvPr id="34" name="Google Shape;34;p4"/>
          <p:cNvSpPr/>
          <p:nvPr/>
        </p:nvSpPr>
        <p:spPr>
          <a:xfrm>
            <a:off x="1609725" y="2657475"/>
            <a:ext cx="11609561" cy="388590"/>
          </a:xfrm>
          <a:prstGeom prst="rect">
            <a:avLst/>
          </a:prstGeom>
          <a:noFill/>
          <a:ln>
            <a:noFill/>
          </a:ln>
        </p:spPr>
        <p:txBody>
          <a:bodyPr spcFirstLastPara="1" wrap="square" lIns="25400" tIns="25400" rIns="25400" bIns="25400" anchor="t" anchorCtr="0">
            <a:noAutofit/>
          </a:bodyPr>
          <a:lstStyle/>
          <a:p>
            <a:pPr marL="0" marR="0" lvl="0" indent="0" algn="l" rtl="0">
              <a:lnSpc>
                <a:spcPct val="99459"/>
              </a:lnSpc>
              <a:spcBef>
                <a:spcPts val="0"/>
              </a:spcBef>
              <a:spcAft>
                <a:spcPts val="0"/>
              </a:spcAft>
              <a:buClr>
                <a:srgbClr val="1D1D1E"/>
              </a:buClr>
              <a:buSzPts val="2400"/>
              <a:buFont typeface="Arial"/>
              <a:buNone/>
            </a:pPr>
            <a:r>
              <a:rPr lang="en-US" sz="2400" b="1" i="0" u="none" strike="noStrike" cap="none">
                <a:solidFill>
                  <a:srgbClr val="1D1D1E"/>
                </a:solidFill>
                <a:latin typeface="Helvetica Neue"/>
                <a:ea typeface="Helvetica Neue"/>
                <a:cs typeface="Helvetica Neue"/>
                <a:sym typeface="Helvetica Neue"/>
              </a:rPr>
              <a:t>Where AI fits in the workflow</a:t>
            </a:r>
            <a:endParaRPr sz="2400" i="0" u="none" strike="noStrike" cap="none">
              <a:solidFill>
                <a:schemeClr val="dk1"/>
              </a:solidFill>
              <a:latin typeface="Helvetica Neue"/>
              <a:ea typeface="Helvetica Neue"/>
              <a:cs typeface="Helvetica Neue"/>
              <a:sym typeface="Helvetica Neue"/>
            </a:endParaRPr>
          </a:p>
        </p:txBody>
      </p:sp>
      <p:sp>
        <p:nvSpPr>
          <p:cNvPr id="35" name="Google Shape;35;p4"/>
          <p:cNvSpPr/>
          <p:nvPr/>
        </p:nvSpPr>
        <p:spPr>
          <a:xfrm>
            <a:off x="12544871" y="2781300"/>
            <a:ext cx="47580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6 min</a:t>
            </a:r>
            <a:endParaRPr sz="1200" i="0" u="none" strike="noStrike" cap="none">
              <a:solidFill>
                <a:schemeClr val="dk1"/>
              </a:solidFill>
              <a:latin typeface="Helvetica Neue"/>
              <a:ea typeface="Helvetica Neue"/>
              <a:cs typeface="Helvetica Neue"/>
              <a:sym typeface="Helvetica Neue"/>
            </a:endParaRPr>
          </a:p>
        </p:txBody>
      </p:sp>
      <p:sp>
        <p:nvSpPr>
          <p:cNvPr id="36" name="Google Shape;36;p4"/>
          <p:cNvSpPr/>
          <p:nvPr/>
        </p:nvSpPr>
        <p:spPr>
          <a:xfrm>
            <a:off x="771525" y="3274665"/>
            <a:ext cx="1217295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7" name="Google Shape;37;p4"/>
          <p:cNvSpPr/>
          <p:nvPr/>
        </p:nvSpPr>
        <p:spPr>
          <a:xfrm>
            <a:off x="771525" y="3612803"/>
            <a:ext cx="533400"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02</a:t>
            </a:r>
            <a:endParaRPr sz="1800" i="0" u="none" strike="noStrike" cap="none">
              <a:solidFill>
                <a:schemeClr val="dk1"/>
              </a:solidFill>
              <a:latin typeface="Helvetica Neue"/>
              <a:ea typeface="Helvetica Neue"/>
              <a:cs typeface="Helvetica Neue"/>
              <a:sym typeface="Helvetica Neue"/>
            </a:endParaRPr>
          </a:p>
        </p:txBody>
      </p:sp>
      <p:sp>
        <p:nvSpPr>
          <p:cNvPr id="38" name="Google Shape;38;p4"/>
          <p:cNvSpPr/>
          <p:nvPr/>
        </p:nvSpPr>
        <p:spPr>
          <a:xfrm>
            <a:off x="1609725" y="3550890"/>
            <a:ext cx="11609561" cy="388590"/>
          </a:xfrm>
          <a:prstGeom prst="rect">
            <a:avLst/>
          </a:prstGeom>
          <a:noFill/>
          <a:ln>
            <a:noFill/>
          </a:ln>
        </p:spPr>
        <p:txBody>
          <a:bodyPr spcFirstLastPara="1" wrap="square" lIns="25400" tIns="25400" rIns="25400" bIns="25400" anchor="t" anchorCtr="0">
            <a:noAutofit/>
          </a:bodyPr>
          <a:lstStyle/>
          <a:p>
            <a:pPr marL="0" marR="0" lvl="0" indent="0" algn="l" rtl="0">
              <a:lnSpc>
                <a:spcPct val="99459"/>
              </a:lnSpc>
              <a:spcBef>
                <a:spcPts val="0"/>
              </a:spcBef>
              <a:spcAft>
                <a:spcPts val="0"/>
              </a:spcAft>
              <a:buClr>
                <a:srgbClr val="1D1D1E"/>
              </a:buClr>
              <a:buSzPts val="2400"/>
              <a:buFont typeface="Arial"/>
              <a:buNone/>
            </a:pPr>
            <a:r>
              <a:rPr lang="en-US" sz="2400" b="1" i="0" u="none" strike="noStrike" cap="none">
                <a:solidFill>
                  <a:srgbClr val="1D1D1E"/>
                </a:solidFill>
                <a:latin typeface="Helvetica Neue"/>
                <a:ea typeface="Helvetica Neue"/>
                <a:cs typeface="Helvetica Neue"/>
                <a:sym typeface="Helvetica Neue"/>
              </a:rPr>
              <a:t>The three agents and their roles</a:t>
            </a:r>
            <a:endParaRPr sz="2400" i="0" u="none" strike="noStrike" cap="none">
              <a:solidFill>
                <a:schemeClr val="dk1"/>
              </a:solidFill>
              <a:latin typeface="Helvetica Neue"/>
              <a:ea typeface="Helvetica Neue"/>
              <a:cs typeface="Helvetica Neue"/>
              <a:sym typeface="Helvetica Neue"/>
            </a:endParaRPr>
          </a:p>
        </p:txBody>
      </p:sp>
      <p:sp>
        <p:nvSpPr>
          <p:cNvPr id="39" name="Google Shape;39;p4"/>
          <p:cNvSpPr/>
          <p:nvPr/>
        </p:nvSpPr>
        <p:spPr>
          <a:xfrm>
            <a:off x="12544871" y="3674715"/>
            <a:ext cx="47580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6 min</a:t>
            </a:r>
            <a:endParaRPr sz="1200" i="0" u="none" strike="noStrike" cap="none">
              <a:solidFill>
                <a:schemeClr val="dk1"/>
              </a:solidFill>
              <a:latin typeface="Helvetica Neue"/>
              <a:ea typeface="Helvetica Neue"/>
              <a:cs typeface="Helvetica Neue"/>
              <a:sym typeface="Helvetica Neue"/>
            </a:endParaRPr>
          </a:p>
        </p:txBody>
      </p:sp>
      <p:sp>
        <p:nvSpPr>
          <p:cNvPr id="40" name="Google Shape;40;p4"/>
          <p:cNvSpPr/>
          <p:nvPr/>
        </p:nvSpPr>
        <p:spPr>
          <a:xfrm>
            <a:off x="771525" y="4168080"/>
            <a:ext cx="1217295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41" name="Google Shape;41;p4"/>
          <p:cNvSpPr/>
          <p:nvPr/>
        </p:nvSpPr>
        <p:spPr>
          <a:xfrm>
            <a:off x="771525" y="4506218"/>
            <a:ext cx="533400"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03</a:t>
            </a:r>
            <a:endParaRPr sz="1800" i="0" u="none" strike="noStrike" cap="none">
              <a:solidFill>
                <a:schemeClr val="dk1"/>
              </a:solidFill>
              <a:latin typeface="Helvetica Neue"/>
              <a:ea typeface="Helvetica Neue"/>
              <a:cs typeface="Helvetica Neue"/>
              <a:sym typeface="Helvetica Neue"/>
            </a:endParaRPr>
          </a:p>
        </p:txBody>
      </p:sp>
      <p:sp>
        <p:nvSpPr>
          <p:cNvPr id="42" name="Google Shape;42;p4"/>
          <p:cNvSpPr/>
          <p:nvPr/>
        </p:nvSpPr>
        <p:spPr>
          <a:xfrm>
            <a:off x="1609725" y="4444305"/>
            <a:ext cx="11502249" cy="388590"/>
          </a:xfrm>
          <a:prstGeom prst="rect">
            <a:avLst/>
          </a:prstGeom>
          <a:noFill/>
          <a:ln>
            <a:noFill/>
          </a:ln>
        </p:spPr>
        <p:txBody>
          <a:bodyPr spcFirstLastPara="1" wrap="square" lIns="25400" tIns="25400" rIns="25400" bIns="25400" anchor="t" anchorCtr="0">
            <a:noAutofit/>
          </a:bodyPr>
          <a:lstStyle/>
          <a:p>
            <a:pPr marL="0" marR="0" lvl="0" indent="0" algn="l" rtl="0">
              <a:lnSpc>
                <a:spcPct val="99459"/>
              </a:lnSpc>
              <a:spcBef>
                <a:spcPts val="0"/>
              </a:spcBef>
              <a:spcAft>
                <a:spcPts val="0"/>
              </a:spcAft>
              <a:buClr>
                <a:srgbClr val="1D1D1E"/>
              </a:buClr>
              <a:buSzPts val="2400"/>
              <a:buFont typeface="Arial"/>
              <a:buNone/>
            </a:pPr>
            <a:r>
              <a:rPr lang="en-US" sz="2400" b="1" i="0" u="none" strike="noStrike" cap="none">
                <a:solidFill>
                  <a:srgbClr val="1D1D1E"/>
                </a:solidFill>
                <a:latin typeface="Helvetica Neue"/>
                <a:ea typeface="Helvetica Neue"/>
                <a:cs typeface="Helvetica Neue"/>
                <a:sym typeface="Helvetica Neue"/>
              </a:rPr>
              <a:t>Prompting, and how to check the answer</a:t>
            </a:r>
            <a:endParaRPr sz="2400" i="0" u="none" strike="noStrike" cap="none">
              <a:solidFill>
                <a:schemeClr val="dk1"/>
              </a:solidFill>
              <a:latin typeface="Helvetica Neue"/>
              <a:ea typeface="Helvetica Neue"/>
              <a:cs typeface="Helvetica Neue"/>
              <a:sym typeface="Helvetica Neue"/>
            </a:endParaRPr>
          </a:p>
        </p:txBody>
      </p:sp>
      <p:sp>
        <p:nvSpPr>
          <p:cNvPr id="43" name="Google Shape;43;p4"/>
          <p:cNvSpPr/>
          <p:nvPr/>
        </p:nvSpPr>
        <p:spPr>
          <a:xfrm>
            <a:off x="12447315" y="4568130"/>
            <a:ext cx="573360"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13 min</a:t>
            </a:r>
            <a:endParaRPr sz="1200" i="0" u="none" strike="noStrike" cap="none">
              <a:solidFill>
                <a:schemeClr val="dk1"/>
              </a:solidFill>
              <a:latin typeface="Helvetica Neue"/>
              <a:ea typeface="Helvetica Neue"/>
              <a:cs typeface="Helvetica Neue"/>
              <a:sym typeface="Helvetica Neue"/>
            </a:endParaRPr>
          </a:p>
        </p:txBody>
      </p:sp>
      <p:sp>
        <p:nvSpPr>
          <p:cNvPr id="44" name="Google Shape;44;p4"/>
          <p:cNvSpPr/>
          <p:nvPr/>
        </p:nvSpPr>
        <p:spPr>
          <a:xfrm>
            <a:off x="771525" y="5954911"/>
            <a:ext cx="1217295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45" name="Google Shape;45;p4"/>
          <p:cNvSpPr/>
          <p:nvPr/>
        </p:nvSpPr>
        <p:spPr>
          <a:xfrm>
            <a:off x="771525" y="5061496"/>
            <a:ext cx="1217295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46" name="Google Shape;46;p4"/>
          <p:cNvSpPr/>
          <p:nvPr/>
        </p:nvSpPr>
        <p:spPr>
          <a:xfrm>
            <a:off x="771525" y="5399633"/>
            <a:ext cx="533400"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04</a:t>
            </a:r>
            <a:endParaRPr sz="1800" i="0" u="none" strike="noStrike" cap="none">
              <a:solidFill>
                <a:schemeClr val="dk1"/>
              </a:solidFill>
              <a:latin typeface="Helvetica Neue"/>
              <a:ea typeface="Helvetica Neue"/>
              <a:cs typeface="Helvetica Neue"/>
              <a:sym typeface="Helvetica Neue"/>
            </a:endParaRPr>
          </a:p>
        </p:txBody>
      </p:sp>
      <p:sp>
        <p:nvSpPr>
          <p:cNvPr id="47" name="Google Shape;47;p4"/>
          <p:cNvSpPr/>
          <p:nvPr/>
        </p:nvSpPr>
        <p:spPr>
          <a:xfrm>
            <a:off x="1609725" y="5337721"/>
            <a:ext cx="11609561" cy="388590"/>
          </a:xfrm>
          <a:prstGeom prst="rect">
            <a:avLst/>
          </a:prstGeom>
          <a:noFill/>
          <a:ln>
            <a:noFill/>
          </a:ln>
        </p:spPr>
        <p:txBody>
          <a:bodyPr spcFirstLastPara="1" wrap="square" lIns="25400" tIns="25400" rIns="25400" bIns="25400" anchor="t" anchorCtr="0">
            <a:noAutofit/>
          </a:bodyPr>
          <a:lstStyle/>
          <a:p>
            <a:pPr marL="0" marR="0" lvl="0" indent="0" algn="l" rtl="0">
              <a:lnSpc>
                <a:spcPct val="99459"/>
              </a:lnSpc>
              <a:spcBef>
                <a:spcPts val="0"/>
              </a:spcBef>
              <a:spcAft>
                <a:spcPts val="0"/>
              </a:spcAft>
              <a:buClr>
                <a:srgbClr val="1D1D1E"/>
              </a:buClr>
              <a:buSzPts val="2400"/>
              <a:buFont typeface="Arial"/>
              <a:buNone/>
            </a:pPr>
            <a:r>
              <a:rPr lang="en-US" sz="2400" b="1" i="0" u="none" strike="noStrike" cap="none">
                <a:solidFill>
                  <a:srgbClr val="1D1D1E"/>
                </a:solidFill>
                <a:latin typeface="Helvetica Neue"/>
                <a:ea typeface="Helvetica Neue"/>
                <a:cs typeface="Helvetica Neue"/>
                <a:sym typeface="Helvetica Neue"/>
              </a:rPr>
              <a:t>Live demo &amp; questions</a:t>
            </a:r>
            <a:endParaRPr sz="2400" i="0" u="none" strike="noStrike" cap="none">
              <a:solidFill>
                <a:schemeClr val="dk1"/>
              </a:solidFill>
              <a:latin typeface="Helvetica Neue"/>
              <a:ea typeface="Helvetica Neue"/>
              <a:cs typeface="Helvetica Neue"/>
              <a:sym typeface="Helvetica Neue"/>
            </a:endParaRPr>
          </a:p>
        </p:txBody>
      </p:sp>
      <p:sp>
        <p:nvSpPr>
          <p:cNvPr id="48" name="Google Shape;48;p4"/>
          <p:cNvSpPr/>
          <p:nvPr/>
        </p:nvSpPr>
        <p:spPr>
          <a:xfrm>
            <a:off x="12544871" y="5461546"/>
            <a:ext cx="47580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5 min</a:t>
            </a:r>
            <a:endParaRPr sz="1200" i="0" u="none" strike="noStrike" cap="none">
              <a:solidFill>
                <a:schemeClr val="dk1"/>
              </a:solidFill>
              <a:latin typeface="Helvetica Neue"/>
              <a:ea typeface="Helvetica Neue"/>
              <a:cs typeface="Helvetica Neue"/>
              <a:sym typeface="Helvetica Neue"/>
            </a:endParaRPr>
          </a:p>
        </p:txBody>
      </p:sp>
      <p:sp>
        <p:nvSpPr>
          <p:cNvPr id="49" name="Google Shape;49;p4"/>
          <p:cNvSpPr/>
          <p:nvPr/>
        </p:nvSpPr>
        <p:spPr>
          <a:xfrm>
            <a:off x="13189818" y="209550"/>
            <a:ext cx="1737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Inter Tight"/>
                <a:ea typeface="Inter Tight"/>
                <a:cs typeface="Inter Tight"/>
                <a:sym typeface="Inter Tight"/>
              </a:rPr>
              <a:t>2</a:t>
            </a:r>
            <a:endParaRPr sz="1200" i="0" u="none" strike="noStrike" cap="none">
              <a:solidFill>
                <a:schemeClr val="dk1"/>
              </a:solidFill>
              <a:latin typeface="Inter Tight"/>
              <a:ea typeface="Inter Tight"/>
              <a:cs typeface="Inter Tight"/>
              <a:sym typeface="Inter Tight"/>
            </a:endParaRPr>
          </a:p>
        </p:txBody>
      </p:sp>
      <p:sp>
        <p:nvSpPr>
          <p:cNvPr id="50" name="Google Shape;50;p4"/>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55"/>
        <p:cNvGrpSpPr/>
        <p:nvPr/>
      </p:nvGrpSpPr>
      <p:grpSpPr>
        <a:xfrm>
          <a:off x="0" y="0"/>
          <a:ext cx="0" cy="0"/>
          <a:chOff x="0" y="0"/>
          <a:chExt cx="0" cy="0"/>
        </a:xfrm>
      </p:grpSpPr>
      <p:sp>
        <p:nvSpPr>
          <p:cNvPr id="56" name="Google Shape;56;p5"/>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771525" y="428625"/>
            <a:ext cx="9734989"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Where AI Fits in the Workflow</a:t>
            </a:r>
            <a:endParaRPr sz="1800" i="0" u="none" strike="noStrike" cap="none">
              <a:solidFill>
                <a:schemeClr val="dk1"/>
              </a:solidFill>
              <a:latin typeface="Helvetica Neue"/>
              <a:ea typeface="Helvetica Neue"/>
              <a:cs typeface="Helvetica Neue"/>
              <a:sym typeface="Helvetica Neue"/>
            </a:endParaRPr>
          </a:p>
        </p:txBody>
      </p:sp>
      <p:sp>
        <p:nvSpPr>
          <p:cNvPr id="58" name="Google Shape;58;p5"/>
          <p:cNvSpPr/>
          <p:nvPr/>
        </p:nvSpPr>
        <p:spPr>
          <a:xfrm>
            <a:off x="771525" y="817215"/>
            <a:ext cx="9734989"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AI shortens every stage. It removes none of them.</a:t>
            </a:r>
            <a:endParaRPr sz="3150" i="0" u="none" strike="noStrike" cap="none">
              <a:solidFill>
                <a:schemeClr val="dk1"/>
              </a:solidFill>
              <a:latin typeface="Helvetica Neue"/>
              <a:ea typeface="Helvetica Neue"/>
              <a:cs typeface="Helvetica Neue"/>
              <a:sym typeface="Helvetica Neue"/>
            </a:endParaRPr>
          </a:p>
        </p:txBody>
      </p:sp>
      <p:sp>
        <p:nvSpPr>
          <p:cNvPr id="59" name="Google Shape;59;p5"/>
          <p:cNvSpPr/>
          <p:nvPr/>
        </p:nvSpPr>
        <p:spPr>
          <a:xfrm>
            <a:off x="771525" y="2667000"/>
            <a:ext cx="2129730" cy="38100"/>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60" name="Google Shape;60;p5"/>
          <p:cNvSpPr/>
          <p:nvPr/>
        </p:nvSpPr>
        <p:spPr>
          <a:xfrm>
            <a:off x="771525" y="2933700"/>
            <a:ext cx="234270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Stage 1</a:t>
            </a:r>
            <a:endParaRPr sz="1200" i="0" u="none" strike="noStrike" cap="none">
              <a:solidFill>
                <a:schemeClr val="dk1"/>
              </a:solidFill>
              <a:latin typeface="Helvetica Neue"/>
              <a:ea typeface="Helvetica Neue"/>
              <a:cs typeface="Helvetica Neue"/>
              <a:sym typeface="Helvetica Neue"/>
            </a:endParaRPr>
          </a:p>
        </p:txBody>
      </p:sp>
      <p:sp>
        <p:nvSpPr>
          <p:cNvPr id="61" name="Google Shape;61;p5"/>
          <p:cNvSpPr/>
          <p:nvPr/>
        </p:nvSpPr>
        <p:spPr>
          <a:xfrm>
            <a:off x="771525" y="3322290"/>
            <a:ext cx="2342704" cy="384795"/>
          </a:xfrm>
          <a:prstGeom prst="rect">
            <a:avLst/>
          </a:prstGeom>
          <a:noFill/>
          <a:ln>
            <a:noFill/>
          </a:ln>
        </p:spPr>
        <p:txBody>
          <a:bodyPr spcFirstLastPara="1" wrap="square" lIns="25400" tIns="25400" rIns="25400" bIns="25400" anchor="t" anchorCtr="0">
            <a:noAutofit/>
          </a:bodyPr>
          <a:lstStyle/>
          <a:p>
            <a:pPr marL="0" marR="0" lvl="0" indent="0" algn="l" rtl="0">
              <a:lnSpc>
                <a:spcPct val="121333"/>
              </a:lnSpc>
              <a:spcBef>
                <a:spcPts val="0"/>
              </a:spcBef>
              <a:spcAft>
                <a:spcPts val="0"/>
              </a:spcAft>
              <a:buClr>
                <a:srgbClr val="1D1D1E"/>
              </a:buClr>
              <a:buSzPts val="1950"/>
              <a:buFont typeface="Arial"/>
              <a:buNone/>
            </a:pPr>
            <a:r>
              <a:rPr lang="en-US" sz="1950" b="1" i="0" u="none" strike="noStrike" cap="none">
                <a:solidFill>
                  <a:srgbClr val="1D1D1E"/>
                </a:solidFill>
                <a:latin typeface="Helvetica Neue"/>
                <a:ea typeface="Helvetica Neue"/>
                <a:cs typeface="Helvetica Neue"/>
                <a:sym typeface="Helvetica Neue"/>
              </a:rPr>
              <a:t>Ideate</a:t>
            </a:r>
            <a:endParaRPr sz="1950" i="0" u="none" strike="noStrike" cap="none">
              <a:solidFill>
                <a:schemeClr val="dk1"/>
              </a:solidFill>
              <a:latin typeface="Helvetica Neue"/>
              <a:ea typeface="Helvetica Neue"/>
              <a:cs typeface="Helvetica Neue"/>
              <a:sym typeface="Helvetica Neue"/>
            </a:endParaRPr>
          </a:p>
        </p:txBody>
      </p:sp>
      <p:sp>
        <p:nvSpPr>
          <p:cNvPr id="62" name="Google Shape;62;p5"/>
          <p:cNvSpPr/>
          <p:nvPr/>
        </p:nvSpPr>
        <p:spPr>
          <a:xfrm>
            <a:off x="771525" y="3859485"/>
            <a:ext cx="2205930" cy="1438201"/>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Describe the device in plain language. AI turns the description into a spec you can argue with.</a:t>
            </a:r>
            <a:endParaRPr sz="1575" i="0" u="none" strike="noStrike" cap="none">
              <a:solidFill>
                <a:schemeClr val="dk1"/>
              </a:solidFill>
              <a:latin typeface="Helvetica Neue"/>
              <a:ea typeface="Helvetica Neue"/>
              <a:cs typeface="Helvetica Neue"/>
              <a:sym typeface="Helvetica Neue"/>
            </a:endParaRPr>
          </a:p>
        </p:txBody>
      </p:sp>
      <p:sp>
        <p:nvSpPr>
          <p:cNvPr id="63" name="Google Shape;63;p5"/>
          <p:cNvSpPr/>
          <p:nvPr/>
        </p:nvSpPr>
        <p:spPr>
          <a:xfrm>
            <a:off x="3282255" y="2667000"/>
            <a:ext cx="2129805" cy="38100"/>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64" name="Google Shape;64;p5"/>
          <p:cNvSpPr/>
          <p:nvPr/>
        </p:nvSpPr>
        <p:spPr>
          <a:xfrm>
            <a:off x="3282255" y="2933700"/>
            <a:ext cx="2342785"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Stage 2</a:t>
            </a:r>
            <a:endParaRPr sz="1200" i="0" u="none" strike="noStrike" cap="none">
              <a:solidFill>
                <a:schemeClr val="dk1"/>
              </a:solidFill>
              <a:latin typeface="Helvetica Neue"/>
              <a:ea typeface="Helvetica Neue"/>
              <a:cs typeface="Helvetica Neue"/>
              <a:sym typeface="Helvetica Neue"/>
            </a:endParaRPr>
          </a:p>
        </p:txBody>
      </p:sp>
      <p:sp>
        <p:nvSpPr>
          <p:cNvPr id="65" name="Google Shape;65;p5"/>
          <p:cNvSpPr/>
          <p:nvPr/>
        </p:nvSpPr>
        <p:spPr>
          <a:xfrm>
            <a:off x="3282255" y="3322290"/>
            <a:ext cx="2342785" cy="384795"/>
          </a:xfrm>
          <a:prstGeom prst="rect">
            <a:avLst/>
          </a:prstGeom>
          <a:noFill/>
          <a:ln>
            <a:noFill/>
          </a:ln>
        </p:spPr>
        <p:txBody>
          <a:bodyPr spcFirstLastPara="1" wrap="square" lIns="25400" tIns="25400" rIns="25400" bIns="25400" anchor="t" anchorCtr="0">
            <a:noAutofit/>
          </a:bodyPr>
          <a:lstStyle/>
          <a:p>
            <a:pPr marL="0" marR="0" lvl="0" indent="0" algn="l" rtl="0">
              <a:lnSpc>
                <a:spcPct val="121333"/>
              </a:lnSpc>
              <a:spcBef>
                <a:spcPts val="0"/>
              </a:spcBef>
              <a:spcAft>
                <a:spcPts val="0"/>
              </a:spcAft>
              <a:buClr>
                <a:srgbClr val="1D1D1E"/>
              </a:buClr>
              <a:buSzPts val="1950"/>
              <a:buFont typeface="Arial"/>
              <a:buNone/>
            </a:pPr>
            <a:r>
              <a:rPr lang="en-US" sz="1950" b="1" i="0" u="none" strike="noStrike" cap="none">
                <a:solidFill>
                  <a:srgbClr val="1D1D1E"/>
                </a:solidFill>
                <a:latin typeface="Helvetica Neue"/>
                <a:ea typeface="Helvetica Neue"/>
                <a:cs typeface="Helvetica Neue"/>
                <a:sym typeface="Helvetica Neue"/>
              </a:rPr>
              <a:t>Plug</a:t>
            </a:r>
            <a:endParaRPr sz="1950" i="0" u="none" strike="noStrike" cap="none">
              <a:solidFill>
                <a:schemeClr val="dk1"/>
              </a:solidFill>
              <a:latin typeface="Helvetica Neue"/>
              <a:ea typeface="Helvetica Neue"/>
              <a:cs typeface="Helvetica Neue"/>
              <a:sym typeface="Helvetica Neue"/>
            </a:endParaRPr>
          </a:p>
        </p:txBody>
      </p:sp>
      <p:sp>
        <p:nvSpPr>
          <p:cNvPr id="66" name="Google Shape;66;p5"/>
          <p:cNvSpPr/>
          <p:nvPr/>
        </p:nvSpPr>
        <p:spPr>
          <a:xfrm>
            <a:off x="3282255" y="3859485"/>
            <a:ext cx="2206005" cy="1438201"/>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Snap on the sensors. The board reports what is connected, so the AI starts with facts.</a:t>
            </a:r>
            <a:endParaRPr sz="1575" i="0" u="none" strike="noStrike" cap="none">
              <a:solidFill>
                <a:schemeClr val="dk1"/>
              </a:solidFill>
              <a:latin typeface="Helvetica Neue"/>
              <a:ea typeface="Helvetica Neue"/>
              <a:cs typeface="Helvetica Neue"/>
              <a:sym typeface="Helvetica Neue"/>
            </a:endParaRPr>
          </a:p>
        </p:txBody>
      </p:sp>
      <p:sp>
        <p:nvSpPr>
          <p:cNvPr id="67" name="Google Shape;67;p5"/>
          <p:cNvSpPr/>
          <p:nvPr/>
        </p:nvSpPr>
        <p:spPr>
          <a:xfrm>
            <a:off x="5793060" y="2667000"/>
            <a:ext cx="2129805" cy="38100"/>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68" name="Google Shape;68;p5"/>
          <p:cNvSpPr/>
          <p:nvPr/>
        </p:nvSpPr>
        <p:spPr>
          <a:xfrm>
            <a:off x="5793060" y="2933700"/>
            <a:ext cx="2342785"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Stage 3</a:t>
            </a:r>
            <a:endParaRPr sz="1200" i="0" u="none" strike="noStrike" cap="none">
              <a:solidFill>
                <a:schemeClr val="dk1"/>
              </a:solidFill>
              <a:latin typeface="Helvetica Neue"/>
              <a:ea typeface="Helvetica Neue"/>
              <a:cs typeface="Helvetica Neue"/>
              <a:sym typeface="Helvetica Neue"/>
            </a:endParaRPr>
          </a:p>
        </p:txBody>
      </p:sp>
      <p:sp>
        <p:nvSpPr>
          <p:cNvPr id="69" name="Google Shape;69;p5"/>
          <p:cNvSpPr/>
          <p:nvPr/>
        </p:nvSpPr>
        <p:spPr>
          <a:xfrm>
            <a:off x="5793060" y="3322290"/>
            <a:ext cx="2342785" cy="384795"/>
          </a:xfrm>
          <a:prstGeom prst="rect">
            <a:avLst/>
          </a:prstGeom>
          <a:noFill/>
          <a:ln>
            <a:noFill/>
          </a:ln>
        </p:spPr>
        <p:txBody>
          <a:bodyPr spcFirstLastPara="1" wrap="square" lIns="25400" tIns="25400" rIns="25400" bIns="25400" anchor="t" anchorCtr="0">
            <a:noAutofit/>
          </a:bodyPr>
          <a:lstStyle/>
          <a:p>
            <a:pPr marL="0" marR="0" lvl="0" indent="0" algn="l" rtl="0">
              <a:lnSpc>
                <a:spcPct val="121333"/>
              </a:lnSpc>
              <a:spcBef>
                <a:spcPts val="0"/>
              </a:spcBef>
              <a:spcAft>
                <a:spcPts val="0"/>
              </a:spcAft>
              <a:buClr>
                <a:srgbClr val="1D1D1E"/>
              </a:buClr>
              <a:buSzPts val="1950"/>
              <a:buFont typeface="Arial"/>
              <a:buNone/>
            </a:pPr>
            <a:r>
              <a:rPr lang="en-US" sz="1950" b="1" i="0" u="none" strike="noStrike" cap="none">
                <a:solidFill>
                  <a:srgbClr val="1D1D1E"/>
                </a:solidFill>
                <a:latin typeface="Helvetica Neue"/>
                <a:ea typeface="Helvetica Neue"/>
                <a:cs typeface="Helvetica Neue"/>
                <a:sym typeface="Helvetica Neue"/>
              </a:rPr>
              <a:t>Build</a:t>
            </a:r>
            <a:endParaRPr sz="1950" i="0" u="none" strike="noStrike" cap="none">
              <a:solidFill>
                <a:schemeClr val="dk1"/>
              </a:solidFill>
              <a:latin typeface="Helvetica Neue"/>
              <a:ea typeface="Helvetica Neue"/>
              <a:cs typeface="Helvetica Neue"/>
              <a:sym typeface="Helvetica Neue"/>
            </a:endParaRPr>
          </a:p>
        </p:txBody>
      </p:sp>
      <p:sp>
        <p:nvSpPr>
          <p:cNvPr id="70" name="Google Shape;70;p5"/>
          <p:cNvSpPr/>
          <p:nvPr/>
        </p:nvSpPr>
        <p:spPr>
          <a:xfrm>
            <a:off x="5793060" y="3859485"/>
            <a:ext cx="2206005" cy="1718221"/>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Prompt for the firmware. Workspace AI compiles it in our own toolchain, so it either builds or it does not.</a:t>
            </a:r>
            <a:endParaRPr sz="1575" i="0" u="none" strike="noStrike" cap="none">
              <a:solidFill>
                <a:schemeClr val="dk1"/>
              </a:solidFill>
              <a:latin typeface="Helvetica Neue"/>
              <a:ea typeface="Helvetica Neue"/>
              <a:cs typeface="Helvetica Neue"/>
              <a:sym typeface="Helvetica Neue"/>
            </a:endParaRPr>
          </a:p>
        </p:txBody>
      </p:sp>
      <p:sp>
        <p:nvSpPr>
          <p:cNvPr id="71" name="Google Shape;71;p5"/>
          <p:cNvSpPr/>
          <p:nvPr/>
        </p:nvSpPr>
        <p:spPr>
          <a:xfrm>
            <a:off x="8303865" y="2667000"/>
            <a:ext cx="2129805" cy="38100"/>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72" name="Google Shape;72;p5"/>
          <p:cNvSpPr/>
          <p:nvPr/>
        </p:nvSpPr>
        <p:spPr>
          <a:xfrm>
            <a:off x="8303865" y="2933700"/>
            <a:ext cx="2342785"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Stage 4</a:t>
            </a:r>
            <a:endParaRPr sz="1200" i="0" u="none" strike="noStrike" cap="none">
              <a:solidFill>
                <a:schemeClr val="dk1"/>
              </a:solidFill>
              <a:latin typeface="Helvetica Neue"/>
              <a:ea typeface="Helvetica Neue"/>
              <a:cs typeface="Helvetica Neue"/>
              <a:sym typeface="Helvetica Neue"/>
            </a:endParaRPr>
          </a:p>
        </p:txBody>
      </p:sp>
      <p:sp>
        <p:nvSpPr>
          <p:cNvPr id="73" name="Google Shape;73;p5"/>
          <p:cNvSpPr/>
          <p:nvPr/>
        </p:nvSpPr>
        <p:spPr>
          <a:xfrm>
            <a:off x="8303865" y="3322290"/>
            <a:ext cx="2342785" cy="384795"/>
          </a:xfrm>
          <a:prstGeom prst="rect">
            <a:avLst/>
          </a:prstGeom>
          <a:noFill/>
          <a:ln>
            <a:noFill/>
          </a:ln>
        </p:spPr>
        <p:txBody>
          <a:bodyPr spcFirstLastPara="1" wrap="square" lIns="25400" tIns="25400" rIns="25400" bIns="25400" anchor="t" anchorCtr="0">
            <a:noAutofit/>
          </a:bodyPr>
          <a:lstStyle/>
          <a:p>
            <a:pPr marL="0" marR="0" lvl="0" indent="0" algn="l" rtl="0">
              <a:lnSpc>
                <a:spcPct val="121333"/>
              </a:lnSpc>
              <a:spcBef>
                <a:spcPts val="0"/>
              </a:spcBef>
              <a:spcAft>
                <a:spcPts val="0"/>
              </a:spcAft>
              <a:buClr>
                <a:srgbClr val="1D1D1E"/>
              </a:buClr>
              <a:buSzPts val="1950"/>
              <a:buFont typeface="Arial"/>
              <a:buNone/>
            </a:pPr>
            <a:r>
              <a:rPr lang="en-US" sz="1950" b="1" i="0" u="none" strike="noStrike" cap="none">
                <a:solidFill>
                  <a:srgbClr val="1D1D1E"/>
                </a:solidFill>
                <a:latin typeface="Helvetica Neue"/>
                <a:ea typeface="Helvetica Neue"/>
                <a:cs typeface="Helvetica Neue"/>
                <a:sym typeface="Helvetica Neue"/>
              </a:rPr>
              <a:t>Debug</a:t>
            </a:r>
            <a:endParaRPr sz="1950" i="0" u="none" strike="noStrike" cap="none">
              <a:solidFill>
                <a:schemeClr val="dk1"/>
              </a:solidFill>
              <a:latin typeface="Helvetica Neue"/>
              <a:ea typeface="Helvetica Neue"/>
              <a:cs typeface="Helvetica Neue"/>
              <a:sym typeface="Helvetica Neue"/>
            </a:endParaRPr>
          </a:p>
        </p:txBody>
      </p:sp>
      <p:sp>
        <p:nvSpPr>
          <p:cNvPr id="74" name="Google Shape;74;p5"/>
          <p:cNvSpPr/>
          <p:nvPr/>
        </p:nvSpPr>
        <p:spPr>
          <a:xfrm>
            <a:off x="8303865" y="3859485"/>
            <a:ext cx="2206005" cy="1438201"/>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Read the logs, describe the symptom, ask for causes to test. Do not ask for a rewrite.</a:t>
            </a:r>
            <a:endParaRPr sz="1575" i="0" u="none" strike="noStrike" cap="none">
              <a:solidFill>
                <a:schemeClr val="dk1"/>
              </a:solidFill>
              <a:latin typeface="Helvetica Neue"/>
              <a:ea typeface="Helvetica Neue"/>
              <a:cs typeface="Helvetica Neue"/>
              <a:sym typeface="Helvetica Neue"/>
            </a:endParaRPr>
          </a:p>
        </p:txBody>
      </p:sp>
      <p:sp>
        <p:nvSpPr>
          <p:cNvPr id="75" name="Google Shape;75;p5"/>
          <p:cNvSpPr/>
          <p:nvPr/>
        </p:nvSpPr>
        <p:spPr>
          <a:xfrm>
            <a:off x="10814670" y="2667000"/>
            <a:ext cx="2129805" cy="38100"/>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76" name="Google Shape;76;p5"/>
          <p:cNvSpPr/>
          <p:nvPr/>
        </p:nvSpPr>
        <p:spPr>
          <a:xfrm>
            <a:off x="10814670" y="2933700"/>
            <a:ext cx="2342785"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Stage 5</a:t>
            </a:r>
            <a:endParaRPr sz="1200" i="0" u="none" strike="noStrike" cap="none">
              <a:solidFill>
                <a:schemeClr val="dk1"/>
              </a:solidFill>
              <a:latin typeface="Helvetica Neue"/>
              <a:ea typeface="Helvetica Neue"/>
              <a:cs typeface="Helvetica Neue"/>
              <a:sym typeface="Helvetica Neue"/>
            </a:endParaRPr>
          </a:p>
        </p:txBody>
      </p:sp>
      <p:sp>
        <p:nvSpPr>
          <p:cNvPr id="77" name="Google Shape;77;p5"/>
          <p:cNvSpPr/>
          <p:nvPr/>
        </p:nvSpPr>
        <p:spPr>
          <a:xfrm>
            <a:off x="10814670" y="3322290"/>
            <a:ext cx="2342785" cy="384795"/>
          </a:xfrm>
          <a:prstGeom prst="rect">
            <a:avLst/>
          </a:prstGeom>
          <a:noFill/>
          <a:ln>
            <a:noFill/>
          </a:ln>
        </p:spPr>
        <p:txBody>
          <a:bodyPr spcFirstLastPara="1" wrap="square" lIns="25400" tIns="25400" rIns="25400" bIns="25400" anchor="t" anchorCtr="0">
            <a:noAutofit/>
          </a:bodyPr>
          <a:lstStyle/>
          <a:p>
            <a:pPr marL="0" marR="0" lvl="0" indent="0" algn="l" rtl="0">
              <a:lnSpc>
                <a:spcPct val="121333"/>
              </a:lnSpc>
              <a:spcBef>
                <a:spcPts val="0"/>
              </a:spcBef>
              <a:spcAft>
                <a:spcPts val="0"/>
              </a:spcAft>
              <a:buClr>
                <a:srgbClr val="1D1D1E"/>
              </a:buClr>
              <a:buSzPts val="1950"/>
              <a:buFont typeface="Arial"/>
              <a:buNone/>
            </a:pPr>
            <a:r>
              <a:rPr lang="en-US" sz="1950" b="1" i="0" u="none" strike="noStrike" cap="none">
                <a:solidFill>
                  <a:srgbClr val="1D1D1E"/>
                </a:solidFill>
                <a:latin typeface="Helvetica Neue"/>
                <a:ea typeface="Helvetica Neue"/>
                <a:cs typeface="Helvetica Neue"/>
                <a:sym typeface="Helvetica Neue"/>
              </a:rPr>
              <a:t>Hand Off</a:t>
            </a:r>
            <a:endParaRPr sz="1950" i="0" u="none" strike="noStrike" cap="none">
              <a:solidFill>
                <a:schemeClr val="dk1"/>
              </a:solidFill>
              <a:latin typeface="Helvetica Neue"/>
              <a:ea typeface="Helvetica Neue"/>
              <a:cs typeface="Helvetica Neue"/>
              <a:sym typeface="Helvetica Neue"/>
            </a:endParaRPr>
          </a:p>
        </p:txBody>
      </p:sp>
      <p:sp>
        <p:nvSpPr>
          <p:cNvPr id="78" name="Google Shape;78;p5"/>
          <p:cNvSpPr/>
          <p:nvPr/>
        </p:nvSpPr>
        <p:spPr>
          <a:xfrm>
            <a:off x="10814670" y="3859485"/>
            <a:ext cx="2206005" cy="1438201"/>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Pin maps, README, known issues. The cheapest and most reliable use of AI in the whole list.</a:t>
            </a:r>
            <a:endParaRPr sz="1575" i="0" u="none" strike="noStrike" cap="none">
              <a:solidFill>
                <a:schemeClr val="dk1"/>
              </a:solidFill>
              <a:latin typeface="Helvetica Neue"/>
              <a:ea typeface="Helvetica Neue"/>
              <a:cs typeface="Helvetica Neue"/>
              <a:sym typeface="Helvetica Neue"/>
            </a:endParaRPr>
          </a:p>
        </p:txBody>
      </p:sp>
      <p:sp>
        <p:nvSpPr>
          <p:cNvPr id="79" name="Google Shape;79;p5"/>
          <p:cNvSpPr/>
          <p:nvPr/>
        </p:nvSpPr>
        <p:spPr>
          <a:xfrm>
            <a:off x="13189818" y="209550"/>
            <a:ext cx="1737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3</a:t>
            </a:r>
            <a:endParaRPr sz="1200" i="0" u="none" strike="noStrike" cap="none">
              <a:solidFill>
                <a:schemeClr val="dk1"/>
              </a:solidFill>
              <a:latin typeface="Helvetica Neue"/>
              <a:ea typeface="Helvetica Neue"/>
              <a:cs typeface="Helvetica Neue"/>
              <a:sym typeface="Helvetica Neue"/>
            </a:endParaRPr>
          </a:p>
        </p:txBody>
      </p:sp>
      <p:sp>
        <p:nvSpPr>
          <p:cNvPr id="80" name="Google Shape;80;p5"/>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85"/>
        <p:cNvGrpSpPr/>
        <p:nvPr/>
      </p:nvGrpSpPr>
      <p:grpSpPr>
        <a:xfrm>
          <a:off x="0" y="0"/>
          <a:ext cx="0" cy="0"/>
          <a:chOff x="0" y="0"/>
          <a:chExt cx="0" cy="0"/>
        </a:xfrm>
      </p:grpSpPr>
      <p:sp>
        <p:nvSpPr>
          <p:cNvPr id="86" name="Google Shape;86;p6"/>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6"/>
          <p:cNvSpPr/>
          <p:nvPr/>
        </p:nvSpPr>
        <p:spPr>
          <a:xfrm>
            <a:off x="771525" y="428625"/>
            <a:ext cx="9972615"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The Three Agents</a:t>
            </a:r>
            <a:endParaRPr sz="1800" i="0" u="none" strike="noStrike" cap="none">
              <a:solidFill>
                <a:schemeClr val="dk1"/>
              </a:solidFill>
              <a:latin typeface="Helvetica Neue"/>
              <a:ea typeface="Helvetica Neue"/>
              <a:cs typeface="Helvetica Neue"/>
              <a:sym typeface="Helvetica Neue"/>
            </a:endParaRPr>
          </a:p>
        </p:txBody>
      </p:sp>
      <p:sp>
        <p:nvSpPr>
          <p:cNvPr id="88" name="Google Shape;88;p6"/>
          <p:cNvSpPr/>
          <p:nvPr/>
        </p:nvSpPr>
        <p:spPr>
          <a:xfrm>
            <a:off x="771525" y="817215"/>
            <a:ext cx="9972615"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Each agent sees a different amount of your project.</a:t>
            </a:r>
            <a:endParaRPr sz="3150" i="0" u="none" strike="noStrike" cap="none">
              <a:solidFill>
                <a:schemeClr val="dk1"/>
              </a:solidFill>
              <a:latin typeface="Helvetica Neue"/>
              <a:ea typeface="Helvetica Neue"/>
              <a:cs typeface="Helvetica Neue"/>
              <a:sym typeface="Helvetica Neue"/>
            </a:endParaRPr>
          </a:p>
        </p:txBody>
      </p:sp>
      <p:sp>
        <p:nvSpPr>
          <p:cNvPr id="89" name="Google Shape;89;p6"/>
          <p:cNvSpPr/>
          <p:nvPr/>
        </p:nvSpPr>
        <p:spPr>
          <a:xfrm>
            <a:off x="771525" y="2476500"/>
            <a:ext cx="12172950" cy="3810000"/>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90" name="Google Shape;90;p6"/>
          <p:cNvSpPr/>
          <p:nvPr/>
        </p:nvSpPr>
        <p:spPr>
          <a:xfrm>
            <a:off x="771525" y="2476500"/>
            <a:ext cx="4051250" cy="3810000"/>
          </a:xfrm>
          <a:prstGeom prst="rect">
            <a:avLst/>
          </a:pr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91" name="Google Shape;91;p6"/>
          <p:cNvSpPr/>
          <p:nvPr/>
        </p:nvSpPr>
        <p:spPr>
          <a:xfrm>
            <a:off x="771525" y="2476500"/>
            <a:ext cx="4037275"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76706C"/>
              </a:buClr>
              <a:buSzPts val="1350"/>
              <a:buFont typeface="Arial"/>
              <a:buNone/>
            </a:pPr>
            <a:r>
              <a:rPr lang="en-US" sz="1350" b="1" i="0" u="none" strike="noStrike" cap="none">
                <a:solidFill>
                  <a:srgbClr val="76706C"/>
                </a:solidFill>
                <a:latin typeface="Helvetica Neue"/>
                <a:ea typeface="Helvetica Neue"/>
                <a:cs typeface="Helvetica Neue"/>
                <a:sym typeface="Helvetica Neue"/>
              </a:rPr>
              <a:t>AGENT 1</a:t>
            </a:r>
            <a:endParaRPr sz="1350" i="0" u="none" strike="noStrike" cap="none">
              <a:solidFill>
                <a:schemeClr val="dk1"/>
              </a:solidFill>
              <a:latin typeface="Helvetica Neue"/>
              <a:ea typeface="Helvetica Neue"/>
              <a:cs typeface="Helvetica Neue"/>
              <a:sym typeface="Helvetica Neue"/>
            </a:endParaRPr>
          </a:p>
        </p:txBody>
      </p:sp>
      <p:sp>
        <p:nvSpPr>
          <p:cNvPr id="92" name="Google Shape;92;p6"/>
          <p:cNvSpPr/>
          <p:nvPr/>
        </p:nvSpPr>
        <p:spPr>
          <a:xfrm>
            <a:off x="771525" y="2889870"/>
            <a:ext cx="4037275" cy="47625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1D1D1E"/>
              </a:buClr>
              <a:buSzPts val="3000"/>
              <a:buFont typeface="Arial"/>
              <a:buNone/>
            </a:pPr>
            <a:r>
              <a:rPr lang="en-US" sz="3000" b="1" i="0" u="none" strike="noStrike" cap="none">
                <a:solidFill>
                  <a:srgbClr val="1D1D1E"/>
                </a:solidFill>
                <a:latin typeface="Helvetica Neue"/>
                <a:ea typeface="Helvetica Neue"/>
                <a:cs typeface="Helvetica Neue"/>
                <a:sym typeface="Helvetica Neue"/>
              </a:rPr>
              <a:t>Copilot</a:t>
            </a:r>
            <a:endParaRPr sz="3000" i="0" u="none" strike="noStrike" cap="none">
              <a:solidFill>
                <a:schemeClr val="dk1"/>
              </a:solidFill>
              <a:latin typeface="Helvetica Neue"/>
              <a:ea typeface="Helvetica Neue"/>
              <a:cs typeface="Helvetica Neue"/>
              <a:sym typeface="Helvetica Neue"/>
            </a:endParaRPr>
          </a:p>
        </p:txBody>
      </p:sp>
      <p:sp>
        <p:nvSpPr>
          <p:cNvPr id="93" name="Google Shape;93;p6"/>
          <p:cNvSpPr/>
          <p:nvPr/>
        </p:nvSpPr>
        <p:spPr>
          <a:xfrm>
            <a:off x="771525" y="3518520"/>
            <a:ext cx="4037275"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Writes alongside you</a:t>
            </a:r>
            <a:endParaRPr sz="1575" i="0" u="none" strike="noStrike" cap="none">
              <a:solidFill>
                <a:schemeClr val="dk1"/>
              </a:solidFill>
              <a:latin typeface="Helvetica Neue"/>
              <a:ea typeface="Helvetica Neue"/>
              <a:cs typeface="Helvetica Neue"/>
              <a:sym typeface="Helvetica Neue"/>
            </a:endParaRPr>
          </a:p>
        </p:txBody>
      </p:sp>
      <p:sp>
        <p:nvSpPr>
          <p:cNvPr id="94" name="Google Shape;94;p6"/>
          <p:cNvSpPr/>
          <p:nvPr/>
        </p:nvSpPr>
        <p:spPr>
          <a:xfrm>
            <a:off x="771525" y="3989040"/>
            <a:ext cx="3780358" cy="87816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Finishes the line or function you are already typing. Best for repetitive setup code and test scaffolds.</a:t>
            </a:r>
            <a:endParaRPr sz="1575" i="0" u="none" strike="noStrike" cap="none">
              <a:solidFill>
                <a:schemeClr val="dk1"/>
              </a:solidFill>
              <a:latin typeface="Helvetica Neue"/>
              <a:ea typeface="Helvetica Neue"/>
              <a:cs typeface="Helvetica Neue"/>
              <a:sym typeface="Helvetica Neue"/>
            </a:endParaRPr>
          </a:p>
        </p:txBody>
      </p:sp>
      <p:sp>
        <p:nvSpPr>
          <p:cNvPr id="95" name="Google Shape;95;p6"/>
          <p:cNvSpPr/>
          <p:nvPr/>
        </p:nvSpPr>
        <p:spPr>
          <a:xfrm>
            <a:off x="771525" y="6088410"/>
            <a:ext cx="4037275"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Sees: your open files</a:t>
            </a:r>
            <a:endParaRPr sz="1200" i="0" u="none" strike="noStrike" cap="none">
              <a:solidFill>
                <a:schemeClr val="dk1"/>
              </a:solidFill>
              <a:latin typeface="Helvetica Neue"/>
              <a:ea typeface="Helvetica Neue"/>
              <a:cs typeface="Helvetica Neue"/>
              <a:sym typeface="Helvetica Neue"/>
            </a:endParaRPr>
          </a:p>
        </p:txBody>
      </p:sp>
      <p:sp>
        <p:nvSpPr>
          <p:cNvPr id="96" name="Google Shape;96;p6"/>
          <p:cNvSpPr/>
          <p:nvPr/>
        </p:nvSpPr>
        <p:spPr>
          <a:xfrm>
            <a:off x="4832300" y="2476500"/>
            <a:ext cx="4051325" cy="3810000"/>
          </a:xfrm>
          <a:prstGeom prst="rect">
            <a:avLst/>
          </a:pr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97" name="Google Shape;97;p6"/>
          <p:cNvSpPr/>
          <p:nvPr/>
        </p:nvSpPr>
        <p:spPr>
          <a:xfrm>
            <a:off x="5213300" y="2476500"/>
            <a:ext cx="3618257"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76706C"/>
              </a:buClr>
              <a:buSzPts val="1350"/>
              <a:buFont typeface="Arial"/>
              <a:buNone/>
            </a:pPr>
            <a:r>
              <a:rPr lang="en-US" sz="1350" b="1" i="0" u="none" strike="noStrike" cap="none">
                <a:solidFill>
                  <a:srgbClr val="76706C"/>
                </a:solidFill>
                <a:latin typeface="Helvetica Neue"/>
                <a:ea typeface="Helvetica Neue"/>
                <a:cs typeface="Helvetica Neue"/>
                <a:sym typeface="Helvetica Neue"/>
              </a:rPr>
              <a:t>AGENT 2</a:t>
            </a:r>
            <a:endParaRPr sz="1350" i="0" u="none" strike="noStrike" cap="none">
              <a:solidFill>
                <a:schemeClr val="dk1"/>
              </a:solidFill>
              <a:latin typeface="Helvetica Neue"/>
              <a:ea typeface="Helvetica Neue"/>
              <a:cs typeface="Helvetica Neue"/>
              <a:sym typeface="Helvetica Neue"/>
            </a:endParaRPr>
          </a:p>
        </p:txBody>
      </p:sp>
      <p:sp>
        <p:nvSpPr>
          <p:cNvPr id="98" name="Google Shape;98;p6"/>
          <p:cNvSpPr/>
          <p:nvPr/>
        </p:nvSpPr>
        <p:spPr>
          <a:xfrm>
            <a:off x="5213300" y="2889870"/>
            <a:ext cx="3618257" cy="47625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1D1D1E"/>
              </a:buClr>
              <a:buSzPts val="3000"/>
              <a:buFont typeface="Arial"/>
              <a:buNone/>
            </a:pPr>
            <a:r>
              <a:rPr lang="en-US" sz="3000" b="1" i="0" u="none" strike="noStrike" cap="none">
                <a:solidFill>
                  <a:srgbClr val="1D1D1E"/>
                </a:solidFill>
                <a:latin typeface="Helvetica Neue"/>
                <a:ea typeface="Helvetica Neue"/>
                <a:cs typeface="Helvetica Neue"/>
                <a:sym typeface="Helvetica Neue"/>
              </a:rPr>
              <a:t>ChatGPT</a:t>
            </a:r>
            <a:endParaRPr sz="3000" i="0" u="none" strike="noStrike" cap="none">
              <a:solidFill>
                <a:schemeClr val="dk1"/>
              </a:solidFill>
              <a:latin typeface="Helvetica Neue"/>
              <a:ea typeface="Helvetica Neue"/>
              <a:cs typeface="Helvetica Neue"/>
              <a:sym typeface="Helvetica Neue"/>
            </a:endParaRPr>
          </a:p>
        </p:txBody>
      </p:sp>
      <p:sp>
        <p:nvSpPr>
          <p:cNvPr id="99" name="Google Shape;99;p6"/>
          <p:cNvSpPr/>
          <p:nvPr/>
        </p:nvSpPr>
        <p:spPr>
          <a:xfrm>
            <a:off x="5213300" y="3518520"/>
            <a:ext cx="3618257"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Explains and reasons</a:t>
            </a:r>
            <a:endParaRPr sz="1575" i="0" u="none" strike="noStrike" cap="none">
              <a:solidFill>
                <a:schemeClr val="dk1"/>
              </a:solidFill>
              <a:latin typeface="Helvetica Neue"/>
              <a:ea typeface="Helvetica Neue"/>
              <a:cs typeface="Helvetica Neue"/>
              <a:sym typeface="Helvetica Neue"/>
            </a:endParaRPr>
          </a:p>
        </p:txBody>
      </p:sp>
      <p:sp>
        <p:nvSpPr>
          <p:cNvPr id="100" name="Google Shape;100;p6"/>
          <p:cNvSpPr/>
          <p:nvPr/>
        </p:nvSpPr>
        <p:spPr>
          <a:xfrm>
            <a:off x="5213300" y="3989040"/>
            <a:ext cx="3388005" cy="1438201"/>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Answers questions about datasheets, error messages and trade-offs. Best for understanding something before you commit to it.</a:t>
            </a:r>
            <a:endParaRPr sz="1575" i="0" u="none" strike="noStrike" cap="none">
              <a:solidFill>
                <a:schemeClr val="dk1"/>
              </a:solidFill>
              <a:latin typeface="Helvetica Neue"/>
              <a:ea typeface="Helvetica Neue"/>
              <a:cs typeface="Helvetica Neue"/>
              <a:sym typeface="Helvetica Neue"/>
            </a:endParaRPr>
          </a:p>
        </p:txBody>
      </p:sp>
      <p:sp>
        <p:nvSpPr>
          <p:cNvPr id="101" name="Google Shape;101;p6"/>
          <p:cNvSpPr/>
          <p:nvPr/>
        </p:nvSpPr>
        <p:spPr>
          <a:xfrm>
            <a:off x="5213300" y="6088410"/>
            <a:ext cx="36182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Sees: only what you paste</a:t>
            </a:r>
            <a:endParaRPr sz="1200" i="0" u="none" strike="noStrike" cap="none">
              <a:solidFill>
                <a:schemeClr val="dk1"/>
              </a:solidFill>
              <a:latin typeface="Helvetica Neue"/>
              <a:ea typeface="Helvetica Neue"/>
              <a:cs typeface="Helvetica Neue"/>
              <a:sym typeface="Helvetica Neue"/>
            </a:endParaRPr>
          </a:p>
        </p:txBody>
      </p:sp>
      <p:sp>
        <p:nvSpPr>
          <p:cNvPr id="102" name="Google Shape;102;p6"/>
          <p:cNvSpPr/>
          <p:nvPr/>
        </p:nvSpPr>
        <p:spPr>
          <a:xfrm>
            <a:off x="8893150" y="2476500"/>
            <a:ext cx="4051325" cy="3810000"/>
          </a:xfrm>
          <a:prstGeom prst="rect">
            <a:avLst/>
          </a:pr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03" name="Google Shape;103;p6"/>
          <p:cNvSpPr/>
          <p:nvPr/>
        </p:nvSpPr>
        <p:spPr>
          <a:xfrm>
            <a:off x="9274150" y="2476500"/>
            <a:ext cx="4037357"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B57946"/>
              </a:buClr>
              <a:buSzPts val="1350"/>
              <a:buFont typeface="Arial"/>
              <a:buNone/>
            </a:pPr>
            <a:r>
              <a:rPr lang="en-US" sz="1350" b="1" i="0" u="none" strike="noStrike" cap="none">
                <a:solidFill>
                  <a:srgbClr val="B57946"/>
                </a:solidFill>
                <a:latin typeface="Helvetica Neue"/>
                <a:ea typeface="Helvetica Neue"/>
                <a:cs typeface="Helvetica Neue"/>
                <a:sym typeface="Helvetica Neue"/>
              </a:rPr>
              <a:t>AGENT 3</a:t>
            </a:r>
            <a:endParaRPr sz="1350" i="0" u="none" strike="noStrike" cap="none">
              <a:solidFill>
                <a:schemeClr val="dk1"/>
              </a:solidFill>
              <a:latin typeface="Helvetica Neue"/>
              <a:ea typeface="Helvetica Neue"/>
              <a:cs typeface="Helvetica Neue"/>
              <a:sym typeface="Helvetica Neue"/>
            </a:endParaRPr>
          </a:p>
        </p:txBody>
      </p:sp>
      <p:sp>
        <p:nvSpPr>
          <p:cNvPr id="104" name="Google Shape;104;p6"/>
          <p:cNvSpPr/>
          <p:nvPr/>
        </p:nvSpPr>
        <p:spPr>
          <a:xfrm>
            <a:off x="9274150" y="2889870"/>
            <a:ext cx="3780435" cy="9144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1D1D1E"/>
              </a:buClr>
              <a:buSzPts val="3000"/>
              <a:buFont typeface="Arial"/>
              <a:buNone/>
            </a:pPr>
            <a:r>
              <a:rPr lang="en-US" sz="3000" b="1" i="0" u="none" strike="noStrike" cap="none">
                <a:solidFill>
                  <a:srgbClr val="1D1D1E"/>
                </a:solidFill>
                <a:latin typeface="Helvetica Neue"/>
                <a:ea typeface="Helvetica Neue"/>
                <a:cs typeface="Helvetica Neue"/>
                <a:sym typeface="Helvetica Neue"/>
              </a:rPr>
              <a:t>INCIPE Workspace AI</a:t>
            </a:r>
            <a:endParaRPr sz="3000" i="0" u="none" strike="noStrike" cap="none">
              <a:solidFill>
                <a:schemeClr val="dk1"/>
              </a:solidFill>
              <a:latin typeface="Helvetica Neue"/>
              <a:ea typeface="Helvetica Neue"/>
              <a:cs typeface="Helvetica Neue"/>
              <a:sym typeface="Helvetica Neue"/>
            </a:endParaRPr>
          </a:p>
        </p:txBody>
      </p:sp>
      <p:sp>
        <p:nvSpPr>
          <p:cNvPr id="105" name="Google Shape;105;p6"/>
          <p:cNvSpPr/>
          <p:nvPr/>
        </p:nvSpPr>
        <p:spPr>
          <a:xfrm>
            <a:off x="9274150" y="3956670"/>
            <a:ext cx="4037357"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Builds the project</a:t>
            </a:r>
            <a:endParaRPr sz="1575" i="0" u="none" strike="noStrike" cap="none">
              <a:solidFill>
                <a:schemeClr val="dk1"/>
              </a:solidFill>
              <a:latin typeface="Helvetica Neue"/>
              <a:ea typeface="Helvetica Neue"/>
              <a:cs typeface="Helvetica Neue"/>
              <a:sym typeface="Helvetica Neue"/>
            </a:endParaRPr>
          </a:p>
        </p:txBody>
      </p:sp>
      <p:sp>
        <p:nvSpPr>
          <p:cNvPr id="106" name="Google Shape;106;p6"/>
          <p:cNvSpPr/>
          <p:nvPr/>
        </p:nvSpPr>
        <p:spPr>
          <a:xfrm>
            <a:off x="9274150" y="4427190"/>
            <a:ext cx="3780435" cy="115818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Writes firmware and compiles it in our own toolchain, so what comes back is buildable rather than merely plausible.</a:t>
            </a:r>
            <a:endParaRPr sz="1575" i="0" u="none" strike="noStrike" cap="none">
              <a:solidFill>
                <a:schemeClr val="dk1"/>
              </a:solidFill>
              <a:latin typeface="Helvetica Neue"/>
              <a:ea typeface="Helvetica Neue"/>
              <a:cs typeface="Helvetica Neue"/>
              <a:sym typeface="Helvetica Neue"/>
            </a:endParaRPr>
          </a:p>
        </p:txBody>
      </p:sp>
      <p:sp>
        <p:nvSpPr>
          <p:cNvPr id="107" name="Google Shape;107;p6"/>
          <p:cNvSpPr/>
          <p:nvPr/>
        </p:nvSpPr>
        <p:spPr>
          <a:xfrm>
            <a:off x="9274150" y="6088410"/>
            <a:ext cx="40373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Sees: the whole project</a:t>
            </a:r>
            <a:endParaRPr sz="1200" i="0" u="none" strike="noStrike" cap="none">
              <a:solidFill>
                <a:schemeClr val="dk1"/>
              </a:solidFill>
              <a:latin typeface="Helvetica Neue"/>
              <a:ea typeface="Helvetica Neue"/>
              <a:cs typeface="Helvetica Neue"/>
              <a:sym typeface="Helvetica Neue"/>
            </a:endParaRPr>
          </a:p>
        </p:txBody>
      </p:sp>
      <p:sp>
        <p:nvSpPr>
          <p:cNvPr id="108" name="Google Shape;108;p6"/>
          <p:cNvSpPr/>
          <p:nvPr/>
        </p:nvSpPr>
        <p:spPr>
          <a:xfrm>
            <a:off x="13189818" y="209550"/>
            <a:ext cx="1737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4</a:t>
            </a:r>
            <a:endParaRPr sz="1200" i="0" u="none" strike="noStrike" cap="none">
              <a:solidFill>
                <a:schemeClr val="dk1"/>
              </a:solidFill>
              <a:latin typeface="Helvetica Neue"/>
              <a:ea typeface="Helvetica Neue"/>
              <a:cs typeface="Helvetica Neue"/>
              <a:sym typeface="Helvetica Neue"/>
            </a:endParaRPr>
          </a:p>
        </p:txBody>
      </p:sp>
      <p:sp>
        <p:nvSpPr>
          <p:cNvPr id="109" name="Google Shape;109;p6"/>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114"/>
        <p:cNvGrpSpPr/>
        <p:nvPr/>
      </p:nvGrpSpPr>
      <p:grpSpPr>
        <a:xfrm>
          <a:off x="0" y="0"/>
          <a:ext cx="0" cy="0"/>
          <a:chOff x="0" y="0"/>
          <a:chExt cx="0" cy="0"/>
        </a:xfrm>
      </p:grpSpPr>
      <p:sp>
        <p:nvSpPr>
          <p:cNvPr id="115" name="Google Shape;115;p7"/>
          <p:cNvSpPr/>
          <p:nvPr/>
        </p:nvSpPr>
        <p:spPr>
          <a:xfrm>
            <a:off x="428625" y="428625"/>
            <a:ext cx="38100" cy="274290"/>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a:off x="771525" y="428625"/>
            <a:ext cx="5053800" cy="31230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Picking the Right Agent</a:t>
            </a:r>
            <a:endParaRPr sz="1800" i="0" u="none" strike="noStrike" cap="none">
              <a:solidFill>
                <a:schemeClr val="dk1"/>
              </a:solidFill>
              <a:latin typeface="Helvetica Neue"/>
              <a:ea typeface="Helvetica Neue"/>
              <a:cs typeface="Helvetica Neue"/>
              <a:sym typeface="Helvetica Neue"/>
            </a:endParaRPr>
          </a:p>
        </p:txBody>
      </p:sp>
      <p:sp>
        <p:nvSpPr>
          <p:cNvPr id="117" name="Google Shape;117;p7"/>
          <p:cNvSpPr/>
          <p:nvPr/>
        </p:nvSpPr>
        <p:spPr>
          <a:xfrm>
            <a:off x="923925" y="1543050"/>
            <a:ext cx="5275141" cy="260970"/>
          </a:xfrm>
          <a:prstGeom prst="rect">
            <a:avLst/>
          </a:prstGeom>
          <a:noFill/>
          <a:ln>
            <a:noFill/>
          </a:ln>
        </p:spPr>
        <p:txBody>
          <a:bodyPr spcFirstLastPara="1" wrap="square" lIns="25400" tIns="25400" rIns="25400" bIns="25400" anchor="ctr"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Task</a:t>
            </a:r>
            <a:endParaRPr sz="1350" i="0" u="none" strike="noStrike" cap="none">
              <a:solidFill>
                <a:schemeClr val="dk1"/>
              </a:solidFill>
              <a:latin typeface="Helvetica Neue"/>
              <a:ea typeface="Helvetica Neue"/>
              <a:cs typeface="Helvetica Neue"/>
              <a:sym typeface="Helvetica Neue"/>
            </a:endParaRPr>
          </a:p>
        </p:txBody>
      </p:sp>
      <p:sp>
        <p:nvSpPr>
          <p:cNvPr id="118" name="Google Shape;118;p7"/>
          <p:cNvSpPr/>
          <p:nvPr/>
        </p:nvSpPr>
        <p:spPr>
          <a:xfrm>
            <a:off x="6341343" y="1543050"/>
            <a:ext cx="3018285" cy="260970"/>
          </a:xfrm>
          <a:prstGeom prst="rect">
            <a:avLst/>
          </a:prstGeom>
          <a:noFill/>
          <a:ln>
            <a:noFill/>
          </a:ln>
        </p:spPr>
        <p:txBody>
          <a:bodyPr spcFirstLastPara="1" wrap="square" lIns="25400" tIns="25400" rIns="25400" bIns="25400" anchor="ctr"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Reach for</a:t>
            </a:r>
            <a:endParaRPr sz="1350" i="0" u="none" strike="noStrike" cap="none">
              <a:solidFill>
                <a:schemeClr val="dk1"/>
              </a:solidFill>
              <a:latin typeface="Helvetica Neue"/>
              <a:ea typeface="Helvetica Neue"/>
              <a:cs typeface="Helvetica Neue"/>
              <a:sym typeface="Helvetica Neue"/>
            </a:endParaRPr>
          </a:p>
        </p:txBody>
      </p:sp>
      <p:sp>
        <p:nvSpPr>
          <p:cNvPr id="119" name="Google Shape;119;p7"/>
          <p:cNvSpPr/>
          <p:nvPr/>
        </p:nvSpPr>
        <p:spPr>
          <a:xfrm>
            <a:off x="9567639" y="1543050"/>
            <a:ext cx="3330313" cy="260970"/>
          </a:xfrm>
          <a:prstGeom prst="rect">
            <a:avLst/>
          </a:prstGeom>
          <a:noFill/>
          <a:ln>
            <a:noFill/>
          </a:ln>
        </p:spPr>
        <p:txBody>
          <a:bodyPr spcFirstLastPara="1" wrap="square" lIns="25400" tIns="25400" rIns="25400" bIns="25400" anchor="ctr"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Why</a:t>
            </a:r>
            <a:endParaRPr sz="1350" i="0" u="none" strike="noStrike" cap="none">
              <a:solidFill>
                <a:schemeClr val="dk1"/>
              </a:solidFill>
              <a:latin typeface="Helvetica Neue"/>
              <a:ea typeface="Helvetica Neue"/>
              <a:cs typeface="Helvetica Neue"/>
              <a:sym typeface="Helvetica Neue"/>
            </a:endParaRPr>
          </a:p>
        </p:txBody>
      </p:sp>
      <p:sp>
        <p:nvSpPr>
          <p:cNvPr id="120" name="Google Shape;120;p7"/>
          <p:cNvSpPr/>
          <p:nvPr/>
        </p:nvSpPr>
        <p:spPr>
          <a:xfrm>
            <a:off x="771525" y="1880220"/>
            <a:ext cx="12172950" cy="35049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21" name="Google Shape;121;p7"/>
          <p:cNvSpPr/>
          <p:nvPr/>
        </p:nvSpPr>
        <p:spPr>
          <a:xfrm>
            <a:off x="923925" y="1956420"/>
            <a:ext cx="12233338" cy="236190"/>
          </a:xfrm>
          <a:prstGeom prst="rect">
            <a:avLst/>
          </a:prstGeom>
          <a:noFill/>
          <a:ln>
            <a:noFill/>
          </a:ln>
        </p:spPr>
        <p:txBody>
          <a:bodyPr spcFirstLastPara="1" wrap="square" lIns="25400" tIns="25400" rIns="25400" bIns="25400" anchor="ctr"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Writing code</a:t>
            </a:r>
            <a:endParaRPr sz="1200" i="0" u="none" strike="noStrike" cap="none">
              <a:solidFill>
                <a:schemeClr val="dk1"/>
              </a:solidFill>
              <a:latin typeface="Helvetica Neue"/>
              <a:ea typeface="Helvetica Neue"/>
              <a:cs typeface="Helvetica Neue"/>
              <a:sym typeface="Helvetica Neue"/>
            </a:endParaRPr>
          </a:p>
        </p:txBody>
      </p:sp>
      <p:sp>
        <p:nvSpPr>
          <p:cNvPr id="122" name="Google Shape;122;p7"/>
          <p:cNvSpPr/>
          <p:nvPr/>
        </p:nvSpPr>
        <p:spPr>
          <a:xfrm>
            <a:off x="771525" y="2995538"/>
            <a:ext cx="5417418"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23" name="Google Shape;123;p7"/>
          <p:cNvSpPr/>
          <p:nvPr/>
        </p:nvSpPr>
        <p:spPr>
          <a:xfrm>
            <a:off x="923925" y="2335485"/>
            <a:ext cx="5275141" cy="593378"/>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Finish a function you already started</a:t>
            </a:r>
            <a:endParaRPr sz="1575" i="0" u="none" strike="noStrike" cap="none">
              <a:solidFill>
                <a:schemeClr val="dk1"/>
              </a:solidFill>
              <a:latin typeface="Helvetica Neue"/>
              <a:ea typeface="Helvetica Neue"/>
              <a:cs typeface="Helvetica Neue"/>
              <a:sym typeface="Helvetica Neue"/>
            </a:endParaRPr>
          </a:p>
        </p:txBody>
      </p:sp>
      <p:sp>
        <p:nvSpPr>
          <p:cNvPr id="124" name="Google Shape;124;p7"/>
          <p:cNvSpPr/>
          <p:nvPr/>
        </p:nvSpPr>
        <p:spPr>
          <a:xfrm>
            <a:off x="6188943" y="2995538"/>
            <a:ext cx="322629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25" name="Google Shape;125;p7"/>
          <p:cNvSpPr/>
          <p:nvPr/>
        </p:nvSpPr>
        <p:spPr>
          <a:xfrm>
            <a:off x="6341343" y="2335485"/>
            <a:ext cx="3018285" cy="593378"/>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Copilot</a:t>
            </a:r>
            <a:endParaRPr sz="1575" i="0" u="none" strike="noStrike" cap="none">
              <a:solidFill>
                <a:schemeClr val="dk1"/>
              </a:solidFill>
              <a:latin typeface="Helvetica Neue"/>
              <a:ea typeface="Helvetica Neue"/>
              <a:cs typeface="Helvetica Neue"/>
              <a:sym typeface="Helvetica Neue"/>
            </a:endParaRPr>
          </a:p>
        </p:txBody>
      </p:sp>
      <p:sp>
        <p:nvSpPr>
          <p:cNvPr id="126" name="Google Shape;126;p7"/>
          <p:cNvSpPr/>
          <p:nvPr/>
        </p:nvSpPr>
        <p:spPr>
          <a:xfrm>
            <a:off x="9415239" y="2995538"/>
            <a:ext cx="352923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27" name="Google Shape;127;p7"/>
          <p:cNvSpPr/>
          <p:nvPr/>
        </p:nvSpPr>
        <p:spPr>
          <a:xfrm>
            <a:off x="9567639" y="2335485"/>
            <a:ext cx="3330313" cy="593378"/>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It already has the surrounding code</a:t>
            </a:r>
            <a:endParaRPr sz="1575" i="0" u="none" strike="noStrike" cap="none">
              <a:solidFill>
                <a:schemeClr val="dk1"/>
              </a:solidFill>
              <a:latin typeface="Helvetica Neue"/>
              <a:ea typeface="Helvetica Neue"/>
              <a:cs typeface="Helvetica Neue"/>
              <a:sym typeface="Helvetica Neue"/>
            </a:endParaRPr>
          </a:p>
        </p:txBody>
      </p:sp>
      <p:sp>
        <p:nvSpPr>
          <p:cNvPr id="128" name="Google Shape;128;p7"/>
          <p:cNvSpPr/>
          <p:nvPr/>
        </p:nvSpPr>
        <p:spPr>
          <a:xfrm>
            <a:off x="771525" y="3774653"/>
            <a:ext cx="5417418"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29" name="Google Shape;129;p7"/>
          <p:cNvSpPr/>
          <p:nvPr/>
        </p:nvSpPr>
        <p:spPr>
          <a:xfrm>
            <a:off x="923925" y="3109838"/>
            <a:ext cx="5275141" cy="598140"/>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Generate firmware for a connected board</a:t>
            </a:r>
            <a:endParaRPr sz="1575" i="0" u="none" strike="noStrike" cap="none">
              <a:solidFill>
                <a:schemeClr val="dk1"/>
              </a:solidFill>
              <a:latin typeface="Helvetica Neue"/>
              <a:ea typeface="Helvetica Neue"/>
              <a:cs typeface="Helvetica Neue"/>
              <a:sym typeface="Helvetica Neue"/>
            </a:endParaRPr>
          </a:p>
        </p:txBody>
      </p:sp>
      <p:sp>
        <p:nvSpPr>
          <p:cNvPr id="130" name="Google Shape;130;p7"/>
          <p:cNvSpPr/>
          <p:nvPr/>
        </p:nvSpPr>
        <p:spPr>
          <a:xfrm>
            <a:off x="6188943" y="3774653"/>
            <a:ext cx="322629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31" name="Google Shape;131;p7"/>
          <p:cNvSpPr/>
          <p:nvPr/>
        </p:nvSpPr>
        <p:spPr>
          <a:xfrm>
            <a:off x="6341343" y="3109838"/>
            <a:ext cx="3018285" cy="598140"/>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Workspace AI</a:t>
            </a:r>
            <a:endParaRPr sz="1575" i="0" u="none" strike="noStrike" cap="none">
              <a:solidFill>
                <a:schemeClr val="dk1"/>
              </a:solidFill>
              <a:latin typeface="Helvetica Neue"/>
              <a:ea typeface="Helvetica Neue"/>
              <a:cs typeface="Helvetica Neue"/>
              <a:sym typeface="Helvetica Neue"/>
            </a:endParaRPr>
          </a:p>
        </p:txBody>
      </p:sp>
      <p:sp>
        <p:nvSpPr>
          <p:cNvPr id="132" name="Google Shape;132;p7"/>
          <p:cNvSpPr/>
          <p:nvPr/>
        </p:nvSpPr>
        <p:spPr>
          <a:xfrm>
            <a:off x="9415239" y="3774653"/>
            <a:ext cx="352923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33" name="Google Shape;133;p7"/>
          <p:cNvSpPr/>
          <p:nvPr/>
        </p:nvSpPr>
        <p:spPr>
          <a:xfrm>
            <a:off x="9567639" y="3109838"/>
            <a:ext cx="3330313" cy="598140"/>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Only it runs our compilation toolchain</a:t>
            </a:r>
            <a:endParaRPr sz="1575" i="0" u="none" strike="noStrike" cap="none">
              <a:solidFill>
                <a:schemeClr val="dk1"/>
              </a:solidFill>
              <a:latin typeface="Helvetica Neue"/>
              <a:ea typeface="Helvetica Neue"/>
              <a:cs typeface="Helvetica Neue"/>
              <a:sym typeface="Helvetica Neue"/>
            </a:endParaRPr>
          </a:p>
        </p:txBody>
      </p:sp>
      <p:sp>
        <p:nvSpPr>
          <p:cNvPr id="134" name="Google Shape;134;p7"/>
          <p:cNvSpPr/>
          <p:nvPr/>
        </p:nvSpPr>
        <p:spPr>
          <a:xfrm>
            <a:off x="771525" y="3784178"/>
            <a:ext cx="12172950" cy="355253"/>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35" name="Google Shape;135;p7"/>
          <p:cNvSpPr/>
          <p:nvPr/>
        </p:nvSpPr>
        <p:spPr>
          <a:xfrm>
            <a:off x="923925" y="3860378"/>
            <a:ext cx="12233338" cy="240953"/>
          </a:xfrm>
          <a:prstGeom prst="rect">
            <a:avLst/>
          </a:prstGeom>
          <a:noFill/>
          <a:ln>
            <a:noFill/>
          </a:ln>
        </p:spPr>
        <p:txBody>
          <a:bodyPr spcFirstLastPara="1" wrap="square" lIns="25400" tIns="25400" rIns="25400" bIns="25400" anchor="ctr"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Understanding &amp; debugging</a:t>
            </a:r>
            <a:endParaRPr sz="1200" i="0" u="none" strike="noStrike" cap="none">
              <a:solidFill>
                <a:schemeClr val="dk1"/>
              </a:solidFill>
              <a:latin typeface="Helvetica Neue"/>
              <a:ea typeface="Helvetica Neue"/>
              <a:cs typeface="Helvetica Neue"/>
              <a:sym typeface="Helvetica Neue"/>
            </a:endParaRPr>
          </a:p>
        </p:txBody>
      </p:sp>
      <p:sp>
        <p:nvSpPr>
          <p:cNvPr id="136" name="Google Shape;136;p7"/>
          <p:cNvSpPr/>
          <p:nvPr/>
        </p:nvSpPr>
        <p:spPr>
          <a:xfrm>
            <a:off x="771525" y="4904259"/>
            <a:ext cx="5417418"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37" name="Google Shape;137;p7"/>
          <p:cNvSpPr/>
          <p:nvPr/>
        </p:nvSpPr>
        <p:spPr>
          <a:xfrm>
            <a:off x="923925" y="4244206"/>
            <a:ext cx="5275141" cy="593378"/>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Make sense of a compiler error</a:t>
            </a:r>
            <a:endParaRPr sz="1575" i="0" u="none" strike="noStrike" cap="none">
              <a:solidFill>
                <a:schemeClr val="dk1"/>
              </a:solidFill>
              <a:latin typeface="Helvetica Neue"/>
              <a:ea typeface="Helvetica Neue"/>
              <a:cs typeface="Helvetica Neue"/>
              <a:sym typeface="Helvetica Neue"/>
            </a:endParaRPr>
          </a:p>
        </p:txBody>
      </p:sp>
      <p:sp>
        <p:nvSpPr>
          <p:cNvPr id="138" name="Google Shape;138;p7"/>
          <p:cNvSpPr/>
          <p:nvPr/>
        </p:nvSpPr>
        <p:spPr>
          <a:xfrm>
            <a:off x="6188943" y="4904259"/>
            <a:ext cx="322629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39" name="Google Shape;139;p7"/>
          <p:cNvSpPr/>
          <p:nvPr/>
        </p:nvSpPr>
        <p:spPr>
          <a:xfrm>
            <a:off x="6341343" y="4244206"/>
            <a:ext cx="3018285" cy="593378"/>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ChatGPT</a:t>
            </a:r>
            <a:endParaRPr sz="1575" i="0" u="none" strike="noStrike" cap="none">
              <a:solidFill>
                <a:schemeClr val="dk1"/>
              </a:solidFill>
              <a:latin typeface="Helvetica Neue"/>
              <a:ea typeface="Helvetica Neue"/>
              <a:cs typeface="Helvetica Neue"/>
              <a:sym typeface="Helvetica Neue"/>
            </a:endParaRPr>
          </a:p>
        </p:txBody>
      </p:sp>
      <p:sp>
        <p:nvSpPr>
          <p:cNvPr id="140" name="Google Shape;140;p7"/>
          <p:cNvSpPr/>
          <p:nvPr/>
        </p:nvSpPr>
        <p:spPr>
          <a:xfrm>
            <a:off x="9415239" y="4904259"/>
            <a:ext cx="352923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41" name="Google Shape;141;p7"/>
          <p:cNvSpPr/>
          <p:nvPr/>
        </p:nvSpPr>
        <p:spPr>
          <a:xfrm>
            <a:off x="9567639" y="4244206"/>
            <a:ext cx="3330313" cy="593378"/>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The explanation matters more than the code</a:t>
            </a:r>
            <a:endParaRPr sz="1575" i="0" u="none" strike="noStrike" cap="none">
              <a:solidFill>
                <a:schemeClr val="dk1"/>
              </a:solidFill>
              <a:latin typeface="Helvetica Neue"/>
              <a:ea typeface="Helvetica Neue"/>
              <a:cs typeface="Helvetica Neue"/>
              <a:sym typeface="Helvetica Neue"/>
            </a:endParaRPr>
          </a:p>
        </p:txBody>
      </p:sp>
      <p:sp>
        <p:nvSpPr>
          <p:cNvPr id="142" name="Google Shape;142;p7"/>
          <p:cNvSpPr/>
          <p:nvPr/>
        </p:nvSpPr>
        <p:spPr>
          <a:xfrm>
            <a:off x="771525" y="5683374"/>
            <a:ext cx="5417418"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43" name="Google Shape;143;p7"/>
          <p:cNvSpPr/>
          <p:nvPr/>
        </p:nvSpPr>
        <p:spPr>
          <a:xfrm>
            <a:off x="923925" y="5018559"/>
            <a:ext cx="5275141" cy="598140"/>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Compare two temperature sensors</a:t>
            </a:r>
            <a:endParaRPr sz="1575" i="0" u="none" strike="noStrike" cap="none">
              <a:solidFill>
                <a:schemeClr val="dk1"/>
              </a:solidFill>
              <a:latin typeface="Helvetica Neue"/>
              <a:ea typeface="Helvetica Neue"/>
              <a:cs typeface="Helvetica Neue"/>
              <a:sym typeface="Helvetica Neue"/>
            </a:endParaRPr>
          </a:p>
        </p:txBody>
      </p:sp>
      <p:sp>
        <p:nvSpPr>
          <p:cNvPr id="144" name="Google Shape;144;p7"/>
          <p:cNvSpPr/>
          <p:nvPr/>
        </p:nvSpPr>
        <p:spPr>
          <a:xfrm>
            <a:off x="6188943" y="5683374"/>
            <a:ext cx="322629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45" name="Google Shape;145;p7"/>
          <p:cNvSpPr/>
          <p:nvPr/>
        </p:nvSpPr>
        <p:spPr>
          <a:xfrm>
            <a:off x="6341343" y="5018559"/>
            <a:ext cx="3018285" cy="598140"/>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ChatGPT</a:t>
            </a:r>
            <a:endParaRPr sz="1575" i="0" u="none" strike="noStrike" cap="none">
              <a:solidFill>
                <a:schemeClr val="dk1"/>
              </a:solidFill>
              <a:latin typeface="Helvetica Neue"/>
              <a:ea typeface="Helvetica Neue"/>
              <a:cs typeface="Helvetica Neue"/>
              <a:sym typeface="Helvetica Neue"/>
            </a:endParaRPr>
          </a:p>
        </p:txBody>
      </p:sp>
      <p:sp>
        <p:nvSpPr>
          <p:cNvPr id="146" name="Google Shape;146;p7"/>
          <p:cNvSpPr/>
          <p:nvPr/>
        </p:nvSpPr>
        <p:spPr>
          <a:xfrm>
            <a:off x="9415239" y="5683374"/>
            <a:ext cx="352923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47" name="Google Shape;147;p7"/>
          <p:cNvSpPr/>
          <p:nvPr/>
        </p:nvSpPr>
        <p:spPr>
          <a:xfrm>
            <a:off x="9567639" y="5018559"/>
            <a:ext cx="3330313" cy="598140"/>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Open question, no project context needed</a:t>
            </a:r>
            <a:endParaRPr sz="1575" i="0" u="none" strike="noStrike" cap="none">
              <a:solidFill>
                <a:schemeClr val="dk1"/>
              </a:solidFill>
              <a:latin typeface="Helvetica Neue"/>
              <a:ea typeface="Helvetica Neue"/>
              <a:cs typeface="Helvetica Neue"/>
              <a:sym typeface="Helvetica Neue"/>
            </a:endParaRPr>
          </a:p>
        </p:txBody>
      </p:sp>
      <p:sp>
        <p:nvSpPr>
          <p:cNvPr id="148" name="Google Shape;148;p7"/>
          <p:cNvSpPr/>
          <p:nvPr/>
        </p:nvSpPr>
        <p:spPr>
          <a:xfrm>
            <a:off x="771525" y="5692899"/>
            <a:ext cx="12172950" cy="355253"/>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49" name="Google Shape;149;p7"/>
          <p:cNvSpPr/>
          <p:nvPr/>
        </p:nvSpPr>
        <p:spPr>
          <a:xfrm>
            <a:off x="923925" y="5769099"/>
            <a:ext cx="12233338" cy="240953"/>
          </a:xfrm>
          <a:prstGeom prst="rect">
            <a:avLst/>
          </a:prstGeom>
          <a:noFill/>
          <a:ln>
            <a:noFill/>
          </a:ln>
        </p:spPr>
        <p:txBody>
          <a:bodyPr spcFirstLastPara="1" wrap="square" lIns="25400" tIns="25400" rIns="25400" bIns="25400" anchor="ctr"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Documentation</a:t>
            </a:r>
            <a:endParaRPr sz="1200" i="0" u="none" strike="noStrike" cap="none">
              <a:solidFill>
                <a:schemeClr val="dk1"/>
              </a:solidFill>
              <a:latin typeface="Helvetica Neue"/>
              <a:ea typeface="Helvetica Neue"/>
              <a:cs typeface="Helvetica Neue"/>
              <a:sym typeface="Helvetica Neue"/>
            </a:endParaRPr>
          </a:p>
        </p:txBody>
      </p:sp>
      <p:sp>
        <p:nvSpPr>
          <p:cNvPr id="150" name="Google Shape;150;p7"/>
          <p:cNvSpPr/>
          <p:nvPr/>
        </p:nvSpPr>
        <p:spPr>
          <a:xfrm>
            <a:off x="771525" y="6812979"/>
            <a:ext cx="5417418"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51" name="Google Shape;151;p7"/>
          <p:cNvSpPr/>
          <p:nvPr/>
        </p:nvSpPr>
        <p:spPr>
          <a:xfrm>
            <a:off x="923925" y="6152927"/>
            <a:ext cx="5275141" cy="593378"/>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Draft the README for a project</a:t>
            </a:r>
            <a:endParaRPr sz="1575" i="0" u="none" strike="noStrike" cap="none">
              <a:solidFill>
                <a:schemeClr val="dk1"/>
              </a:solidFill>
              <a:latin typeface="Helvetica Neue"/>
              <a:ea typeface="Helvetica Neue"/>
              <a:cs typeface="Helvetica Neue"/>
              <a:sym typeface="Helvetica Neue"/>
            </a:endParaRPr>
          </a:p>
        </p:txBody>
      </p:sp>
      <p:sp>
        <p:nvSpPr>
          <p:cNvPr id="152" name="Google Shape;152;p7"/>
          <p:cNvSpPr/>
          <p:nvPr/>
        </p:nvSpPr>
        <p:spPr>
          <a:xfrm>
            <a:off x="6188943" y="6812979"/>
            <a:ext cx="322629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53" name="Google Shape;153;p7"/>
          <p:cNvSpPr/>
          <p:nvPr/>
        </p:nvSpPr>
        <p:spPr>
          <a:xfrm>
            <a:off x="6341343" y="6152927"/>
            <a:ext cx="3018285" cy="593378"/>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Workspace AI</a:t>
            </a:r>
            <a:endParaRPr sz="1575" i="0" u="none" strike="noStrike" cap="none">
              <a:solidFill>
                <a:schemeClr val="dk1"/>
              </a:solidFill>
              <a:latin typeface="Helvetica Neue"/>
              <a:ea typeface="Helvetica Neue"/>
              <a:cs typeface="Helvetica Neue"/>
              <a:sym typeface="Helvetica Neue"/>
            </a:endParaRPr>
          </a:p>
        </p:txBody>
      </p:sp>
      <p:sp>
        <p:nvSpPr>
          <p:cNvPr id="154" name="Google Shape;154;p7"/>
          <p:cNvSpPr/>
          <p:nvPr/>
        </p:nvSpPr>
        <p:spPr>
          <a:xfrm>
            <a:off x="9415239" y="6812979"/>
            <a:ext cx="3529236"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55" name="Google Shape;155;p7"/>
          <p:cNvSpPr/>
          <p:nvPr/>
        </p:nvSpPr>
        <p:spPr>
          <a:xfrm>
            <a:off x="9567639" y="6152927"/>
            <a:ext cx="3330313" cy="593378"/>
          </a:xfrm>
          <a:prstGeom prst="rect">
            <a:avLst/>
          </a:prstGeom>
          <a:noFill/>
          <a:ln>
            <a:noFill/>
          </a:ln>
        </p:spPr>
        <p:txBody>
          <a:bodyPr spcFirstLastPara="1" wrap="square" lIns="25400" tIns="25400" rIns="25400" bIns="25400" anchor="ctr"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It can read the real pin map and part list</a:t>
            </a:r>
            <a:endParaRPr sz="1575" i="0" u="none" strike="noStrike" cap="none">
              <a:solidFill>
                <a:schemeClr val="dk1"/>
              </a:solidFill>
              <a:latin typeface="Helvetica Neue"/>
              <a:ea typeface="Helvetica Neue"/>
              <a:cs typeface="Helvetica Neue"/>
              <a:sym typeface="Helvetica Neue"/>
            </a:endParaRPr>
          </a:p>
        </p:txBody>
      </p:sp>
      <p:sp>
        <p:nvSpPr>
          <p:cNvPr id="156" name="Google Shape;156;p7"/>
          <p:cNvSpPr/>
          <p:nvPr/>
        </p:nvSpPr>
        <p:spPr>
          <a:xfrm>
            <a:off x="13189818" y="209550"/>
            <a:ext cx="1737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5</a:t>
            </a:r>
            <a:endParaRPr sz="1200" i="0" u="none" strike="noStrike" cap="none">
              <a:solidFill>
                <a:schemeClr val="dk1"/>
              </a:solidFill>
              <a:latin typeface="Helvetica Neue"/>
              <a:ea typeface="Helvetica Neue"/>
              <a:cs typeface="Helvetica Neue"/>
              <a:sym typeface="Helvetica Neue"/>
            </a:endParaRPr>
          </a:p>
        </p:txBody>
      </p:sp>
      <p:sp>
        <p:nvSpPr>
          <p:cNvPr id="157" name="Google Shape;157;p7"/>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162"/>
        <p:cNvGrpSpPr/>
        <p:nvPr/>
      </p:nvGrpSpPr>
      <p:grpSpPr>
        <a:xfrm>
          <a:off x="0" y="0"/>
          <a:ext cx="0" cy="0"/>
          <a:chOff x="0" y="0"/>
          <a:chExt cx="0" cy="0"/>
        </a:xfrm>
      </p:grpSpPr>
      <p:sp>
        <p:nvSpPr>
          <p:cNvPr id="163" name="Google Shape;163;p8"/>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771525" y="428625"/>
            <a:ext cx="7330321"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Anatomy of a Prompt</a:t>
            </a:r>
            <a:endParaRPr sz="1800" i="0" u="none" strike="noStrike" cap="none">
              <a:solidFill>
                <a:schemeClr val="dk1"/>
              </a:solidFill>
              <a:latin typeface="Helvetica Neue"/>
              <a:ea typeface="Helvetica Neue"/>
              <a:cs typeface="Helvetica Neue"/>
              <a:sym typeface="Helvetica Neue"/>
            </a:endParaRPr>
          </a:p>
        </p:txBody>
      </p:sp>
      <p:sp>
        <p:nvSpPr>
          <p:cNvPr id="165" name="Google Shape;165;p8"/>
          <p:cNvSpPr/>
          <p:nvPr/>
        </p:nvSpPr>
        <p:spPr>
          <a:xfrm>
            <a:off x="771525" y="817215"/>
            <a:ext cx="7330321"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Role, Goal, Context. Then the details.</a:t>
            </a:r>
            <a:endParaRPr sz="3150" i="0" u="none" strike="noStrike" cap="none">
              <a:solidFill>
                <a:schemeClr val="dk1"/>
              </a:solidFill>
              <a:latin typeface="Helvetica Neue"/>
              <a:ea typeface="Helvetica Neue"/>
              <a:cs typeface="Helvetica Neue"/>
              <a:sym typeface="Helvetica Neue"/>
            </a:endParaRPr>
          </a:p>
        </p:txBody>
      </p:sp>
      <p:sp>
        <p:nvSpPr>
          <p:cNvPr id="166" name="Google Shape;166;p8"/>
          <p:cNvSpPr/>
          <p:nvPr/>
        </p:nvSpPr>
        <p:spPr>
          <a:xfrm>
            <a:off x="6829425" y="2095500"/>
            <a:ext cx="9525" cy="4667250"/>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67" name="Google Shape;167;p8"/>
          <p:cNvSpPr/>
          <p:nvPr/>
        </p:nvSpPr>
        <p:spPr>
          <a:xfrm>
            <a:off x="771525" y="1866900"/>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68" name="Google Shape;168;p8"/>
          <p:cNvSpPr/>
          <p:nvPr/>
        </p:nvSpPr>
        <p:spPr>
          <a:xfrm>
            <a:off x="771525" y="2019300"/>
            <a:ext cx="1504950"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Role</a:t>
            </a:r>
            <a:endParaRPr sz="1575" i="0" u="none" strike="noStrike" cap="none">
              <a:solidFill>
                <a:schemeClr val="dk1"/>
              </a:solidFill>
              <a:latin typeface="Helvetica Neue"/>
              <a:ea typeface="Helvetica Neue"/>
              <a:cs typeface="Helvetica Neue"/>
              <a:sym typeface="Helvetica Neue"/>
            </a:endParaRPr>
          </a:p>
        </p:txBody>
      </p:sp>
      <p:sp>
        <p:nvSpPr>
          <p:cNvPr id="169" name="Google Shape;169;p8"/>
          <p:cNvSpPr/>
          <p:nvPr/>
        </p:nvSpPr>
        <p:spPr>
          <a:xfrm>
            <a:off x="2505075" y="2019300"/>
            <a:ext cx="3708464"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Who the AI should act as, and who it is writing for.</a:t>
            </a:r>
            <a:endParaRPr sz="1575" i="0" u="none" strike="noStrike" cap="none">
              <a:solidFill>
                <a:schemeClr val="dk1"/>
              </a:solidFill>
              <a:latin typeface="Helvetica Neue"/>
              <a:ea typeface="Helvetica Neue"/>
              <a:cs typeface="Helvetica Neue"/>
              <a:sym typeface="Helvetica Neue"/>
            </a:endParaRPr>
          </a:p>
        </p:txBody>
      </p:sp>
      <p:sp>
        <p:nvSpPr>
          <p:cNvPr id="170" name="Google Shape;170;p8"/>
          <p:cNvSpPr/>
          <p:nvPr/>
        </p:nvSpPr>
        <p:spPr>
          <a:xfrm>
            <a:off x="771525" y="2722215"/>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71" name="Google Shape;171;p8"/>
          <p:cNvSpPr/>
          <p:nvPr/>
        </p:nvSpPr>
        <p:spPr>
          <a:xfrm>
            <a:off x="771525" y="2874615"/>
            <a:ext cx="1504950"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Goal</a:t>
            </a:r>
            <a:endParaRPr sz="1575" i="0" u="none" strike="noStrike" cap="none">
              <a:solidFill>
                <a:schemeClr val="dk1"/>
              </a:solidFill>
              <a:latin typeface="Helvetica Neue"/>
              <a:ea typeface="Helvetica Neue"/>
              <a:cs typeface="Helvetica Neue"/>
              <a:sym typeface="Helvetica Neue"/>
            </a:endParaRPr>
          </a:p>
        </p:txBody>
      </p:sp>
      <p:sp>
        <p:nvSpPr>
          <p:cNvPr id="172" name="Google Shape;172;p8"/>
          <p:cNvSpPr/>
          <p:nvPr/>
        </p:nvSpPr>
        <p:spPr>
          <a:xfrm>
            <a:off x="2505075" y="2874615"/>
            <a:ext cx="3708464"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One outcome, stated as a verb. Not two.</a:t>
            </a:r>
            <a:endParaRPr sz="1575" i="0" u="none" strike="noStrike" cap="none">
              <a:solidFill>
                <a:schemeClr val="dk1"/>
              </a:solidFill>
              <a:latin typeface="Helvetica Neue"/>
              <a:ea typeface="Helvetica Neue"/>
              <a:cs typeface="Helvetica Neue"/>
              <a:sym typeface="Helvetica Neue"/>
            </a:endParaRPr>
          </a:p>
        </p:txBody>
      </p:sp>
      <p:sp>
        <p:nvSpPr>
          <p:cNvPr id="173" name="Google Shape;173;p8"/>
          <p:cNvSpPr/>
          <p:nvPr/>
        </p:nvSpPr>
        <p:spPr>
          <a:xfrm>
            <a:off x="771525" y="3577530"/>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74" name="Google Shape;174;p8"/>
          <p:cNvSpPr/>
          <p:nvPr/>
        </p:nvSpPr>
        <p:spPr>
          <a:xfrm>
            <a:off x="771525" y="3729930"/>
            <a:ext cx="1504950"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B57946"/>
              </a:buClr>
              <a:buSzPts val="1575"/>
              <a:buFont typeface="Arial"/>
              <a:buNone/>
            </a:pPr>
            <a:r>
              <a:rPr lang="en-US" sz="1575" b="1" i="0" u="none" strike="noStrike" cap="none">
                <a:solidFill>
                  <a:srgbClr val="B57946"/>
                </a:solidFill>
                <a:latin typeface="Helvetica Neue"/>
                <a:ea typeface="Helvetica Neue"/>
                <a:cs typeface="Helvetica Neue"/>
                <a:sym typeface="Helvetica Neue"/>
              </a:rPr>
              <a:t>Context</a:t>
            </a:r>
            <a:endParaRPr sz="1575" i="0" u="none" strike="noStrike" cap="none">
              <a:solidFill>
                <a:schemeClr val="dk1"/>
              </a:solidFill>
              <a:latin typeface="Helvetica Neue"/>
              <a:ea typeface="Helvetica Neue"/>
              <a:cs typeface="Helvetica Neue"/>
              <a:sym typeface="Helvetica Neue"/>
            </a:endParaRPr>
          </a:p>
        </p:txBody>
      </p:sp>
      <p:sp>
        <p:nvSpPr>
          <p:cNvPr id="175" name="Google Shape;175;p8"/>
          <p:cNvSpPr/>
          <p:nvPr/>
        </p:nvSpPr>
        <p:spPr>
          <a:xfrm>
            <a:off x="2505075" y="3729930"/>
            <a:ext cx="3708464"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The board, the chip, the language, what you already tried.</a:t>
            </a:r>
            <a:endParaRPr sz="1575" i="0" u="none" strike="noStrike" cap="none">
              <a:solidFill>
                <a:schemeClr val="dk1"/>
              </a:solidFill>
              <a:latin typeface="Helvetica Neue"/>
              <a:ea typeface="Helvetica Neue"/>
              <a:cs typeface="Helvetica Neue"/>
              <a:sym typeface="Helvetica Neue"/>
            </a:endParaRPr>
          </a:p>
        </p:txBody>
      </p:sp>
      <p:sp>
        <p:nvSpPr>
          <p:cNvPr id="176" name="Google Shape;176;p8"/>
          <p:cNvSpPr/>
          <p:nvPr/>
        </p:nvSpPr>
        <p:spPr>
          <a:xfrm>
            <a:off x="771525" y="4432846"/>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77" name="Google Shape;177;p8"/>
          <p:cNvSpPr/>
          <p:nvPr/>
        </p:nvSpPr>
        <p:spPr>
          <a:xfrm>
            <a:off x="771525" y="4585246"/>
            <a:ext cx="1504950"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b="1" i="0" u="none" strike="noStrike" cap="none">
                <a:solidFill>
                  <a:srgbClr val="76706C"/>
                </a:solidFill>
                <a:latin typeface="Helvetica Neue"/>
                <a:ea typeface="Helvetica Neue"/>
                <a:cs typeface="Helvetica Neue"/>
                <a:sym typeface="Helvetica Neue"/>
              </a:rPr>
              <a:t>Constraints</a:t>
            </a:r>
            <a:endParaRPr sz="1575" i="0" u="none" strike="noStrike" cap="none">
              <a:solidFill>
                <a:schemeClr val="dk1"/>
              </a:solidFill>
              <a:latin typeface="Helvetica Neue"/>
              <a:ea typeface="Helvetica Neue"/>
              <a:cs typeface="Helvetica Neue"/>
              <a:sym typeface="Helvetica Neue"/>
            </a:endParaRPr>
          </a:p>
        </p:txBody>
      </p:sp>
      <p:sp>
        <p:nvSpPr>
          <p:cNvPr id="178" name="Google Shape;178;p8"/>
          <p:cNvSpPr/>
          <p:nvPr/>
        </p:nvSpPr>
        <p:spPr>
          <a:xfrm>
            <a:off x="2505075" y="4585246"/>
            <a:ext cx="3708464"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Limits it must respect: memory, no libraries, no rewrite.</a:t>
            </a:r>
            <a:endParaRPr sz="1575" i="0" u="none" strike="noStrike" cap="none">
              <a:solidFill>
                <a:schemeClr val="dk1"/>
              </a:solidFill>
              <a:latin typeface="Helvetica Neue"/>
              <a:ea typeface="Helvetica Neue"/>
              <a:cs typeface="Helvetica Neue"/>
              <a:sym typeface="Helvetica Neue"/>
            </a:endParaRPr>
          </a:p>
        </p:txBody>
      </p:sp>
      <p:sp>
        <p:nvSpPr>
          <p:cNvPr id="179" name="Google Shape;179;p8"/>
          <p:cNvSpPr/>
          <p:nvPr/>
        </p:nvSpPr>
        <p:spPr>
          <a:xfrm>
            <a:off x="771525" y="5288161"/>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80" name="Google Shape;180;p8"/>
          <p:cNvSpPr/>
          <p:nvPr/>
        </p:nvSpPr>
        <p:spPr>
          <a:xfrm>
            <a:off x="771525" y="5440561"/>
            <a:ext cx="1504950"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b="1" i="0" u="none" strike="noStrike" cap="none">
                <a:solidFill>
                  <a:srgbClr val="76706C"/>
                </a:solidFill>
                <a:latin typeface="Helvetica Neue"/>
                <a:ea typeface="Helvetica Neue"/>
                <a:cs typeface="Helvetica Neue"/>
                <a:sym typeface="Helvetica Neue"/>
              </a:rPr>
              <a:t>Format</a:t>
            </a:r>
            <a:endParaRPr sz="1575" i="0" u="none" strike="noStrike" cap="none">
              <a:solidFill>
                <a:schemeClr val="dk1"/>
              </a:solidFill>
              <a:latin typeface="Helvetica Neue"/>
              <a:ea typeface="Helvetica Neue"/>
              <a:cs typeface="Helvetica Neue"/>
              <a:sym typeface="Helvetica Neue"/>
            </a:endParaRPr>
          </a:p>
        </p:txBody>
      </p:sp>
      <p:sp>
        <p:nvSpPr>
          <p:cNvPr id="181" name="Google Shape;181;p8"/>
          <p:cNvSpPr/>
          <p:nvPr/>
        </p:nvSpPr>
        <p:spPr>
          <a:xfrm>
            <a:off x="2505075" y="5440561"/>
            <a:ext cx="3708464"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Code only, a table, three bullet points.</a:t>
            </a:r>
            <a:endParaRPr sz="1575" i="0" u="none" strike="noStrike" cap="none">
              <a:solidFill>
                <a:schemeClr val="dk1"/>
              </a:solidFill>
              <a:latin typeface="Helvetica Neue"/>
              <a:ea typeface="Helvetica Neue"/>
              <a:cs typeface="Helvetica Neue"/>
              <a:sym typeface="Helvetica Neue"/>
            </a:endParaRPr>
          </a:p>
        </p:txBody>
      </p:sp>
      <p:sp>
        <p:nvSpPr>
          <p:cNvPr id="182" name="Google Shape;182;p8"/>
          <p:cNvSpPr/>
          <p:nvPr/>
        </p:nvSpPr>
        <p:spPr>
          <a:xfrm>
            <a:off x="771525" y="6998791"/>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83" name="Google Shape;183;p8"/>
          <p:cNvSpPr/>
          <p:nvPr/>
        </p:nvSpPr>
        <p:spPr>
          <a:xfrm>
            <a:off x="771525" y="6143476"/>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84" name="Google Shape;184;p8"/>
          <p:cNvSpPr/>
          <p:nvPr/>
        </p:nvSpPr>
        <p:spPr>
          <a:xfrm>
            <a:off x="771525" y="6295876"/>
            <a:ext cx="1504950"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b="1" i="0" u="none" strike="noStrike" cap="none">
                <a:solidFill>
                  <a:srgbClr val="76706C"/>
                </a:solidFill>
                <a:latin typeface="Helvetica Neue"/>
                <a:ea typeface="Helvetica Neue"/>
                <a:cs typeface="Helvetica Neue"/>
                <a:sym typeface="Helvetica Neue"/>
              </a:rPr>
              <a:t>Check</a:t>
            </a:r>
            <a:endParaRPr sz="1575" i="0" u="none" strike="noStrike" cap="none">
              <a:solidFill>
                <a:schemeClr val="dk1"/>
              </a:solidFill>
              <a:latin typeface="Helvetica Neue"/>
              <a:ea typeface="Helvetica Neue"/>
              <a:cs typeface="Helvetica Neue"/>
              <a:sym typeface="Helvetica Neue"/>
            </a:endParaRPr>
          </a:p>
        </p:txBody>
      </p:sp>
      <p:sp>
        <p:nvSpPr>
          <p:cNvPr id="185" name="Google Shape;185;p8"/>
          <p:cNvSpPr/>
          <p:nvPr/>
        </p:nvSpPr>
        <p:spPr>
          <a:xfrm>
            <a:off x="2505075" y="6295876"/>
            <a:ext cx="3708464"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How you will know the answer is right.</a:t>
            </a:r>
            <a:endParaRPr sz="1575" i="0" u="none" strike="noStrike" cap="none">
              <a:solidFill>
                <a:schemeClr val="dk1"/>
              </a:solidFill>
              <a:latin typeface="Helvetica Neue"/>
              <a:ea typeface="Helvetica Neue"/>
              <a:cs typeface="Helvetica Neue"/>
              <a:sym typeface="Helvetica Neue"/>
            </a:endParaRPr>
          </a:p>
        </p:txBody>
      </p:sp>
      <p:sp>
        <p:nvSpPr>
          <p:cNvPr id="186" name="Google Shape;186;p8"/>
          <p:cNvSpPr/>
          <p:nvPr/>
        </p:nvSpPr>
        <p:spPr>
          <a:xfrm>
            <a:off x="7524750" y="2095500"/>
            <a:ext cx="595122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ALL SIX, IN ONE PROMPT</a:t>
            </a:r>
            <a:endParaRPr sz="1350" i="0" u="none" strike="noStrike" cap="none">
              <a:solidFill>
                <a:schemeClr val="dk1"/>
              </a:solidFill>
              <a:latin typeface="Helvetica Neue"/>
              <a:ea typeface="Helvetica Neue"/>
              <a:cs typeface="Helvetica Neue"/>
              <a:sym typeface="Helvetica Neue"/>
            </a:endParaRPr>
          </a:p>
        </p:txBody>
      </p:sp>
      <p:sp>
        <p:nvSpPr>
          <p:cNvPr id="187" name="Google Shape;187;p8"/>
          <p:cNvSpPr/>
          <p:nvPr/>
        </p:nvSpPr>
        <p:spPr>
          <a:xfrm>
            <a:off x="7524750" y="2546970"/>
            <a:ext cx="5410200" cy="3320281"/>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88" name="Google Shape;188;p8"/>
          <p:cNvSpPr/>
          <p:nvPr/>
        </p:nvSpPr>
        <p:spPr>
          <a:xfrm>
            <a:off x="7829550" y="2851770"/>
            <a:ext cx="4944618" cy="115818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You are an embedded firmware engineer writing for a beginner. Write one C function that reads temperature and humidity from the DHT module on the INCIPE ― 1 board.</a:t>
            </a:r>
            <a:endParaRPr sz="1575" i="0" u="none" strike="noStrike" cap="none">
              <a:solidFill>
                <a:schemeClr val="dk1"/>
              </a:solidFill>
              <a:latin typeface="Helvetica Neue"/>
              <a:ea typeface="Helvetica Neue"/>
              <a:cs typeface="Helvetica Neue"/>
              <a:sym typeface="Helvetica Neue"/>
            </a:endParaRPr>
          </a:p>
        </p:txBody>
      </p:sp>
      <p:sp>
        <p:nvSpPr>
          <p:cNvPr id="189" name="Google Shape;189;p8"/>
          <p:cNvSpPr/>
          <p:nvPr/>
        </p:nvSpPr>
        <p:spPr>
          <a:xfrm>
            <a:off x="7829550" y="4162351"/>
            <a:ext cx="4944618" cy="1438201"/>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Use only the standard board library and no dynamic allocation. Return the code and a one-line comment per step, nothing else. Then tell me what a valid reading looks like so I can check it on the serial monitor.</a:t>
            </a:r>
            <a:endParaRPr sz="1575" i="0" u="none" strike="noStrike" cap="none">
              <a:solidFill>
                <a:schemeClr val="dk1"/>
              </a:solidFill>
              <a:latin typeface="Helvetica Neue"/>
              <a:ea typeface="Helvetica Neue"/>
              <a:cs typeface="Helvetica Neue"/>
              <a:sym typeface="Helvetica Neue"/>
            </a:endParaRPr>
          </a:p>
        </p:txBody>
      </p:sp>
      <p:sp>
        <p:nvSpPr>
          <p:cNvPr id="190" name="Google Shape;190;p8"/>
          <p:cNvSpPr/>
          <p:nvPr/>
        </p:nvSpPr>
        <p:spPr>
          <a:xfrm>
            <a:off x="7524750" y="6095851"/>
            <a:ext cx="5951220"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Three sentences. Every one of the six parts is in there.</a:t>
            </a:r>
            <a:endParaRPr sz="1200" i="0" u="none" strike="noStrike" cap="none">
              <a:solidFill>
                <a:schemeClr val="dk1"/>
              </a:solidFill>
              <a:latin typeface="Helvetica Neue"/>
              <a:ea typeface="Helvetica Neue"/>
              <a:cs typeface="Helvetica Neue"/>
              <a:sym typeface="Helvetica Neue"/>
            </a:endParaRPr>
          </a:p>
        </p:txBody>
      </p:sp>
      <p:sp>
        <p:nvSpPr>
          <p:cNvPr id="191" name="Google Shape;191;p8"/>
          <p:cNvSpPr/>
          <p:nvPr/>
        </p:nvSpPr>
        <p:spPr>
          <a:xfrm>
            <a:off x="13189818" y="209550"/>
            <a:ext cx="1737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Inter Tight"/>
                <a:ea typeface="Inter Tight"/>
                <a:cs typeface="Inter Tight"/>
                <a:sym typeface="Inter Tight"/>
              </a:rPr>
              <a:t>6</a:t>
            </a:r>
            <a:endParaRPr sz="1200" i="0" u="none" strike="noStrike" cap="none">
              <a:solidFill>
                <a:schemeClr val="dk1"/>
              </a:solidFill>
              <a:latin typeface="Inter Tight"/>
              <a:ea typeface="Inter Tight"/>
              <a:cs typeface="Inter Tight"/>
              <a:sym typeface="Inter Tight"/>
            </a:endParaRPr>
          </a:p>
        </p:txBody>
      </p:sp>
      <p:sp>
        <p:nvSpPr>
          <p:cNvPr id="192" name="Google Shape;192;p8"/>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197"/>
        <p:cNvGrpSpPr/>
        <p:nvPr/>
      </p:nvGrpSpPr>
      <p:grpSpPr>
        <a:xfrm>
          <a:off x="0" y="0"/>
          <a:ext cx="0" cy="0"/>
          <a:chOff x="0" y="0"/>
          <a:chExt cx="0" cy="0"/>
        </a:xfrm>
      </p:grpSpPr>
      <p:sp>
        <p:nvSpPr>
          <p:cNvPr id="198" name="Google Shape;198;p9"/>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a:off x="771525" y="428625"/>
            <a:ext cx="7338506"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Prompting for Coding</a:t>
            </a:r>
            <a:endParaRPr sz="1800" i="0" u="none" strike="noStrike" cap="none">
              <a:solidFill>
                <a:schemeClr val="dk1"/>
              </a:solidFill>
              <a:latin typeface="Helvetica Neue"/>
              <a:ea typeface="Helvetica Neue"/>
              <a:cs typeface="Helvetica Neue"/>
              <a:sym typeface="Helvetica Neue"/>
            </a:endParaRPr>
          </a:p>
        </p:txBody>
      </p:sp>
      <p:sp>
        <p:nvSpPr>
          <p:cNvPr id="200" name="Google Shape;200;p9"/>
          <p:cNvSpPr/>
          <p:nvPr/>
        </p:nvSpPr>
        <p:spPr>
          <a:xfrm>
            <a:off x="771525" y="817215"/>
            <a:ext cx="7338506"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Name the board, the pin and the limit.</a:t>
            </a:r>
            <a:endParaRPr sz="3150" i="0" u="none" strike="noStrike" cap="none">
              <a:solidFill>
                <a:schemeClr val="dk1"/>
              </a:solidFill>
              <a:latin typeface="Helvetica Neue"/>
              <a:ea typeface="Helvetica Neue"/>
              <a:cs typeface="Helvetica Neue"/>
              <a:sym typeface="Helvetica Neue"/>
            </a:endParaRPr>
          </a:p>
        </p:txBody>
      </p:sp>
      <p:sp>
        <p:nvSpPr>
          <p:cNvPr id="201" name="Google Shape;201;p9"/>
          <p:cNvSpPr/>
          <p:nvPr/>
        </p:nvSpPr>
        <p:spPr>
          <a:xfrm>
            <a:off x="6829425" y="2190750"/>
            <a:ext cx="9525" cy="4191000"/>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02" name="Google Shape;202;p9"/>
          <p:cNvSpPr/>
          <p:nvPr/>
        </p:nvSpPr>
        <p:spPr>
          <a:xfrm>
            <a:off x="771525" y="2190750"/>
            <a:ext cx="586740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76706C"/>
              </a:buClr>
              <a:buSzPts val="1350"/>
              <a:buFont typeface="Arial"/>
              <a:buNone/>
            </a:pPr>
            <a:r>
              <a:rPr lang="en-US" sz="1350" b="1" i="0" u="none" strike="noStrike" cap="none">
                <a:solidFill>
                  <a:srgbClr val="76706C"/>
                </a:solidFill>
                <a:latin typeface="Helvetica Neue"/>
                <a:ea typeface="Helvetica Neue"/>
                <a:cs typeface="Helvetica Neue"/>
                <a:sym typeface="Helvetica Neue"/>
              </a:rPr>
              <a:t>TOO VAGUE</a:t>
            </a:r>
            <a:endParaRPr sz="1350" i="0" u="none" strike="noStrike" cap="none">
              <a:solidFill>
                <a:schemeClr val="dk1"/>
              </a:solidFill>
              <a:latin typeface="Helvetica Neue"/>
              <a:ea typeface="Helvetica Neue"/>
              <a:cs typeface="Helvetica Neue"/>
              <a:sym typeface="Helvetica Neue"/>
            </a:endParaRPr>
          </a:p>
        </p:txBody>
      </p:sp>
      <p:sp>
        <p:nvSpPr>
          <p:cNvPr id="203" name="Google Shape;203;p9"/>
          <p:cNvSpPr/>
          <p:nvPr/>
        </p:nvSpPr>
        <p:spPr>
          <a:xfrm>
            <a:off x="771525" y="2642220"/>
            <a:ext cx="5334000" cy="889620"/>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04" name="Google Shape;204;p9"/>
          <p:cNvSpPr/>
          <p:nvPr/>
        </p:nvSpPr>
        <p:spPr>
          <a:xfrm>
            <a:off x="1076325" y="2947020"/>
            <a:ext cx="5196840"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Write code to read a temperature sensor.</a:t>
            </a:r>
            <a:endParaRPr sz="1575" i="0" u="none" strike="noStrike" cap="none">
              <a:solidFill>
                <a:schemeClr val="dk1"/>
              </a:solidFill>
              <a:latin typeface="Helvetica Neue"/>
              <a:ea typeface="Helvetica Neue"/>
              <a:cs typeface="Helvetica Neue"/>
              <a:sym typeface="Helvetica Neue"/>
            </a:endParaRPr>
          </a:p>
        </p:txBody>
      </p:sp>
      <p:sp>
        <p:nvSpPr>
          <p:cNvPr id="205" name="Google Shape;205;p9"/>
          <p:cNvSpPr/>
          <p:nvPr/>
        </p:nvSpPr>
        <p:spPr>
          <a:xfrm>
            <a:off x="771525" y="3760440"/>
            <a:ext cx="5494020" cy="87816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You get code for some sensor on some chip. It may not compile, and you cannot tell whether it is wrong or just different.</a:t>
            </a:r>
            <a:endParaRPr sz="1575" i="0" u="none" strike="noStrike" cap="none">
              <a:solidFill>
                <a:schemeClr val="dk1"/>
              </a:solidFill>
              <a:latin typeface="Helvetica Neue"/>
              <a:ea typeface="Helvetica Neue"/>
              <a:cs typeface="Helvetica Neue"/>
              <a:sym typeface="Helvetica Neue"/>
            </a:endParaRPr>
          </a:p>
        </p:txBody>
      </p:sp>
      <p:sp>
        <p:nvSpPr>
          <p:cNvPr id="206" name="Google Shape;206;p9"/>
          <p:cNvSpPr/>
          <p:nvPr/>
        </p:nvSpPr>
        <p:spPr>
          <a:xfrm>
            <a:off x="7524750" y="2190750"/>
            <a:ext cx="595122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SPECIFIC ENOUGH TO USE</a:t>
            </a:r>
            <a:endParaRPr sz="1350" i="0" u="none" strike="noStrike" cap="none">
              <a:solidFill>
                <a:schemeClr val="dk1"/>
              </a:solidFill>
              <a:latin typeface="Helvetica Neue"/>
              <a:ea typeface="Helvetica Neue"/>
              <a:cs typeface="Helvetica Neue"/>
              <a:sym typeface="Helvetica Neue"/>
            </a:endParaRPr>
          </a:p>
        </p:txBody>
      </p:sp>
      <p:sp>
        <p:nvSpPr>
          <p:cNvPr id="207" name="Google Shape;207;p9"/>
          <p:cNvSpPr/>
          <p:nvPr/>
        </p:nvSpPr>
        <p:spPr>
          <a:xfrm>
            <a:off x="7524750" y="2642220"/>
            <a:ext cx="5410200" cy="1729680"/>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08" name="Google Shape;208;p9"/>
          <p:cNvSpPr/>
          <p:nvPr/>
        </p:nvSpPr>
        <p:spPr>
          <a:xfrm>
            <a:off x="7829550" y="2947020"/>
            <a:ext cx="4944618" cy="115818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In C for the INCIPE ― 1 board, write a function that reads temperature and humidity from the DHT module. No dynamic allocation. Return a struct and handle a read timeout. Code only.</a:t>
            </a:r>
            <a:endParaRPr sz="1575" i="0" u="none" strike="noStrike" cap="none">
              <a:solidFill>
                <a:schemeClr val="dk1"/>
              </a:solidFill>
              <a:latin typeface="Helvetica Neue"/>
              <a:ea typeface="Helvetica Neue"/>
              <a:cs typeface="Helvetica Neue"/>
              <a:sym typeface="Helvetica Neue"/>
            </a:endParaRPr>
          </a:p>
        </p:txBody>
      </p:sp>
      <p:sp>
        <p:nvSpPr>
          <p:cNvPr id="209" name="Google Shape;209;p9"/>
          <p:cNvSpPr/>
          <p:nvPr/>
        </p:nvSpPr>
        <p:spPr>
          <a:xfrm>
            <a:off x="7524750" y="4600501"/>
            <a:ext cx="5572506"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You get code you can compile, flash and test in one pass.</a:t>
            </a:r>
            <a:endParaRPr sz="1575" i="0" u="none" strike="noStrike" cap="none">
              <a:solidFill>
                <a:schemeClr val="dk1"/>
              </a:solidFill>
              <a:latin typeface="Helvetica Neue"/>
              <a:ea typeface="Helvetica Neue"/>
              <a:cs typeface="Helvetica Neue"/>
              <a:sym typeface="Helvetica Neue"/>
            </a:endParaRPr>
          </a:p>
        </p:txBody>
      </p:sp>
      <p:sp>
        <p:nvSpPr>
          <p:cNvPr id="210" name="Google Shape;210;p9"/>
          <p:cNvSpPr/>
          <p:nvPr/>
        </p:nvSpPr>
        <p:spPr>
          <a:xfrm>
            <a:off x="13189818" y="209550"/>
            <a:ext cx="1737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Inter Tight"/>
                <a:ea typeface="Inter Tight"/>
                <a:cs typeface="Inter Tight"/>
                <a:sym typeface="Inter Tight"/>
              </a:rPr>
              <a:t>7</a:t>
            </a:r>
            <a:endParaRPr sz="1200" i="0" u="none" strike="noStrike" cap="none">
              <a:solidFill>
                <a:schemeClr val="dk1"/>
              </a:solidFill>
              <a:latin typeface="Inter Tight"/>
              <a:ea typeface="Inter Tight"/>
              <a:cs typeface="Inter Tight"/>
              <a:sym typeface="Inter Tight"/>
            </a:endParaRPr>
          </a:p>
        </p:txBody>
      </p:sp>
      <p:sp>
        <p:nvSpPr>
          <p:cNvPr id="211" name="Google Shape;211;p9"/>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216"/>
        <p:cNvGrpSpPr/>
        <p:nvPr/>
      </p:nvGrpSpPr>
      <p:grpSpPr>
        <a:xfrm>
          <a:off x="0" y="0"/>
          <a:ext cx="0" cy="0"/>
          <a:chOff x="0" y="0"/>
          <a:chExt cx="0" cy="0"/>
        </a:xfrm>
      </p:grpSpPr>
      <p:sp>
        <p:nvSpPr>
          <p:cNvPr id="217" name="Google Shape;217;p10"/>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0"/>
          <p:cNvSpPr/>
          <p:nvPr/>
        </p:nvSpPr>
        <p:spPr>
          <a:xfrm>
            <a:off x="771525" y="428625"/>
            <a:ext cx="7630731"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Prompting for Debugging</a:t>
            </a:r>
            <a:endParaRPr sz="1800" i="0" u="none" strike="noStrike" cap="none">
              <a:solidFill>
                <a:schemeClr val="dk1"/>
              </a:solidFill>
              <a:latin typeface="Helvetica Neue"/>
              <a:ea typeface="Helvetica Neue"/>
              <a:cs typeface="Helvetica Neue"/>
              <a:sym typeface="Helvetica Neue"/>
            </a:endParaRPr>
          </a:p>
        </p:txBody>
      </p:sp>
      <p:sp>
        <p:nvSpPr>
          <p:cNvPr id="219" name="Google Shape;219;p10"/>
          <p:cNvSpPr/>
          <p:nvPr/>
        </p:nvSpPr>
        <p:spPr>
          <a:xfrm>
            <a:off x="771525" y="817215"/>
            <a:ext cx="7630731"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Ask for causes to test, not for a rewrite.</a:t>
            </a:r>
            <a:endParaRPr sz="3150" i="0" u="none" strike="noStrike" cap="none">
              <a:solidFill>
                <a:schemeClr val="dk1"/>
              </a:solidFill>
              <a:latin typeface="Helvetica Neue"/>
              <a:ea typeface="Helvetica Neue"/>
              <a:cs typeface="Helvetica Neue"/>
              <a:sym typeface="Helvetica Neue"/>
            </a:endParaRPr>
          </a:p>
        </p:txBody>
      </p:sp>
      <p:sp>
        <p:nvSpPr>
          <p:cNvPr id="220" name="Google Shape;220;p10"/>
          <p:cNvSpPr/>
          <p:nvPr/>
        </p:nvSpPr>
        <p:spPr>
          <a:xfrm>
            <a:off x="6829425" y="2190750"/>
            <a:ext cx="9525" cy="4191000"/>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21" name="Google Shape;221;p10"/>
          <p:cNvSpPr/>
          <p:nvPr/>
        </p:nvSpPr>
        <p:spPr>
          <a:xfrm>
            <a:off x="771525" y="2190750"/>
            <a:ext cx="586740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76706C"/>
              </a:buClr>
              <a:buSzPts val="1350"/>
              <a:buFont typeface="Arial"/>
              <a:buNone/>
            </a:pPr>
            <a:r>
              <a:rPr lang="en-US" sz="1350" b="1" i="0" u="none" strike="noStrike" cap="none">
                <a:solidFill>
                  <a:srgbClr val="76706C"/>
                </a:solidFill>
                <a:latin typeface="Helvetica Neue"/>
                <a:ea typeface="Helvetica Neue"/>
                <a:cs typeface="Helvetica Neue"/>
                <a:sym typeface="Helvetica Neue"/>
              </a:rPr>
              <a:t>TOO VAGUE</a:t>
            </a:r>
            <a:endParaRPr sz="1350" i="0" u="none" strike="noStrike" cap="none">
              <a:solidFill>
                <a:schemeClr val="dk1"/>
              </a:solidFill>
              <a:latin typeface="Helvetica Neue"/>
              <a:ea typeface="Helvetica Neue"/>
              <a:cs typeface="Helvetica Neue"/>
              <a:sym typeface="Helvetica Neue"/>
            </a:endParaRPr>
          </a:p>
        </p:txBody>
      </p:sp>
      <p:sp>
        <p:nvSpPr>
          <p:cNvPr id="222" name="Google Shape;222;p10"/>
          <p:cNvSpPr/>
          <p:nvPr/>
        </p:nvSpPr>
        <p:spPr>
          <a:xfrm>
            <a:off x="771525" y="2642220"/>
            <a:ext cx="5334000" cy="889620"/>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23" name="Google Shape;223;p10"/>
          <p:cNvSpPr/>
          <p:nvPr/>
        </p:nvSpPr>
        <p:spPr>
          <a:xfrm>
            <a:off x="1076325" y="2947020"/>
            <a:ext cx="5196840"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My sensor code does not work. Fix it.</a:t>
            </a:r>
            <a:endParaRPr sz="1575" i="0" u="none" strike="noStrike" cap="none">
              <a:solidFill>
                <a:schemeClr val="dk1"/>
              </a:solidFill>
              <a:latin typeface="Helvetica Neue"/>
              <a:ea typeface="Helvetica Neue"/>
              <a:cs typeface="Helvetica Neue"/>
              <a:sym typeface="Helvetica Neue"/>
            </a:endParaRPr>
          </a:p>
        </p:txBody>
      </p:sp>
      <p:sp>
        <p:nvSpPr>
          <p:cNvPr id="224" name="Google Shape;224;p10"/>
          <p:cNvSpPr/>
          <p:nvPr/>
        </p:nvSpPr>
        <p:spPr>
          <a:xfrm>
            <a:off x="771525" y="3760440"/>
            <a:ext cx="5494020"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You get a guess, usually a full rewrite that quietly replaces your working code and hides the real fault.</a:t>
            </a:r>
            <a:endParaRPr sz="1575" i="0" u="none" strike="noStrike" cap="none">
              <a:solidFill>
                <a:schemeClr val="dk1"/>
              </a:solidFill>
              <a:latin typeface="Helvetica Neue"/>
              <a:ea typeface="Helvetica Neue"/>
              <a:cs typeface="Helvetica Neue"/>
              <a:sym typeface="Helvetica Neue"/>
            </a:endParaRPr>
          </a:p>
        </p:txBody>
      </p:sp>
      <p:sp>
        <p:nvSpPr>
          <p:cNvPr id="225" name="Google Shape;225;p10"/>
          <p:cNvSpPr/>
          <p:nvPr/>
        </p:nvSpPr>
        <p:spPr>
          <a:xfrm>
            <a:off x="7524750" y="2190750"/>
            <a:ext cx="595122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SPECIFIC ENOUGH TO USE</a:t>
            </a:r>
            <a:endParaRPr sz="1350" i="0" u="none" strike="noStrike" cap="none">
              <a:solidFill>
                <a:schemeClr val="dk1"/>
              </a:solidFill>
              <a:latin typeface="Helvetica Neue"/>
              <a:ea typeface="Helvetica Neue"/>
              <a:cs typeface="Helvetica Neue"/>
              <a:sym typeface="Helvetica Neue"/>
            </a:endParaRPr>
          </a:p>
        </p:txBody>
      </p:sp>
      <p:sp>
        <p:nvSpPr>
          <p:cNvPr id="226" name="Google Shape;226;p10"/>
          <p:cNvSpPr/>
          <p:nvPr/>
        </p:nvSpPr>
        <p:spPr>
          <a:xfrm>
            <a:off x="7524750" y="2642220"/>
            <a:ext cx="5410200" cy="2009701"/>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27" name="Google Shape;227;p10"/>
          <p:cNvSpPr/>
          <p:nvPr/>
        </p:nvSpPr>
        <p:spPr>
          <a:xfrm>
            <a:off x="7829550" y="2947020"/>
            <a:ext cx="4944618" cy="1438201"/>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This read returns −999 on every third call. Here is the function and the serial log. I have already checked the wiring and the module seating. List the three most likely causes, most likely first, and how to test each. Do not rewrite the function.</a:t>
            </a:r>
            <a:endParaRPr sz="1575" i="0" u="none" strike="noStrike" cap="none">
              <a:solidFill>
                <a:schemeClr val="dk1"/>
              </a:solidFill>
              <a:latin typeface="Helvetica Neue"/>
              <a:ea typeface="Helvetica Neue"/>
              <a:cs typeface="Helvetica Neue"/>
              <a:sym typeface="Helvetica Neue"/>
            </a:endParaRPr>
          </a:p>
        </p:txBody>
      </p:sp>
      <p:sp>
        <p:nvSpPr>
          <p:cNvPr id="228" name="Google Shape;228;p10"/>
          <p:cNvSpPr/>
          <p:nvPr/>
        </p:nvSpPr>
        <p:spPr>
          <a:xfrm>
            <a:off x="7524750" y="4880521"/>
            <a:ext cx="5572506"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You get causes you can test one at a time, and you keep your own code.</a:t>
            </a:r>
            <a:endParaRPr sz="1575" i="0" u="none" strike="noStrike" cap="none">
              <a:solidFill>
                <a:schemeClr val="dk1"/>
              </a:solidFill>
              <a:latin typeface="Helvetica Neue"/>
              <a:ea typeface="Helvetica Neue"/>
              <a:cs typeface="Helvetica Neue"/>
              <a:sym typeface="Helvetica Neue"/>
            </a:endParaRPr>
          </a:p>
        </p:txBody>
      </p:sp>
      <p:sp>
        <p:nvSpPr>
          <p:cNvPr id="229" name="Google Shape;229;p10"/>
          <p:cNvSpPr/>
          <p:nvPr/>
        </p:nvSpPr>
        <p:spPr>
          <a:xfrm>
            <a:off x="13189818" y="209550"/>
            <a:ext cx="1737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Inter Tight"/>
                <a:ea typeface="Inter Tight"/>
                <a:cs typeface="Inter Tight"/>
                <a:sym typeface="Inter Tight"/>
              </a:rPr>
              <a:t>8</a:t>
            </a:r>
            <a:endParaRPr sz="1200" i="0" u="none" strike="noStrike" cap="none">
              <a:solidFill>
                <a:schemeClr val="dk1"/>
              </a:solidFill>
              <a:latin typeface="Inter Tight"/>
              <a:ea typeface="Inter Tight"/>
              <a:cs typeface="Inter Tight"/>
              <a:sym typeface="Inter Tight"/>
            </a:endParaRPr>
          </a:p>
        </p:txBody>
      </p:sp>
      <p:sp>
        <p:nvSpPr>
          <p:cNvPr id="230" name="Google Shape;230;p10"/>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235"/>
        <p:cNvGrpSpPr/>
        <p:nvPr/>
      </p:nvGrpSpPr>
      <p:grpSpPr>
        <a:xfrm>
          <a:off x="0" y="0"/>
          <a:ext cx="0" cy="0"/>
          <a:chOff x="0" y="0"/>
          <a:chExt cx="0" cy="0"/>
        </a:xfrm>
      </p:grpSpPr>
      <p:sp>
        <p:nvSpPr>
          <p:cNvPr id="236" name="Google Shape;236;p11"/>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a:off x="771525" y="428625"/>
            <a:ext cx="8904729"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Prompting for Documentation</a:t>
            </a:r>
            <a:endParaRPr sz="1800" i="0" u="none" strike="noStrike" cap="none">
              <a:solidFill>
                <a:schemeClr val="dk1"/>
              </a:solidFill>
              <a:latin typeface="Helvetica Neue"/>
              <a:ea typeface="Helvetica Neue"/>
              <a:cs typeface="Helvetica Neue"/>
              <a:sym typeface="Helvetica Neue"/>
            </a:endParaRPr>
          </a:p>
        </p:txBody>
      </p:sp>
      <p:sp>
        <p:nvSpPr>
          <p:cNvPr id="238" name="Google Shape;238;p11"/>
          <p:cNvSpPr/>
          <p:nvPr/>
        </p:nvSpPr>
        <p:spPr>
          <a:xfrm>
            <a:off x="771525" y="817215"/>
            <a:ext cx="8904729"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Name the reader, the sections and the length.</a:t>
            </a:r>
            <a:endParaRPr sz="3150" i="0" u="none" strike="noStrike" cap="none">
              <a:solidFill>
                <a:schemeClr val="dk1"/>
              </a:solidFill>
              <a:latin typeface="Helvetica Neue"/>
              <a:ea typeface="Helvetica Neue"/>
              <a:cs typeface="Helvetica Neue"/>
              <a:sym typeface="Helvetica Neue"/>
            </a:endParaRPr>
          </a:p>
        </p:txBody>
      </p:sp>
      <p:sp>
        <p:nvSpPr>
          <p:cNvPr id="239" name="Google Shape;239;p11"/>
          <p:cNvSpPr/>
          <p:nvPr/>
        </p:nvSpPr>
        <p:spPr>
          <a:xfrm>
            <a:off x="6829425" y="2190750"/>
            <a:ext cx="9525" cy="4191000"/>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40" name="Google Shape;240;p11"/>
          <p:cNvSpPr/>
          <p:nvPr/>
        </p:nvSpPr>
        <p:spPr>
          <a:xfrm>
            <a:off x="771525" y="2190750"/>
            <a:ext cx="586740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76706C"/>
              </a:buClr>
              <a:buSzPts val="1350"/>
              <a:buFont typeface="Arial"/>
              <a:buNone/>
            </a:pPr>
            <a:r>
              <a:rPr lang="en-US" sz="1350" b="1" i="0" u="none" strike="noStrike" cap="none">
                <a:solidFill>
                  <a:srgbClr val="76706C"/>
                </a:solidFill>
                <a:latin typeface="Helvetica Neue"/>
                <a:ea typeface="Helvetica Neue"/>
                <a:cs typeface="Helvetica Neue"/>
                <a:sym typeface="Helvetica Neue"/>
              </a:rPr>
              <a:t>TOO VAGUE</a:t>
            </a:r>
            <a:endParaRPr sz="1350" i="0" u="none" strike="noStrike" cap="none">
              <a:solidFill>
                <a:schemeClr val="dk1"/>
              </a:solidFill>
              <a:latin typeface="Helvetica Neue"/>
              <a:ea typeface="Helvetica Neue"/>
              <a:cs typeface="Helvetica Neue"/>
              <a:sym typeface="Helvetica Neue"/>
            </a:endParaRPr>
          </a:p>
        </p:txBody>
      </p:sp>
      <p:sp>
        <p:nvSpPr>
          <p:cNvPr id="241" name="Google Shape;241;p11"/>
          <p:cNvSpPr/>
          <p:nvPr/>
        </p:nvSpPr>
        <p:spPr>
          <a:xfrm>
            <a:off x="771525" y="2642220"/>
            <a:ext cx="5334000" cy="889620"/>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42" name="Google Shape;242;p11"/>
          <p:cNvSpPr/>
          <p:nvPr/>
        </p:nvSpPr>
        <p:spPr>
          <a:xfrm>
            <a:off x="1076325" y="2947020"/>
            <a:ext cx="5196840"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Document this project.</a:t>
            </a:r>
            <a:endParaRPr sz="1575" i="0" u="none" strike="noStrike" cap="none">
              <a:solidFill>
                <a:schemeClr val="dk1"/>
              </a:solidFill>
              <a:latin typeface="Helvetica Neue"/>
              <a:ea typeface="Helvetica Neue"/>
              <a:cs typeface="Helvetica Neue"/>
              <a:sym typeface="Helvetica Neue"/>
            </a:endParaRPr>
          </a:p>
        </p:txBody>
      </p:sp>
      <p:sp>
        <p:nvSpPr>
          <p:cNvPr id="243" name="Google Shape;243;p11"/>
          <p:cNvSpPr/>
          <p:nvPr/>
        </p:nvSpPr>
        <p:spPr>
          <a:xfrm>
            <a:off x="771525" y="3760440"/>
            <a:ext cx="5494020"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You get filler at the wrong length for the wrong reader, and some of it will be invented.</a:t>
            </a:r>
            <a:endParaRPr sz="1575" i="0" u="none" strike="noStrike" cap="none">
              <a:solidFill>
                <a:schemeClr val="dk1"/>
              </a:solidFill>
              <a:latin typeface="Helvetica Neue"/>
              <a:ea typeface="Helvetica Neue"/>
              <a:cs typeface="Helvetica Neue"/>
              <a:sym typeface="Helvetica Neue"/>
            </a:endParaRPr>
          </a:p>
        </p:txBody>
      </p:sp>
      <p:sp>
        <p:nvSpPr>
          <p:cNvPr id="244" name="Google Shape;244;p11"/>
          <p:cNvSpPr/>
          <p:nvPr/>
        </p:nvSpPr>
        <p:spPr>
          <a:xfrm>
            <a:off x="7524750" y="2190750"/>
            <a:ext cx="595122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SPECIFIC ENOUGH TO USE</a:t>
            </a:r>
            <a:endParaRPr sz="1350" i="0" u="none" strike="noStrike" cap="none">
              <a:solidFill>
                <a:schemeClr val="dk1"/>
              </a:solidFill>
              <a:latin typeface="Helvetica Neue"/>
              <a:ea typeface="Helvetica Neue"/>
              <a:cs typeface="Helvetica Neue"/>
              <a:sym typeface="Helvetica Neue"/>
            </a:endParaRPr>
          </a:p>
        </p:txBody>
      </p:sp>
      <p:sp>
        <p:nvSpPr>
          <p:cNvPr id="245" name="Google Shape;245;p11"/>
          <p:cNvSpPr/>
          <p:nvPr/>
        </p:nvSpPr>
        <p:spPr>
          <a:xfrm>
            <a:off x="7524750" y="2642220"/>
            <a:ext cx="5410200" cy="2289721"/>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46" name="Google Shape;246;p11"/>
          <p:cNvSpPr/>
          <p:nvPr/>
        </p:nvSpPr>
        <p:spPr>
          <a:xfrm>
            <a:off x="7829550" y="2947020"/>
            <a:ext cx="4944618" cy="1718221"/>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Write a README for this project aimed at a classmate who has never seen it. Sections: what it does, how to flash it, the pin map as a table, known issues. Under 400 words. Use only facts from the project files, and list anything you could not find.</a:t>
            </a:r>
            <a:endParaRPr sz="1575" i="0" u="none" strike="noStrike" cap="none">
              <a:solidFill>
                <a:schemeClr val="dk1"/>
              </a:solidFill>
              <a:latin typeface="Helvetica Neue"/>
              <a:ea typeface="Helvetica Neue"/>
              <a:cs typeface="Helvetica Neue"/>
              <a:sym typeface="Helvetica Neue"/>
            </a:endParaRPr>
          </a:p>
        </p:txBody>
      </p:sp>
      <p:sp>
        <p:nvSpPr>
          <p:cNvPr id="247" name="Google Shape;247;p11"/>
          <p:cNvSpPr/>
          <p:nvPr/>
        </p:nvSpPr>
        <p:spPr>
          <a:xfrm>
            <a:off x="7524750" y="5160541"/>
            <a:ext cx="5951220"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You get a draft that needs editing rather than rewriting.</a:t>
            </a:r>
            <a:endParaRPr sz="1575" i="0" u="none" strike="noStrike" cap="none">
              <a:solidFill>
                <a:schemeClr val="dk1"/>
              </a:solidFill>
              <a:latin typeface="Helvetica Neue"/>
              <a:ea typeface="Helvetica Neue"/>
              <a:cs typeface="Helvetica Neue"/>
              <a:sym typeface="Helvetica Neue"/>
            </a:endParaRPr>
          </a:p>
        </p:txBody>
      </p:sp>
      <p:sp>
        <p:nvSpPr>
          <p:cNvPr id="248" name="Google Shape;248;p11"/>
          <p:cNvSpPr/>
          <p:nvPr/>
        </p:nvSpPr>
        <p:spPr>
          <a:xfrm>
            <a:off x="13189818" y="209550"/>
            <a:ext cx="173757"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Inter Tight"/>
                <a:ea typeface="Inter Tight"/>
                <a:cs typeface="Inter Tight"/>
                <a:sym typeface="Inter Tight"/>
              </a:rPr>
              <a:t>9</a:t>
            </a:r>
            <a:endParaRPr sz="1200" i="0" u="none" strike="noStrike" cap="none">
              <a:solidFill>
                <a:schemeClr val="dk1"/>
              </a:solidFill>
              <a:latin typeface="Inter Tight"/>
              <a:ea typeface="Inter Tight"/>
              <a:cs typeface="Inter Tight"/>
              <a:sym typeface="Inter Tight"/>
            </a:endParaRPr>
          </a:p>
        </p:txBody>
      </p:sp>
      <p:sp>
        <p:nvSpPr>
          <p:cNvPr id="249" name="Google Shape;249;p11"/>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254"/>
        <p:cNvGrpSpPr/>
        <p:nvPr/>
      </p:nvGrpSpPr>
      <p:grpSpPr>
        <a:xfrm>
          <a:off x="0" y="0"/>
          <a:ext cx="0" cy="0"/>
          <a:chOff x="0" y="0"/>
          <a:chExt cx="0" cy="0"/>
        </a:xfrm>
      </p:grpSpPr>
      <p:sp>
        <p:nvSpPr>
          <p:cNvPr id="255" name="Google Shape;255;p12"/>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2"/>
          <p:cNvSpPr/>
          <p:nvPr/>
        </p:nvSpPr>
        <p:spPr>
          <a:xfrm>
            <a:off x="771525" y="428625"/>
            <a:ext cx="8413269"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Inter Tight"/>
                <a:ea typeface="Inter Tight"/>
                <a:cs typeface="Inter Tight"/>
                <a:sym typeface="Inter Tight"/>
              </a:rPr>
              <a:t>Watching for Hallucination</a:t>
            </a:r>
            <a:endParaRPr sz="1800" i="0" u="none" strike="noStrike" cap="none">
              <a:solidFill>
                <a:schemeClr val="dk1"/>
              </a:solidFill>
              <a:latin typeface="Inter Tight"/>
              <a:ea typeface="Inter Tight"/>
              <a:cs typeface="Inter Tight"/>
              <a:sym typeface="Inter Tight"/>
            </a:endParaRPr>
          </a:p>
        </p:txBody>
      </p:sp>
      <p:sp>
        <p:nvSpPr>
          <p:cNvPr id="257" name="Google Shape;257;p12"/>
          <p:cNvSpPr/>
          <p:nvPr/>
        </p:nvSpPr>
        <p:spPr>
          <a:xfrm>
            <a:off x="771525" y="817215"/>
            <a:ext cx="8413269"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Inter Tight"/>
                <a:ea typeface="Inter Tight"/>
                <a:cs typeface="Inter Tight"/>
                <a:sym typeface="Inter Tight"/>
              </a:rPr>
              <a:t>Give it a marker, then watch for the marker.</a:t>
            </a:r>
            <a:endParaRPr sz="3150" i="0" u="none" strike="noStrike" cap="none">
              <a:solidFill>
                <a:schemeClr val="dk1"/>
              </a:solidFill>
              <a:latin typeface="Inter Tight"/>
              <a:ea typeface="Inter Tight"/>
              <a:cs typeface="Inter Tight"/>
              <a:sym typeface="Inter Tight"/>
            </a:endParaRPr>
          </a:p>
        </p:txBody>
      </p:sp>
      <p:sp>
        <p:nvSpPr>
          <p:cNvPr id="258" name="Google Shape;258;p12"/>
          <p:cNvSpPr/>
          <p:nvPr/>
        </p:nvSpPr>
        <p:spPr>
          <a:xfrm>
            <a:off x="771525" y="2019300"/>
            <a:ext cx="628650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Inter Tight"/>
                <a:ea typeface="Inter Tight"/>
                <a:cs typeface="Inter Tight"/>
                <a:sym typeface="Inter Tight"/>
              </a:rPr>
              <a:t>SET THE MARKER</a:t>
            </a:r>
            <a:endParaRPr sz="1350" i="0" u="none" strike="noStrike" cap="none">
              <a:solidFill>
                <a:schemeClr val="dk1"/>
              </a:solidFill>
              <a:latin typeface="Inter Tight"/>
              <a:ea typeface="Inter Tight"/>
              <a:cs typeface="Inter Tight"/>
              <a:sym typeface="Inter Tight"/>
            </a:endParaRPr>
          </a:p>
        </p:txBody>
      </p:sp>
      <p:sp>
        <p:nvSpPr>
          <p:cNvPr id="259" name="Google Shape;259;p12"/>
          <p:cNvSpPr/>
          <p:nvPr/>
        </p:nvSpPr>
        <p:spPr>
          <a:xfrm>
            <a:off x="771525" y="2470770"/>
            <a:ext cx="5715000" cy="2314501"/>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nter Tight"/>
              <a:ea typeface="Inter Tight"/>
              <a:cs typeface="Inter Tight"/>
              <a:sym typeface="Inter Tight"/>
            </a:endParaRPr>
          </a:p>
        </p:txBody>
      </p:sp>
      <p:sp>
        <p:nvSpPr>
          <p:cNvPr id="260" name="Google Shape;260;p12"/>
          <p:cNvSpPr/>
          <p:nvPr/>
        </p:nvSpPr>
        <p:spPr>
          <a:xfrm>
            <a:off x="1076325" y="2775570"/>
            <a:ext cx="5258562"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Inter Tight"/>
                <a:ea typeface="Inter Tight"/>
                <a:cs typeface="Inter Tight"/>
                <a:sym typeface="Inter Tight"/>
              </a:rPr>
              <a:t>Starting from this prompt, answer me in this format, with a divider between each section.</a:t>
            </a:r>
            <a:endParaRPr sz="1575" i="0" u="none" strike="noStrike" cap="none">
              <a:solidFill>
                <a:schemeClr val="dk1"/>
              </a:solidFill>
              <a:latin typeface="Inter Tight"/>
              <a:ea typeface="Inter Tight"/>
              <a:cs typeface="Inter Tight"/>
              <a:sym typeface="Inter Tight"/>
            </a:endParaRPr>
          </a:p>
        </p:txBody>
      </p:sp>
      <p:sp>
        <p:nvSpPr>
          <p:cNvPr id="261" name="Google Shape;261;p12"/>
          <p:cNvSpPr/>
          <p:nvPr/>
        </p:nvSpPr>
        <p:spPr>
          <a:xfrm>
            <a:off x="1076325" y="3488010"/>
            <a:ext cx="5615940"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Inter Tight"/>
                <a:ea typeface="Inter Tight"/>
                <a:cs typeface="Inter Tight"/>
                <a:sym typeface="Inter Tight"/>
              </a:rPr>
              <a:t>1. Say the word ON.</a:t>
            </a:r>
            <a:endParaRPr sz="1575" i="0" u="none" strike="noStrike" cap="none">
              <a:solidFill>
                <a:schemeClr val="dk1"/>
              </a:solidFill>
              <a:latin typeface="Inter Tight"/>
              <a:ea typeface="Inter Tight"/>
              <a:cs typeface="Inter Tight"/>
              <a:sym typeface="Inter Tight"/>
            </a:endParaRPr>
          </a:p>
        </p:txBody>
      </p:sp>
      <p:sp>
        <p:nvSpPr>
          <p:cNvPr id="262" name="Google Shape;262;p12"/>
          <p:cNvSpPr/>
          <p:nvPr/>
        </p:nvSpPr>
        <p:spPr>
          <a:xfrm>
            <a:off x="1076325" y="3844230"/>
            <a:ext cx="5615940"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Inter Tight"/>
                <a:ea typeface="Inter Tight"/>
                <a:cs typeface="Inter Tight"/>
                <a:sym typeface="Inter Tight"/>
              </a:rPr>
              <a:t>2. Answer the question.</a:t>
            </a:r>
            <a:endParaRPr sz="1575" i="0" u="none" strike="noStrike" cap="none">
              <a:solidFill>
                <a:schemeClr val="dk1"/>
              </a:solidFill>
              <a:latin typeface="Inter Tight"/>
              <a:ea typeface="Inter Tight"/>
              <a:cs typeface="Inter Tight"/>
              <a:sym typeface="Inter Tight"/>
            </a:endParaRPr>
          </a:p>
        </p:txBody>
      </p:sp>
      <p:sp>
        <p:nvSpPr>
          <p:cNvPr id="263" name="Google Shape;263;p12"/>
          <p:cNvSpPr/>
          <p:nvPr/>
        </p:nvSpPr>
        <p:spPr>
          <a:xfrm>
            <a:off x="1076325" y="4200451"/>
            <a:ext cx="5615940"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Inter Tight"/>
                <a:ea typeface="Inter Tight"/>
                <a:cs typeface="Inter Tight"/>
                <a:sym typeface="Inter Tight"/>
              </a:rPr>
              <a:t>3. List what you assumed.</a:t>
            </a:r>
            <a:endParaRPr sz="1575" i="0" u="none" strike="noStrike" cap="none">
              <a:solidFill>
                <a:schemeClr val="dk1"/>
              </a:solidFill>
              <a:latin typeface="Inter Tight"/>
              <a:ea typeface="Inter Tight"/>
              <a:cs typeface="Inter Tight"/>
              <a:sym typeface="Inter Tight"/>
            </a:endParaRPr>
          </a:p>
        </p:txBody>
      </p:sp>
      <p:sp>
        <p:nvSpPr>
          <p:cNvPr id="264" name="Google Shape;264;p12"/>
          <p:cNvSpPr/>
          <p:nvPr/>
        </p:nvSpPr>
        <p:spPr>
          <a:xfrm>
            <a:off x="7210425" y="2019300"/>
            <a:ext cx="6307455"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Inter Tight"/>
                <a:ea typeface="Inter Tight"/>
                <a:cs typeface="Inter Tight"/>
                <a:sym typeface="Inter Tight"/>
              </a:rPr>
              <a:t>READ THE SIGNAL</a:t>
            </a:r>
            <a:endParaRPr sz="1350" i="0" u="none" strike="noStrike" cap="none">
              <a:solidFill>
                <a:schemeClr val="dk1"/>
              </a:solidFill>
              <a:latin typeface="Inter Tight"/>
              <a:ea typeface="Inter Tight"/>
              <a:cs typeface="Inter Tight"/>
              <a:sym typeface="Inter Tight"/>
            </a:endParaRPr>
          </a:p>
        </p:txBody>
      </p:sp>
      <p:sp>
        <p:nvSpPr>
          <p:cNvPr id="265" name="Google Shape;265;p12"/>
          <p:cNvSpPr/>
          <p:nvPr/>
        </p:nvSpPr>
        <p:spPr>
          <a:xfrm>
            <a:off x="7210425" y="2470770"/>
            <a:ext cx="5906072" cy="115818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Inter Tight"/>
                <a:ea typeface="Inter Tight"/>
                <a:cs typeface="Inter Tight"/>
                <a:sym typeface="Inter Tight"/>
              </a:rPr>
              <a:t>The word ON costs nothing and proves the model is still reading your instructions. When ON disappears, or the dividers drift, your context is gone — anything after that point is worth less than it looks.</a:t>
            </a:r>
            <a:endParaRPr sz="1575" i="0" u="none" strike="noStrike" cap="none">
              <a:solidFill>
                <a:schemeClr val="dk1"/>
              </a:solidFill>
              <a:latin typeface="Inter Tight"/>
              <a:ea typeface="Inter Tight"/>
              <a:cs typeface="Inter Tight"/>
              <a:sym typeface="Inter Tight"/>
            </a:endParaRPr>
          </a:p>
        </p:txBody>
      </p:sp>
      <p:sp>
        <p:nvSpPr>
          <p:cNvPr id="266" name="Google Shape;266;p12"/>
          <p:cNvSpPr/>
          <p:nvPr/>
        </p:nvSpPr>
        <p:spPr>
          <a:xfrm>
            <a:off x="7210425" y="3838501"/>
            <a:ext cx="573405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nter Tight"/>
              <a:ea typeface="Inter Tight"/>
              <a:cs typeface="Inter Tight"/>
              <a:sym typeface="Inter Tight"/>
            </a:endParaRPr>
          </a:p>
        </p:txBody>
      </p:sp>
      <p:sp>
        <p:nvSpPr>
          <p:cNvPr id="267" name="Google Shape;267;p12"/>
          <p:cNvSpPr/>
          <p:nvPr/>
        </p:nvSpPr>
        <p:spPr>
          <a:xfrm>
            <a:off x="7210425" y="4095676"/>
            <a:ext cx="6307455"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Inter Tight"/>
                <a:ea typeface="Inter Tight"/>
                <a:cs typeface="Inter Tight"/>
                <a:sym typeface="Inter Tight"/>
              </a:rPr>
              <a:t>TWO MORE CHECKS</a:t>
            </a:r>
            <a:endParaRPr sz="1350" i="0" u="none" strike="noStrike" cap="none">
              <a:solidFill>
                <a:schemeClr val="dk1"/>
              </a:solidFill>
              <a:latin typeface="Inter Tight"/>
              <a:ea typeface="Inter Tight"/>
              <a:cs typeface="Inter Tight"/>
              <a:sym typeface="Inter Tight"/>
            </a:endParaRPr>
          </a:p>
        </p:txBody>
      </p:sp>
      <p:sp>
        <p:nvSpPr>
          <p:cNvPr id="268" name="Google Shape;268;p12"/>
          <p:cNvSpPr/>
          <p:nvPr/>
        </p:nvSpPr>
        <p:spPr>
          <a:xfrm>
            <a:off x="7210425" y="4509046"/>
            <a:ext cx="6307455" cy="327645"/>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b="1" i="0" u="none" strike="noStrike" cap="none">
                <a:solidFill>
                  <a:srgbClr val="000000"/>
                </a:solidFill>
                <a:latin typeface="Inter Tight"/>
                <a:ea typeface="Inter Tight"/>
                <a:cs typeface="Inter Tight"/>
                <a:sym typeface="Inter Tight"/>
              </a:rPr>
              <a:t>Ask it to cite. </a:t>
            </a:r>
            <a:r>
              <a:rPr lang="en-US" sz="1575" i="0" u="none" strike="noStrike" cap="none">
                <a:solidFill>
                  <a:srgbClr val="000000"/>
                </a:solidFill>
                <a:latin typeface="Inter Tight"/>
                <a:ea typeface="Inter Tight"/>
                <a:cs typeface="Inter Tight"/>
                <a:sym typeface="Inter Tight"/>
              </a:rPr>
              <a:t>Which line of the file did you take that from?</a:t>
            </a:r>
            <a:endParaRPr sz="1575" i="0" u="none" strike="noStrike" cap="none">
              <a:solidFill>
                <a:schemeClr val="dk1"/>
              </a:solidFill>
              <a:latin typeface="Inter Tight"/>
              <a:ea typeface="Inter Tight"/>
              <a:cs typeface="Inter Tight"/>
              <a:sym typeface="Inter Tight"/>
            </a:endParaRPr>
          </a:p>
        </p:txBody>
      </p:sp>
      <p:sp>
        <p:nvSpPr>
          <p:cNvPr id="269" name="Google Shape;269;p12"/>
          <p:cNvSpPr/>
          <p:nvPr/>
        </p:nvSpPr>
        <p:spPr>
          <a:xfrm>
            <a:off x="7210425" y="4950991"/>
            <a:ext cx="5906072" cy="607665"/>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b="1" i="0" u="none" strike="noStrike" cap="none">
                <a:solidFill>
                  <a:srgbClr val="000000"/>
                </a:solidFill>
                <a:latin typeface="Inter Tight"/>
                <a:ea typeface="Inter Tight"/>
                <a:cs typeface="Inter Tight"/>
                <a:sym typeface="Inter Tight"/>
              </a:rPr>
              <a:t>Ask it to separate. </a:t>
            </a:r>
            <a:r>
              <a:rPr lang="en-US" sz="1575" i="0" u="none" strike="noStrike" cap="none">
                <a:solidFill>
                  <a:srgbClr val="000000"/>
                </a:solidFill>
                <a:latin typeface="Inter Tight"/>
                <a:ea typeface="Inter Tight"/>
                <a:cs typeface="Inter Tight"/>
                <a:sym typeface="Inter Tight"/>
              </a:rPr>
              <a:t>Which part of this did you read, and which part did you infer?</a:t>
            </a:r>
            <a:endParaRPr sz="1575" i="0" u="none" strike="noStrike" cap="none">
              <a:solidFill>
                <a:schemeClr val="dk1"/>
              </a:solidFill>
              <a:latin typeface="Inter Tight"/>
              <a:ea typeface="Inter Tight"/>
              <a:cs typeface="Inter Tight"/>
              <a:sym typeface="Inter Tight"/>
            </a:endParaRPr>
          </a:p>
        </p:txBody>
      </p:sp>
      <p:sp>
        <p:nvSpPr>
          <p:cNvPr id="270" name="Google Shape;270;p12"/>
          <p:cNvSpPr/>
          <p:nvPr/>
        </p:nvSpPr>
        <p:spPr>
          <a:xfrm>
            <a:off x="7210425" y="5768206"/>
            <a:ext cx="573405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nter Tight"/>
              <a:ea typeface="Inter Tight"/>
              <a:cs typeface="Inter Tight"/>
              <a:sym typeface="Inter Tight"/>
            </a:endParaRPr>
          </a:p>
        </p:txBody>
      </p:sp>
      <p:sp>
        <p:nvSpPr>
          <p:cNvPr id="271" name="Google Shape;271;p12"/>
          <p:cNvSpPr/>
          <p:nvPr/>
        </p:nvSpPr>
        <p:spPr>
          <a:xfrm>
            <a:off x="7210425" y="6025381"/>
            <a:ext cx="5906072" cy="87816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Inter Tight"/>
                <a:ea typeface="Inter Tight"/>
                <a:cs typeface="Inter Tight"/>
                <a:sym typeface="Inter Tight"/>
              </a:rPr>
              <a:t>When the marker stops appearing, start a new chat and paste the prompt again. Do not argue with a model that has lost the thread.</a:t>
            </a:r>
            <a:endParaRPr sz="1575" i="0" u="none" strike="noStrike" cap="none">
              <a:solidFill>
                <a:schemeClr val="dk1"/>
              </a:solidFill>
              <a:latin typeface="Inter Tight"/>
              <a:ea typeface="Inter Tight"/>
              <a:cs typeface="Inter Tight"/>
              <a:sym typeface="Inter Tight"/>
            </a:endParaRPr>
          </a:p>
        </p:txBody>
      </p:sp>
      <p:sp>
        <p:nvSpPr>
          <p:cNvPr id="272" name="Google Shape;272;p12"/>
          <p:cNvSpPr/>
          <p:nvPr/>
        </p:nvSpPr>
        <p:spPr>
          <a:xfrm>
            <a:off x="13092261" y="209550"/>
            <a:ext cx="27131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b="0" i="0" u="none" strike="noStrike" cap="none">
                <a:solidFill>
                  <a:srgbClr val="76706C"/>
                </a:solidFill>
                <a:latin typeface="Arial"/>
                <a:ea typeface="Arial"/>
                <a:cs typeface="Arial"/>
                <a:sym typeface="Arial"/>
              </a:rPr>
              <a:t>10</a:t>
            </a:r>
            <a:endParaRPr sz="1200" b="0" i="0" u="none" strike="noStrike" cap="none">
              <a:solidFill>
                <a:schemeClr val="dk1"/>
              </a:solidFill>
              <a:latin typeface="Calibri"/>
              <a:ea typeface="Calibri"/>
              <a:cs typeface="Calibri"/>
              <a:sym typeface="Calibri"/>
            </a:endParaRPr>
          </a:p>
        </p:txBody>
      </p:sp>
      <p:sp>
        <p:nvSpPr>
          <p:cNvPr id="273" name="Google Shape;273;p12"/>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Inter Tight"/>
                <a:ea typeface="Inter Tight"/>
                <a:cs typeface="Inter Tight"/>
                <a:sym typeface="Inter Tight"/>
              </a:rPr>
              <a:t>© 2026 Incipe Academy Limited. All rights reserved.</a:t>
            </a:r>
            <a:endParaRPr sz="1200" i="0" u="none" strike="noStrike" cap="none">
              <a:solidFill>
                <a:schemeClr val="dk1"/>
              </a:solidFill>
              <a:latin typeface="Inter Tight"/>
              <a:ea typeface="Inter Tight"/>
              <a:cs typeface="Inter Tight"/>
              <a:sym typeface="Inter T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278"/>
        <p:cNvGrpSpPr/>
        <p:nvPr/>
      </p:nvGrpSpPr>
      <p:grpSpPr>
        <a:xfrm>
          <a:off x="0" y="0"/>
          <a:ext cx="0" cy="0"/>
          <a:chOff x="0" y="0"/>
          <a:chExt cx="0" cy="0"/>
        </a:xfrm>
      </p:grpSpPr>
      <p:sp>
        <p:nvSpPr>
          <p:cNvPr id="279" name="Google Shape;279;p13"/>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3"/>
          <p:cNvSpPr/>
          <p:nvPr/>
        </p:nvSpPr>
        <p:spPr>
          <a:xfrm>
            <a:off x="771525" y="428625"/>
            <a:ext cx="6750621"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Grill Me</a:t>
            </a:r>
            <a:endParaRPr sz="1800" i="0" u="none" strike="noStrike" cap="none">
              <a:solidFill>
                <a:schemeClr val="dk1"/>
              </a:solidFill>
              <a:latin typeface="Helvetica Neue"/>
              <a:ea typeface="Helvetica Neue"/>
              <a:cs typeface="Helvetica Neue"/>
              <a:sym typeface="Helvetica Neue"/>
            </a:endParaRPr>
          </a:p>
        </p:txBody>
      </p:sp>
      <p:sp>
        <p:nvSpPr>
          <p:cNvPr id="281" name="Google Shape;281;p13"/>
          <p:cNvSpPr/>
          <p:nvPr/>
        </p:nvSpPr>
        <p:spPr>
          <a:xfrm>
            <a:off x="771525" y="817215"/>
            <a:ext cx="6750621"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Make it ask you the questions first.</a:t>
            </a:r>
            <a:endParaRPr sz="3150" i="0" u="none" strike="noStrike" cap="none">
              <a:solidFill>
                <a:schemeClr val="dk1"/>
              </a:solidFill>
              <a:latin typeface="Helvetica Neue"/>
              <a:ea typeface="Helvetica Neue"/>
              <a:cs typeface="Helvetica Neue"/>
              <a:sym typeface="Helvetica Neue"/>
            </a:endParaRPr>
          </a:p>
        </p:txBody>
      </p:sp>
      <p:sp>
        <p:nvSpPr>
          <p:cNvPr id="282" name="Google Shape;282;p13"/>
          <p:cNvSpPr/>
          <p:nvPr/>
        </p:nvSpPr>
        <p:spPr>
          <a:xfrm>
            <a:off x="771525" y="2381250"/>
            <a:ext cx="628650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BEFORE IT WRITES ANYTHING</a:t>
            </a:r>
            <a:endParaRPr sz="1350" i="0" u="none" strike="noStrike" cap="none">
              <a:solidFill>
                <a:schemeClr val="dk1"/>
              </a:solidFill>
              <a:latin typeface="Helvetica Neue"/>
              <a:ea typeface="Helvetica Neue"/>
              <a:cs typeface="Helvetica Neue"/>
              <a:sym typeface="Helvetica Neue"/>
            </a:endParaRPr>
          </a:p>
        </p:txBody>
      </p:sp>
      <p:sp>
        <p:nvSpPr>
          <p:cNvPr id="283" name="Google Shape;283;p13"/>
          <p:cNvSpPr/>
          <p:nvPr/>
        </p:nvSpPr>
        <p:spPr>
          <a:xfrm>
            <a:off x="771525" y="2832720"/>
            <a:ext cx="5715000" cy="1729680"/>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84" name="Google Shape;284;p13"/>
          <p:cNvSpPr/>
          <p:nvPr/>
        </p:nvSpPr>
        <p:spPr>
          <a:xfrm>
            <a:off x="1076325" y="3137520"/>
            <a:ext cx="5258562" cy="115818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Before you write any code, grill me. Ask up to five questions about anything you need to know about the board, the sensors or what I am trying to build. Do not guess, and do not start until I have answered.</a:t>
            </a:r>
            <a:endParaRPr sz="1575" i="0" u="none" strike="noStrike" cap="none">
              <a:solidFill>
                <a:schemeClr val="dk1"/>
              </a:solidFill>
              <a:latin typeface="Helvetica Neue"/>
              <a:ea typeface="Helvetica Neue"/>
              <a:cs typeface="Helvetica Neue"/>
              <a:sym typeface="Helvetica Neue"/>
            </a:endParaRPr>
          </a:p>
        </p:txBody>
      </p:sp>
      <p:sp>
        <p:nvSpPr>
          <p:cNvPr id="285" name="Google Shape;285;p13"/>
          <p:cNvSpPr/>
          <p:nvPr/>
        </p:nvSpPr>
        <p:spPr>
          <a:xfrm>
            <a:off x="771525" y="4791001"/>
            <a:ext cx="6286500"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Cap the number, or it will keep asking.</a:t>
            </a:r>
            <a:endParaRPr sz="1575" i="0" u="none" strike="noStrike" cap="none">
              <a:solidFill>
                <a:schemeClr val="dk1"/>
              </a:solidFill>
              <a:latin typeface="Helvetica Neue"/>
              <a:ea typeface="Helvetica Neue"/>
              <a:cs typeface="Helvetica Neue"/>
              <a:sym typeface="Helvetica Neue"/>
            </a:endParaRPr>
          </a:p>
        </p:txBody>
      </p:sp>
      <p:sp>
        <p:nvSpPr>
          <p:cNvPr id="286" name="Google Shape;286;p13"/>
          <p:cNvSpPr/>
          <p:nvPr/>
        </p:nvSpPr>
        <p:spPr>
          <a:xfrm>
            <a:off x="7210425" y="2381250"/>
            <a:ext cx="6307455"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WHY IT WORKS</a:t>
            </a:r>
            <a:endParaRPr sz="1350" i="0" u="none" strike="noStrike" cap="none">
              <a:solidFill>
                <a:schemeClr val="dk1"/>
              </a:solidFill>
              <a:latin typeface="Helvetica Neue"/>
              <a:ea typeface="Helvetica Neue"/>
              <a:cs typeface="Helvetica Neue"/>
              <a:sym typeface="Helvetica Neue"/>
            </a:endParaRPr>
          </a:p>
        </p:txBody>
      </p:sp>
      <p:sp>
        <p:nvSpPr>
          <p:cNvPr id="287" name="Google Shape;287;p13"/>
          <p:cNvSpPr/>
          <p:nvPr/>
        </p:nvSpPr>
        <p:spPr>
          <a:xfrm>
            <a:off x="7210425" y="2832720"/>
            <a:ext cx="5906072" cy="87816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A model that cannot ask will assume. Its questions tell you exactly which parts of your own brief are missing — usually the pin, the units, or the update rate.</a:t>
            </a:r>
            <a:endParaRPr sz="1575" i="0" u="none" strike="noStrike" cap="none">
              <a:solidFill>
                <a:schemeClr val="dk1"/>
              </a:solidFill>
              <a:latin typeface="Helvetica Neue"/>
              <a:ea typeface="Helvetica Neue"/>
              <a:cs typeface="Helvetica Neue"/>
              <a:sym typeface="Helvetica Neue"/>
            </a:endParaRPr>
          </a:p>
        </p:txBody>
      </p:sp>
      <p:sp>
        <p:nvSpPr>
          <p:cNvPr id="288" name="Google Shape;288;p13"/>
          <p:cNvSpPr/>
          <p:nvPr/>
        </p:nvSpPr>
        <p:spPr>
          <a:xfrm>
            <a:off x="7210425" y="3977580"/>
            <a:ext cx="573405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89" name="Google Shape;289;p13"/>
          <p:cNvSpPr/>
          <p:nvPr/>
        </p:nvSpPr>
        <p:spPr>
          <a:xfrm>
            <a:off x="7210425" y="4291905"/>
            <a:ext cx="6307455"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THE OTHER DIRECTION</a:t>
            </a:r>
            <a:endParaRPr sz="1350" i="0" u="none" strike="noStrike" cap="none">
              <a:solidFill>
                <a:schemeClr val="dk1"/>
              </a:solidFill>
              <a:latin typeface="Helvetica Neue"/>
              <a:ea typeface="Helvetica Neue"/>
              <a:cs typeface="Helvetica Neue"/>
              <a:sym typeface="Helvetica Neue"/>
            </a:endParaRPr>
          </a:p>
        </p:txBody>
      </p:sp>
      <p:sp>
        <p:nvSpPr>
          <p:cNvPr id="290" name="Google Shape;290;p13"/>
          <p:cNvSpPr/>
          <p:nvPr/>
        </p:nvSpPr>
        <p:spPr>
          <a:xfrm>
            <a:off x="7210425" y="4743376"/>
            <a:ext cx="5906072"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Grill me on this design. What have I not thought about that will break during the demo?</a:t>
            </a:r>
            <a:endParaRPr sz="1575" i="0" u="none" strike="noStrike" cap="none">
              <a:solidFill>
                <a:schemeClr val="dk1"/>
              </a:solidFill>
              <a:latin typeface="Helvetica Neue"/>
              <a:ea typeface="Helvetica Neue"/>
              <a:cs typeface="Helvetica Neue"/>
              <a:sym typeface="Helvetica Neue"/>
            </a:endParaRPr>
          </a:p>
        </p:txBody>
      </p:sp>
      <p:sp>
        <p:nvSpPr>
          <p:cNvPr id="291" name="Google Shape;291;p13"/>
          <p:cNvSpPr/>
          <p:nvPr/>
        </p:nvSpPr>
        <p:spPr>
          <a:xfrm>
            <a:off x="7210425" y="5455816"/>
            <a:ext cx="5906072"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Useful once the thing works and you are about to show it to somebody.</a:t>
            </a:r>
            <a:endParaRPr sz="1575" i="0" u="none" strike="noStrike" cap="none">
              <a:solidFill>
                <a:schemeClr val="dk1"/>
              </a:solidFill>
              <a:latin typeface="Helvetica Neue"/>
              <a:ea typeface="Helvetica Neue"/>
              <a:cs typeface="Helvetica Neue"/>
              <a:sym typeface="Helvetica Neue"/>
            </a:endParaRPr>
          </a:p>
        </p:txBody>
      </p:sp>
      <p:sp>
        <p:nvSpPr>
          <p:cNvPr id="292" name="Google Shape;292;p13"/>
          <p:cNvSpPr/>
          <p:nvPr/>
        </p:nvSpPr>
        <p:spPr>
          <a:xfrm>
            <a:off x="13092261" y="209550"/>
            <a:ext cx="27131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11</a:t>
            </a:r>
            <a:endParaRPr sz="1200" i="0" u="none" strike="noStrike" cap="none">
              <a:solidFill>
                <a:schemeClr val="dk1"/>
              </a:solidFill>
              <a:latin typeface="Helvetica Neue"/>
              <a:ea typeface="Helvetica Neue"/>
              <a:cs typeface="Helvetica Neue"/>
              <a:sym typeface="Helvetica Neue"/>
            </a:endParaRPr>
          </a:p>
        </p:txBody>
      </p:sp>
      <p:sp>
        <p:nvSpPr>
          <p:cNvPr id="293" name="Google Shape;293;p13"/>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298"/>
        <p:cNvGrpSpPr/>
        <p:nvPr/>
      </p:nvGrpSpPr>
      <p:grpSpPr>
        <a:xfrm>
          <a:off x="0" y="0"/>
          <a:ext cx="0" cy="0"/>
          <a:chOff x="0" y="0"/>
          <a:chExt cx="0" cy="0"/>
        </a:xfrm>
      </p:grpSpPr>
      <p:sp>
        <p:nvSpPr>
          <p:cNvPr id="299" name="Google Shape;299;p14"/>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4"/>
          <p:cNvSpPr/>
          <p:nvPr/>
        </p:nvSpPr>
        <p:spPr>
          <a:xfrm>
            <a:off x="771525" y="428625"/>
            <a:ext cx="7582599"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Recycling a Prompt</a:t>
            </a:r>
            <a:endParaRPr sz="1800" i="0" u="none" strike="noStrike" cap="none">
              <a:solidFill>
                <a:schemeClr val="dk1"/>
              </a:solidFill>
              <a:latin typeface="Helvetica Neue"/>
              <a:ea typeface="Helvetica Neue"/>
              <a:cs typeface="Helvetica Neue"/>
              <a:sym typeface="Helvetica Neue"/>
            </a:endParaRPr>
          </a:p>
        </p:txBody>
      </p:sp>
      <p:sp>
        <p:nvSpPr>
          <p:cNvPr id="301" name="Google Shape;301;p14"/>
          <p:cNvSpPr/>
          <p:nvPr/>
        </p:nvSpPr>
        <p:spPr>
          <a:xfrm>
            <a:off x="771525" y="817225"/>
            <a:ext cx="9464100" cy="498000"/>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A prompt that worked is worth keeping.</a:t>
            </a:r>
            <a:endParaRPr sz="3150" i="0" u="none" strike="noStrike" cap="none">
              <a:solidFill>
                <a:schemeClr val="dk1"/>
              </a:solidFill>
              <a:latin typeface="Helvetica Neue"/>
              <a:ea typeface="Helvetica Neue"/>
              <a:cs typeface="Helvetica Neue"/>
              <a:sym typeface="Helvetica Neue"/>
            </a:endParaRPr>
          </a:p>
        </p:txBody>
      </p:sp>
      <p:sp>
        <p:nvSpPr>
          <p:cNvPr id="302" name="Google Shape;302;p14"/>
          <p:cNvSpPr/>
          <p:nvPr/>
        </p:nvSpPr>
        <p:spPr>
          <a:xfrm>
            <a:off x="771525" y="2381250"/>
            <a:ext cx="628650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BLANK OUT THE SPECIFICS</a:t>
            </a:r>
            <a:endParaRPr sz="1350" i="0" u="none" strike="noStrike" cap="none">
              <a:solidFill>
                <a:schemeClr val="dk1"/>
              </a:solidFill>
              <a:latin typeface="Helvetica Neue"/>
              <a:ea typeface="Helvetica Neue"/>
              <a:cs typeface="Helvetica Neue"/>
              <a:sym typeface="Helvetica Neue"/>
            </a:endParaRPr>
          </a:p>
        </p:txBody>
      </p:sp>
      <p:sp>
        <p:nvSpPr>
          <p:cNvPr id="303" name="Google Shape;303;p14"/>
          <p:cNvSpPr/>
          <p:nvPr/>
        </p:nvSpPr>
        <p:spPr>
          <a:xfrm>
            <a:off x="771525" y="2832720"/>
            <a:ext cx="5715000" cy="1748730"/>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04" name="Google Shape;304;p14"/>
          <p:cNvSpPr/>
          <p:nvPr/>
        </p:nvSpPr>
        <p:spPr>
          <a:xfrm>
            <a:off x="1076325" y="3137520"/>
            <a:ext cx="5258562" cy="117723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In C for the </a:t>
            </a:r>
            <a:r>
              <a:rPr lang="en-US" sz="1575" b="1" i="0" u="none" strike="noStrike" cap="none">
                <a:solidFill>
                  <a:srgbClr val="B57946"/>
                </a:solidFill>
                <a:latin typeface="Helvetica Neue"/>
                <a:ea typeface="Helvetica Neue"/>
                <a:cs typeface="Helvetica Neue"/>
                <a:sym typeface="Helvetica Neue"/>
              </a:rPr>
              <a:t>[BOARD]</a:t>
            </a:r>
            <a:r>
              <a:rPr lang="en-US" sz="1575" i="0" u="none" strike="noStrike" cap="none">
                <a:solidFill>
                  <a:srgbClr val="000000"/>
                </a:solidFill>
                <a:latin typeface="Helvetica Neue"/>
                <a:ea typeface="Helvetica Neue"/>
                <a:cs typeface="Helvetica Neue"/>
                <a:sym typeface="Helvetica Neue"/>
              </a:rPr>
              <a:t>, write a function that reads </a:t>
            </a:r>
            <a:r>
              <a:rPr lang="en-US" sz="1575" b="1" i="0" u="none" strike="noStrike" cap="none">
                <a:solidFill>
                  <a:srgbClr val="B57946"/>
                </a:solidFill>
                <a:latin typeface="Helvetica Neue"/>
                <a:ea typeface="Helvetica Neue"/>
                <a:cs typeface="Helvetica Neue"/>
                <a:sym typeface="Helvetica Neue"/>
              </a:rPr>
              <a:t>[VALUE] </a:t>
            </a:r>
            <a:r>
              <a:rPr lang="en-US" sz="1575" i="0" u="none" strike="noStrike" cap="none">
                <a:solidFill>
                  <a:srgbClr val="000000"/>
                </a:solidFill>
                <a:latin typeface="Helvetica Neue"/>
                <a:ea typeface="Helvetica Neue"/>
                <a:cs typeface="Helvetica Neue"/>
                <a:sym typeface="Helvetica Neue"/>
              </a:rPr>
              <a:t>from the </a:t>
            </a:r>
            <a:r>
              <a:rPr lang="en-US" sz="1575" b="1" i="0" u="none" strike="noStrike" cap="none">
                <a:solidFill>
                  <a:srgbClr val="B57946"/>
                </a:solidFill>
                <a:latin typeface="Helvetica Neue"/>
                <a:ea typeface="Helvetica Neue"/>
                <a:cs typeface="Helvetica Neue"/>
                <a:sym typeface="Helvetica Neue"/>
              </a:rPr>
              <a:t>[MODULE] </a:t>
            </a:r>
            <a:r>
              <a:rPr lang="en-US" sz="1575" i="0" u="none" strike="noStrike" cap="none">
                <a:solidFill>
                  <a:srgbClr val="000000"/>
                </a:solidFill>
                <a:latin typeface="Helvetica Neue"/>
                <a:ea typeface="Helvetica Neue"/>
                <a:cs typeface="Helvetica Neue"/>
                <a:sym typeface="Helvetica Neue"/>
              </a:rPr>
              <a:t>. No dynamic allocation. Return a struct and handle a read timeout. Code only.</a:t>
            </a:r>
            <a:endParaRPr sz="1575" i="0" u="none" strike="noStrike" cap="none">
              <a:solidFill>
                <a:schemeClr val="dk1"/>
              </a:solidFill>
              <a:latin typeface="Helvetica Neue"/>
              <a:ea typeface="Helvetica Neue"/>
              <a:cs typeface="Helvetica Neue"/>
              <a:sym typeface="Helvetica Neue"/>
            </a:endParaRPr>
          </a:p>
        </p:txBody>
      </p:sp>
      <p:sp>
        <p:nvSpPr>
          <p:cNvPr id="305" name="Google Shape;305;p14"/>
          <p:cNvSpPr/>
          <p:nvPr/>
        </p:nvSpPr>
        <p:spPr>
          <a:xfrm>
            <a:off x="771525" y="4810051"/>
            <a:ext cx="5886450"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The same skeleton covers the next sensor, and the one after that.</a:t>
            </a:r>
            <a:endParaRPr sz="1575" i="0" u="none" strike="noStrike" cap="none">
              <a:solidFill>
                <a:schemeClr val="dk1"/>
              </a:solidFill>
              <a:latin typeface="Helvetica Neue"/>
              <a:ea typeface="Helvetica Neue"/>
              <a:cs typeface="Helvetica Neue"/>
              <a:sym typeface="Helvetica Neue"/>
            </a:endParaRPr>
          </a:p>
        </p:txBody>
      </p:sp>
      <p:sp>
        <p:nvSpPr>
          <p:cNvPr id="306" name="Google Shape;306;p14"/>
          <p:cNvSpPr/>
          <p:nvPr/>
        </p:nvSpPr>
        <p:spPr>
          <a:xfrm>
            <a:off x="7210425" y="2381250"/>
            <a:ext cx="6307455"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WHERE TO KEEP THEM</a:t>
            </a:r>
            <a:endParaRPr sz="1350" i="0" u="none" strike="noStrike" cap="none">
              <a:solidFill>
                <a:schemeClr val="dk1"/>
              </a:solidFill>
              <a:latin typeface="Helvetica Neue"/>
              <a:ea typeface="Helvetica Neue"/>
              <a:cs typeface="Helvetica Neue"/>
              <a:sym typeface="Helvetica Neue"/>
            </a:endParaRPr>
          </a:p>
        </p:txBody>
      </p:sp>
      <p:sp>
        <p:nvSpPr>
          <p:cNvPr id="307" name="Google Shape;307;p14"/>
          <p:cNvSpPr/>
          <p:nvPr/>
        </p:nvSpPr>
        <p:spPr>
          <a:xfrm>
            <a:off x="7210425" y="2832720"/>
            <a:ext cx="5906072" cy="87816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One prompts file per project, next to the code. Three or four that you trust beat a folder of fifty you have never re-read.</a:t>
            </a:r>
            <a:endParaRPr sz="1575" i="0" u="none" strike="noStrike" cap="none">
              <a:solidFill>
                <a:schemeClr val="dk1"/>
              </a:solidFill>
              <a:latin typeface="Helvetica Neue"/>
              <a:ea typeface="Helvetica Neue"/>
              <a:cs typeface="Helvetica Neue"/>
              <a:sym typeface="Helvetica Neue"/>
            </a:endParaRPr>
          </a:p>
        </p:txBody>
      </p:sp>
      <p:sp>
        <p:nvSpPr>
          <p:cNvPr id="308" name="Google Shape;308;p14"/>
          <p:cNvSpPr/>
          <p:nvPr/>
        </p:nvSpPr>
        <p:spPr>
          <a:xfrm>
            <a:off x="7210425" y="3977580"/>
            <a:ext cx="573405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09" name="Google Shape;309;p14"/>
          <p:cNvSpPr/>
          <p:nvPr/>
        </p:nvSpPr>
        <p:spPr>
          <a:xfrm>
            <a:off x="7210425" y="4291905"/>
            <a:ext cx="6307455"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1D1D1E"/>
              </a:buClr>
              <a:buSzPts val="1350"/>
              <a:buFont typeface="Arial"/>
              <a:buNone/>
            </a:pPr>
            <a:r>
              <a:rPr lang="en-US" sz="1350" b="1" i="0" u="none" strike="noStrike" cap="none">
                <a:solidFill>
                  <a:srgbClr val="1D1D1E"/>
                </a:solidFill>
                <a:latin typeface="Helvetica Neue"/>
                <a:ea typeface="Helvetica Neue"/>
                <a:cs typeface="Helvetica Neue"/>
                <a:sym typeface="Helvetica Neue"/>
              </a:rPr>
              <a:t>WORTH RECYCLING</a:t>
            </a:r>
            <a:endParaRPr sz="1350" i="0" u="none" strike="noStrike" cap="none">
              <a:solidFill>
                <a:schemeClr val="dk1"/>
              </a:solidFill>
              <a:latin typeface="Helvetica Neue"/>
              <a:ea typeface="Helvetica Neue"/>
              <a:cs typeface="Helvetica Neue"/>
              <a:sym typeface="Helvetica Neue"/>
            </a:endParaRPr>
          </a:p>
        </p:txBody>
      </p:sp>
      <p:sp>
        <p:nvSpPr>
          <p:cNvPr id="310" name="Google Shape;310;p14"/>
          <p:cNvSpPr/>
          <p:nvPr/>
        </p:nvSpPr>
        <p:spPr>
          <a:xfrm>
            <a:off x="7210425" y="4705276"/>
            <a:ext cx="5906072"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The driver prompt. The debug prompt. The README prompt. The grill-me prompt.</a:t>
            </a:r>
            <a:endParaRPr sz="1575" i="0" u="none" strike="noStrike" cap="none">
              <a:solidFill>
                <a:schemeClr val="dk1"/>
              </a:solidFill>
              <a:latin typeface="Helvetica Neue"/>
              <a:ea typeface="Helvetica Neue"/>
              <a:cs typeface="Helvetica Neue"/>
              <a:sym typeface="Helvetica Neue"/>
            </a:endParaRPr>
          </a:p>
        </p:txBody>
      </p:sp>
      <p:sp>
        <p:nvSpPr>
          <p:cNvPr id="311" name="Google Shape;311;p14"/>
          <p:cNvSpPr/>
          <p:nvPr/>
        </p:nvSpPr>
        <p:spPr>
          <a:xfrm>
            <a:off x="7210425" y="5417716"/>
            <a:ext cx="5906072"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i="0" u="none" strike="noStrike" cap="none">
                <a:solidFill>
                  <a:srgbClr val="76706C"/>
                </a:solidFill>
                <a:latin typeface="Helvetica Neue"/>
                <a:ea typeface="Helvetica Neue"/>
                <a:cs typeface="Helvetica Neue"/>
                <a:sym typeface="Helvetica Neue"/>
              </a:rPr>
              <a:t>Note what you changed and why, in one line, at the top of the file.</a:t>
            </a:r>
            <a:endParaRPr sz="1575" i="0" u="none" strike="noStrike" cap="none">
              <a:solidFill>
                <a:schemeClr val="dk1"/>
              </a:solidFill>
              <a:latin typeface="Helvetica Neue"/>
              <a:ea typeface="Helvetica Neue"/>
              <a:cs typeface="Helvetica Neue"/>
              <a:sym typeface="Helvetica Neue"/>
            </a:endParaRPr>
          </a:p>
        </p:txBody>
      </p:sp>
      <p:sp>
        <p:nvSpPr>
          <p:cNvPr id="312" name="Google Shape;312;p14"/>
          <p:cNvSpPr/>
          <p:nvPr/>
        </p:nvSpPr>
        <p:spPr>
          <a:xfrm>
            <a:off x="13092261" y="209550"/>
            <a:ext cx="27131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b="0" i="0" u="none" strike="noStrike" cap="none">
                <a:solidFill>
                  <a:srgbClr val="76706C"/>
                </a:solidFill>
                <a:latin typeface="Arial"/>
                <a:ea typeface="Arial"/>
                <a:cs typeface="Arial"/>
                <a:sym typeface="Arial"/>
              </a:rPr>
              <a:t>12</a:t>
            </a:r>
            <a:endParaRPr sz="1200" b="0" i="0" u="none" strike="noStrike" cap="none">
              <a:solidFill>
                <a:schemeClr val="dk1"/>
              </a:solidFill>
              <a:latin typeface="Calibri"/>
              <a:ea typeface="Calibri"/>
              <a:cs typeface="Calibri"/>
              <a:sym typeface="Calibri"/>
            </a:endParaRPr>
          </a:p>
        </p:txBody>
      </p:sp>
      <p:sp>
        <p:nvSpPr>
          <p:cNvPr id="313" name="Google Shape;313;p14"/>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318"/>
        <p:cNvGrpSpPr/>
        <p:nvPr/>
      </p:nvGrpSpPr>
      <p:grpSpPr>
        <a:xfrm>
          <a:off x="0" y="0"/>
          <a:ext cx="0" cy="0"/>
          <a:chOff x="0" y="0"/>
          <a:chExt cx="0" cy="0"/>
        </a:xfrm>
      </p:grpSpPr>
      <p:sp>
        <p:nvSpPr>
          <p:cNvPr id="319" name="Google Shape;319;p15"/>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5"/>
          <p:cNvSpPr/>
          <p:nvPr/>
        </p:nvSpPr>
        <p:spPr>
          <a:xfrm>
            <a:off x="771525" y="428625"/>
            <a:ext cx="7728057"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Live Demo</a:t>
            </a:r>
            <a:endParaRPr sz="1800" i="0" u="none" strike="noStrike" cap="none">
              <a:solidFill>
                <a:schemeClr val="dk1"/>
              </a:solidFill>
              <a:latin typeface="Helvetica Neue"/>
              <a:ea typeface="Helvetica Neue"/>
              <a:cs typeface="Helvetica Neue"/>
              <a:sym typeface="Helvetica Neue"/>
            </a:endParaRPr>
          </a:p>
        </p:txBody>
      </p:sp>
      <p:sp>
        <p:nvSpPr>
          <p:cNvPr id="321" name="Google Shape;321;p15"/>
          <p:cNvSpPr/>
          <p:nvPr/>
        </p:nvSpPr>
        <p:spPr>
          <a:xfrm>
            <a:off x="771525" y="817215"/>
            <a:ext cx="7728057"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One prompt, start to compiled firmware.</a:t>
            </a:r>
            <a:endParaRPr sz="3150" i="0" u="none" strike="noStrike" cap="none">
              <a:solidFill>
                <a:schemeClr val="dk1"/>
              </a:solidFill>
              <a:latin typeface="Helvetica Neue"/>
              <a:ea typeface="Helvetica Neue"/>
              <a:cs typeface="Helvetica Neue"/>
              <a:sym typeface="Helvetica Neue"/>
            </a:endParaRPr>
          </a:p>
        </p:txBody>
      </p:sp>
      <p:sp>
        <p:nvSpPr>
          <p:cNvPr id="322" name="Google Shape;322;p15"/>
          <p:cNvSpPr/>
          <p:nvPr/>
        </p:nvSpPr>
        <p:spPr>
          <a:xfrm>
            <a:off x="771525" y="2762250"/>
            <a:ext cx="5101590" cy="87816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2000" i="0" u="none" strike="noStrike" cap="none" dirty="0">
                <a:solidFill>
                  <a:srgbClr val="000000"/>
                </a:solidFill>
                <a:latin typeface="Helvetica Neue"/>
                <a:ea typeface="Helvetica Neue"/>
                <a:cs typeface="Helvetica Neue"/>
                <a:sym typeface="Helvetica Neue"/>
              </a:rPr>
              <a:t>Plug in any sensor and build an interactive experience with a prompt</a:t>
            </a:r>
            <a:endParaRPr sz="2000" i="0" u="none" strike="noStrike" cap="none" dirty="0">
              <a:solidFill>
                <a:schemeClr val="dk1"/>
              </a:solidFill>
              <a:latin typeface="Helvetica Neue"/>
              <a:ea typeface="Helvetica Neue"/>
              <a:cs typeface="Helvetica Neue"/>
              <a:sym typeface="Helvetica Neue"/>
            </a:endParaRPr>
          </a:p>
        </p:txBody>
      </p:sp>
      <p:sp>
        <p:nvSpPr>
          <p:cNvPr id="323" name="Google Shape;323;p15"/>
          <p:cNvSpPr/>
          <p:nvPr/>
        </p:nvSpPr>
        <p:spPr>
          <a:xfrm>
            <a:off x="771525" y="3983310"/>
            <a:ext cx="4953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5"/>
          <p:cNvSpPr/>
          <p:nvPr/>
        </p:nvSpPr>
        <p:spPr>
          <a:xfrm>
            <a:off x="771525" y="4221435"/>
            <a:ext cx="5101590" cy="31812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76706C"/>
              </a:buClr>
              <a:buSzPts val="1575"/>
              <a:buFont typeface="Arial"/>
              <a:buNone/>
            </a:pPr>
            <a:r>
              <a:rPr lang="en-US" sz="1575" b="0" i="0" u="none" strike="noStrike" cap="none">
                <a:solidFill>
                  <a:srgbClr val="76706C"/>
                </a:solidFill>
                <a:latin typeface="Arial"/>
                <a:ea typeface="Arial"/>
                <a:cs typeface="Arial"/>
                <a:sym typeface="Arial"/>
              </a:rPr>
              <a:t>5 minutes, then questions.</a:t>
            </a:r>
            <a:endParaRPr sz="1575" b="0" i="0" u="none" strike="noStrike" cap="none">
              <a:solidFill>
                <a:schemeClr val="dk1"/>
              </a:solidFill>
              <a:latin typeface="Calibri"/>
              <a:ea typeface="Calibri"/>
              <a:cs typeface="Calibri"/>
              <a:sym typeface="Calibri"/>
            </a:endParaRPr>
          </a:p>
        </p:txBody>
      </p:sp>
      <p:sp>
        <p:nvSpPr>
          <p:cNvPr id="325" name="Google Shape;325;p15"/>
          <p:cNvSpPr/>
          <p:nvPr/>
        </p:nvSpPr>
        <p:spPr>
          <a:xfrm>
            <a:off x="6829425" y="1619250"/>
            <a:ext cx="6115050" cy="49530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6" name="Google Shape;326;p15" descr="preencoded.png"/>
          <p:cNvPicPr preferRelativeResize="0"/>
          <p:nvPr/>
        </p:nvPicPr>
        <p:blipFill rotWithShape="1">
          <a:blip r:embed="rId3">
            <a:alphaModFix/>
          </a:blip>
          <a:srcRect l="3702" r="3702"/>
          <a:stretch/>
        </p:blipFill>
        <p:spPr>
          <a:xfrm>
            <a:off x="6829425" y="1619250"/>
            <a:ext cx="6115050" cy="4953000"/>
          </a:xfrm>
          <a:prstGeom prst="rect">
            <a:avLst/>
          </a:prstGeom>
          <a:noFill/>
          <a:ln>
            <a:noFill/>
          </a:ln>
        </p:spPr>
      </p:pic>
      <p:sp>
        <p:nvSpPr>
          <p:cNvPr id="327" name="Google Shape;327;p15"/>
          <p:cNvSpPr/>
          <p:nvPr/>
        </p:nvSpPr>
        <p:spPr>
          <a:xfrm>
            <a:off x="13092261" y="209550"/>
            <a:ext cx="27131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13</a:t>
            </a:r>
            <a:endParaRPr sz="1200" i="0" u="none" strike="noStrike" cap="none">
              <a:solidFill>
                <a:schemeClr val="dk1"/>
              </a:solidFill>
              <a:latin typeface="Helvetica Neue"/>
              <a:ea typeface="Helvetica Neue"/>
              <a:cs typeface="Helvetica Neue"/>
              <a:sym typeface="Helvetica Neue"/>
            </a:endParaRPr>
          </a:p>
        </p:txBody>
      </p:sp>
      <p:sp>
        <p:nvSpPr>
          <p:cNvPr id="328" name="Google Shape;328;p15"/>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333"/>
        <p:cNvGrpSpPr/>
        <p:nvPr/>
      </p:nvGrpSpPr>
      <p:grpSpPr>
        <a:xfrm>
          <a:off x="0" y="0"/>
          <a:ext cx="0" cy="0"/>
          <a:chOff x="0" y="0"/>
          <a:chExt cx="0" cy="0"/>
        </a:xfrm>
      </p:grpSpPr>
      <p:sp>
        <p:nvSpPr>
          <p:cNvPr id="334" name="Google Shape;334;p16"/>
          <p:cNvSpPr/>
          <p:nvPr/>
        </p:nvSpPr>
        <p:spPr>
          <a:xfrm>
            <a:off x="428625" y="428625"/>
            <a:ext cx="38100" cy="848618"/>
          </a:xfrm>
          <a:prstGeom prst="rect">
            <a:avLst/>
          </a:prstGeom>
          <a:solidFill>
            <a:srgbClr val="B57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6"/>
          <p:cNvSpPr/>
          <p:nvPr/>
        </p:nvSpPr>
        <p:spPr>
          <a:xfrm>
            <a:off x="771525" y="428625"/>
            <a:ext cx="5128573" cy="31239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Recap &amp; Next Lesson</a:t>
            </a:r>
            <a:endParaRPr sz="1800" i="0" u="none" strike="noStrike" cap="none">
              <a:solidFill>
                <a:schemeClr val="dk1"/>
              </a:solidFill>
              <a:latin typeface="Helvetica Neue"/>
              <a:ea typeface="Helvetica Neue"/>
              <a:cs typeface="Helvetica Neue"/>
              <a:sym typeface="Helvetica Neue"/>
            </a:endParaRPr>
          </a:p>
        </p:txBody>
      </p:sp>
      <p:sp>
        <p:nvSpPr>
          <p:cNvPr id="336" name="Google Shape;336;p16"/>
          <p:cNvSpPr/>
          <p:nvPr/>
        </p:nvSpPr>
        <p:spPr>
          <a:xfrm>
            <a:off x="771525" y="817215"/>
            <a:ext cx="5128573" cy="498128"/>
          </a:xfrm>
          <a:prstGeom prst="rect">
            <a:avLst/>
          </a:prstGeom>
          <a:noFill/>
          <a:ln>
            <a:noFill/>
          </a:ln>
        </p:spPr>
        <p:txBody>
          <a:bodyPr spcFirstLastPara="1" wrap="square" lIns="25400" tIns="25400" rIns="25400" bIns="25400" anchor="t" anchorCtr="0">
            <a:noAutofit/>
          </a:bodyPr>
          <a:lstStyle/>
          <a:p>
            <a:pPr marL="0" marR="0" lvl="0" indent="0" algn="l" rtl="0">
              <a:lnSpc>
                <a:spcPct val="99588"/>
              </a:lnSpc>
              <a:spcBef>
                <a:spcPts val="0"/>
              </a:spcBef>
              <a:spcAft>
                <a:spcPts val="0"/>
              </a:spcAft>
              <a:buClr>
                <a:srgbClr val="1D1D1E"/>
              </a:buClr>
              <a:buSzPts val="3150"/>
              <a:buFont typeface="Arial"/>
              <a:buNone/>
            </a:pPr>
            <a:r>
              <a:rPr lang="en-US" sz="3150" b="1" i="0" u="none" strike="noStrike" cap="none">
                <a:solidFill>
                  <a:srgbClr val="1D1D1E"/>
                </a:solidFill>
                <a:latin typeface="Helvetica Neue"/>
                <a:ea typeface="Helvetica Neue"/>
                <a:cs typeface="Helvetica Neue"/>
                <a:sym typeface="Helvetica Neue"/>
              </a:rPr>
              <a:t>Three things to take away.</a:t>
            </a:r>
            <a:endParaRPr sz="3150" i="0" u="none" strike="noStrike" cap="none">
              <a:solidFill>
                <a:schemeClr val="dk1"/>
              </a:solidFill>
              <a:latin typeface="Helvetica Neue"/>
              <a:ea typeface="Helvetica Neue"/>
              <a:cs typeface="Helvetica Neue"/>
              <a:sym typeface="Helvetica Neue"/>
            </a:endParaRPr>
          </a:p>
        </p:txBody>
      </p:sp>
      <p:sp>
        <p:nvSpPr>
          <p:cNvPr id="337" name="Google Shape;337;p16"/>
          <p:cNvSpPr/>
          <p:nvPr/>
        </p:nvSpPr>
        <p:spPr>
          <a:xfrm>
            <a:off x="6829425" y="2286000"/>
            <a:ext cx="9525" cy="4095750"/>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38" name="Google Shape;338;p16"/>
          <p:cNvSpPr/>
          <p:nvPr/>
        </p:nvSpPr>
        <p:spPr>
          <a:xfrm>
            <a:off x="771525" y="2286000"/>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39" name="Google Shape;339;p16"/>
          <p:cNvSpPr/>
          <p:nvPr/>
        </p:nvSpPr>
        <p:spPr>
          <a:xfrm>
            <a:off x="771525" y="2543175"/>
            <a:ext cx="457200" cy="87816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1</a:t>
            </a:r>
            <a:endParaRPr sz="1800" i="0" u="none" strike="noStrike" cap="none">
              <a:solidFill>
                <a:schemeClr val="dk1"/>
              </a:solidFill>
              <a:latin typeface="Helvetica Neue"/>
              <a:ea typeface="Helvetica Neue"/>
              <a:cs typeface="Helvetica Neue"/>
              <a:sym typeface="Helvetica Neue"/>
            </a:endParaRPr>
          </a:p>
        </p:txBody>
      </p:sp>
      <p:sp>
        <p:nvSpPr>
          <p:cNvPr id="340" name="Google Shape;340;p16"/>
          <p:cNvSpPr/>
          <p:nvPr/>
        </p:nvSpPr>
        <p:spPr>
          <a:xfrm>
            <a:off x="1457325" y="2543175"/>
            <a:ext cx="4787646" cy="87816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AI shortens the drafting inside every stage. It does not remove a stage, and it does not remove you.</a:t>
            </a:r>
            <a:endParaRPr sz="1575" i="0" u="none" strike="noStrike" cap="none">
              <a:solidFill>
                <a:schemeClr val="dk1"/>
              </a:solidFill>
              <a:latin typeface="Helvetica Neue"/>
              <a:ea typeface="Helvetica Neue"/>
              <a:cs typeface="Helvetica Neue"/>
              <a:sym typeface="Helvetica Neue"/>
            </a:endParaRPr>
          </a:p>
        </p:txBody>
      </p:sp>
      <p:sp>
        <p:nvSpPr>
          <p:cNvPr id="341" name="Google Shape;341;p16"/>
          <p:cNvSpPr/>
          <p:nvPr/>
        </p:nvSpPr>
        <p:spPr>
          <a:xfrm>
            <a:off x="771525" y="3630885"/>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42" name="Google Shape;342;p16"/>
          <p:cNvSpPr/>
          <p:nvPr/>
        </p:nvSpPr>
        <p:spPr>
          <a:xfrm>
            <a:off x="771525" y="3888060"/>
            <a:ext cx="457200" cy="59814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2</a:t>
            </a:r>
            <a:endParaRPr sz="1800" i="0" u="none" strike="noStrike" cap="none">
              <a:solidFill>
                <a:schemeClr val="dk1"/>
              </a:solidFill>
              <a:latin typeface="Helvetica Neue"/>
              <a:ea typeface="Helvetica Neue"/>
              <a:cs typeface="Helvetica Neue"/>
              <a:sym typeface="Helvetica Neue"/>
            </a:endParaRPr>
          </a:p>
        </p:txBody>
      </p:sp>
      <p:sp>
        <p:nvSpPr>
          <p:cNvPr id="343" name="Google Shape;343;p16"/>
          <p:cNvSpPr/>
          <p:nvPr/>
        </p:nvSpPr>
        <p:spPr>
          <a:xfrm>
            <a:off x="1457325" y="3888060"/>
            <a:ext cx="4787646"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Pick the agent by how much of your project the answer depends on.</a:t>
            </a:r>
            <a:endParaRPr sz="1575" i="0" u="none" strike="noStrike" cap="none">
              <a:solidFill>
                <a:schemeClr val="dk1"/>
              </a:solidFill>
              <a:latin typeface="Helvetica Neue"/>
              <a:ea typeface="Helvetica Neue"/>
              <a:cs typeface="Helvetica Neue"/>
              <a:sym typeface="Helvetica Neue"/>
            </a:endParaRPr>
          </a:p>
        </p:txBody>
      </p:sp>
      <p:sp>
        <p:nvSpPr>
          <p:cNvPr id="344" name="Google Shape;344;p16"/>
          <p:cNvSpPr/>
          <p:nvPr/>
        </p:nvSpPr>
        <p:spPr>
          <a:xfrm>
            <a:off x="771525" y="5760616"/>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45" name="Google Shape;345;p16"/>
          <p:cNvSpPr/>
          <p:nvPr/>
        </p:nvSpPr>
        <p:spPr>
          <a:xfrm>
            <a:off x="771525" y="4695751"/>
            <a:ext cx="5334000" cy="9525"/>
          </a:xfrm>
          <a:prstGeom prst="rect">
            <a:avLst/>
          </a:pr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46" name="Google Shape;346;p16"/>
          <p:cNvSpPr/>
          <p:nvPr/>
        </p:nvSpPr>
        <p:spPr>
          <a:xfrm>
            <a:off x="771525" y="4952926"/>
            <a:ext cx="457200" cy="598140"/>
          </a:xfrm>
          <a:prstGeom prst="rect">
            <a:avLst/>
          </a:prstGeom>
          <a:noFill/>
          <a:ln>
            <a:noFill/>
          </a:ln>
        </p:spPr>
        <p:txBody>
          <a:bodyPr spcFirstLastPara="1" wrap="square" lIns="25400" tIns="25400" rIns="25400" bIns="25400" anchor="t" anchorCtr="0">
            <a:noAutofit/>
          </a:bodyPr>
          <a:lstStyle/>
          <a:p>
            <a:pPr marL="0" marR="0" lvl="0" indent="0" algn="l" rtl="0">
              <a:lnSpc>
                <a:spcPct val="104727"/>
              </a:lnSpc>
              <a:spcBef>
                <a:spcPts val="0"/>
              </a:spcBef>
              <a:spcAft>
                <a:spcPts val="0"/>
              </a:spcAft>
              <a:buClr>
                <a:srgbClr val="B57946"/>
              </a:buClr>
              <a:buSzPts val="1800"/>
              <a:buFont typeface="Arial"/>
              <a:buNone/>
            </a:pPr>
            <a:r>
              <a:rPr lang="en-US" sz="1800" b="1" i="0" u="none" strike="noStrike" cap="none">
                <a:solidFill>
                  <a:srgbClr val="B57946"/>
                </a:solidFill>
                <a:latin typeface="Helvetica Neue"/>
                <a:ea typeface="Helvetica Neue"/>
                <a:cs typeface="Helvetica Neue"/>
                <a:sym typeface="Helvetica Neue"/>
              </a:rPr>
              <a:t>3</a:t>
            </a:r>
            <a:endParaRPr sz="1800" i="0" u="none" strike="noStrike" cap="none">
              <a:solidFill>
                <a:schemeClr val="dk1"/>
              </a:solidFill>
              <a:latin typeface="Helvetica Neue"/>
              <a:ea typeface="Helvetica Neue"/>
              <a:cs typeface="Helvetica Neue"/>
              <a:sym typeface="Helvetica Neue"/>
            </a:endParaRPr>
          </a:p>
        </p:txBody>
      </p:sp>
      <p:sp>
        <p:nvSpPr>
          <p:cNvPr id="347" name="Google Shape;347;p16"/>
          <p:cNvSpPr/>
          <p:nvPr/>
        </p:nvSpPr>
        <p:spPr>
          <a:xfrm>
            <a:off x="1457325" y="4952926"/>
            <a:ext cx="4787646" cy="59814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Role, Goal, Context — then set a marker so you can tell when the model has lost them.</a:t>
            </a:r>
            <a:endParaRPr sz="1575" i="0" u="none" strike="noStrike" cap="none">
              <a:solidFill>
                <a:schemeClr val="dk1"/>
              </a:solidFill>
              <a:latin typeface="Helvetica Neue"/>
              <a:ea typeface="Helvetica Neue"/>
              <a:cs typeface="Helvetica Neue"/>
              <a:sym typeface="Helvetica Neue"/>
            </a:endParaRPr>
          </a:p>
        </p:txBody>
      </p:sp>
      <p:sp>
        <p:nvSpPr>
          <p:cNvPr id="348" name="Google Shape;348;p16"/>
          <p:cNvSpPr/>
          <p:nvPr/>
        </p:nvSpPr>
        <p:spPr>
          <a:xfrm>
            <a:off x="7524750" y="2286000"/>
            <a:ext cx="5951220" cy="260970"/>
          </a:xfrm>
          <a:prstGeom prst="rect">
            <a:avLst/>
          </a:prstGeom>
          <a:noFill/>
          <a:ln>
            <a:noFill/>
          </a:ln>
        </p:spPr>
        <p:txBody>
          <a:bodyPr spcFirstLastPara="1" wrap="square" lIns="25400" tIns="25400" rIns="25400" bIns="25400" anchor="t" anchorCtr="0">
            <a:noAutofit/>
          </a:bodyPr>
          <a:lstStyle/>
          <a:p>
            <a:pPr marL="0" marR="0" lvl="0" indent="0" algn="l" rtl="0">
              <a:lnSpc>
                <a:spcPct val="111429"/>
              </a:lnSpc>
              <a:spcBef>
                <a:spcPts val="0"/>
              </a:spcBef>
              <a:spcAft>
                <a:spcPts val="0"/>
              </a:spcAft>
              <a:buClr>
                <a:srgbClr val="B57946"/>
              </a:buClr>
              <a:buSzPts val="1350"/>
              <a:buFont typeface="Arial"/>
              <a:buNone/>
            </a:pPr>
            <a:r>
              <a:rPr lang="en-US" sz="1350" b="1" i="0" u="none" strike="noStrike" cap="none">
                <a:solidFill>
                  <a:srgbClr val="B57946"/>
                </a:solidFill>
                <a:latin typeface="Helvetica Neue"/>
                <a:ea typeface="Helvetica Neue"/>
                <a:cs typeface="Helvetica Neue"/>
                <a:sym typeface="Helvetica Neue"/>
              </a:rPr>
              <a:t>LESSON 2</a:t>
            </a:r>
            <a:endParaRPr sz="1350" i="0" u="none" strike="noStrike" cap="none">
              <a:solidFill>
                <a:schemeClr val="dk1"/>
              </a:solidFill>
              <a:latin typeface="Helvetica Neue"/>
              <a:ea typeface="Helvetica Neue"/>
              <a:cs typeface="Helvetica Neue"/>
              <a:sym typeface="Helvetica Neue"/>
            </a:endParaRPr>
          </a:p>
        </p:txBody>
      </p:sp>
      <p:sp>
        <p:nvSpPr>
          <p:cNvPr id="349" name="Google Shape;349;p16"/>
          <p:cNvSpPr/>
          <p:nvPr/>
        </p:nvSpPr>
        <p:spPr>
          <a:xfrm>
            <a:off x="7524750" y="2737470"/>
            <a:ext cx="5951220" cy="388590"/>
          </a:xfrm>
          <a:prstGeom prst="rect">
            <a:avLst/>
          </a:prstGeom>
          <a:noFill/>
          <a:ln>
            <a:noFill/>
          </a:ln>
        </p:spPr>
        <p:txBody>
          <a:bodyPr spcFirstLastPara="1" wrap="square" lIns="25400" tIns="25400" rIns="25400" bIns="25400" anchor="t" anchorCtr="0">
            <a:noAutofit/>
          </a:bodyPr>
          <a:lstStyle/>
          <a:p>
            <a:pPr marL="0" marR="0" lvl="0" indent="0" algn="l" rtl="0">
              <a:lnSpc>
                <a:spcPct val="99459"/>
              </a:lnSpc>
              <a:spcBef>
                <a:spcPts val="0"/>
              </a:spcBef>
              <a:spcAft>
                <a:spcPts val="0"/>
              </a:spcAft>
              <a:buClr>
                <a:srgbClr val="1D1D1E"/>
              </a:buClr>
              <a:buSzPts val="2400"/>
              <a:buFont typeface="Arial"/>
              <a:buNone/>
            </a:pPr>
            <a:r>
              <a:rPr lang="en-US" sz="2400" b="1" i="0" u="none" strike="noStrike" cap="none">
                <a:solidFill>
                  <a:srgbClr val="1D1D1E"/>
                </a:solidFill>
                <a:latin typeface="Helvetica Neue"/>
                <a:ea typeface="Helvetica Neue"/>
                <a:cs typeface="Helvetica Neue"/>
                <a:sym typeface="Helvetica Neue"/>
              </a:rPr>
              <a:t>AI-Powered Firmware Development</a:t>
            </a:r>
            <a:endParaRPr sz="2400" i="0" u="none" strike="noStrike" cap="none">
              <a:solidFill>
                <a:schemeClr val="dk1"/>
              </a:solidFill>
              <a:latin typeface="Helvetica Neue"/>
              <a:ea typeface="Helvetica Neue"/>
              <a:cs typeface="Helvetica Neue"/>
              <a:sym typeface="Helvetica Neue"/>
            </a:endParaRPr>
          </a:p>
        </p:txBody>
      </p:sp>
      <p:sp>
        <p:nvSpPr>
          <p:cNvPr id="350" name="Google Shape;350;p16"/>
          <p:cNvSpPr/>
          <p:nvPr/>
        </p:nvSpPr>
        <p:spPr>
          <a:xfrm>
            <a:off x="7524750" y="3354660"/>
            <a:ext cx="5572506" cy="1158180"/>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i="0" u="none" strike="noStrike" cap="none">
                <a:solidFill>
                  <a:srgbClr val="000000"/>
                </a:solidFill>
                <a:latin typeface="Helvetica Neue"/>
                <a:ea typeface="Helvetica Neue"/>
                <a:cs typeface="Helvetica Neue"/>
                <a:sym typeface="Helvetica Neue"/>
              </a:rPr>
              <a:t>Using the INCIPE Workspace AI agent for firmware compilation. AI-assisted code review and optimization. Understanding the limits of AI: when to trust it, and when to write your own code.</a:t>
            </a:r>
            <a:endParaRPr sz="1575" i="0" u="none" strike="noStrike" cap="none">
              <a:solidFill>
                <a:schemeClr val="dk1"/>
              </a:solidFill>
              <a:latin typeface="Helvetica Neue"/>
              <a:ea typeface="Helvetica Neue"/>
              <a:cs typeface="Helvetica Neue"/>
              <a:sym typeface="Helvetica Neue"/>
            </a:endParaRPr>
          </a:p>
        </p:txBody>
      </p:sp>
      <p:sp>
        <p:nvSpPr>
          <p:cNvPr id="351" name="Google Shape;351;p16"/>
          <p:cNvSpPr/>
          <p:nvPr/>
        </p:nvSpPr>
        <p:spPr>
          <a:xfrm>
            <a:off x="7524750" y="4779541"/>
            <a:ext cx="5410200" cy="1382985"/>
          </a:xfrm>
          <a:prstGeom prst="rect">
            <a:avLst/>
          </a:pr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52" name="Google Shape;352;p16"/>
          <p:cNvSpPr/>
          <p:nvPr/>
        </p:nvSpPr>
        <p:spPr>
          <a:xfrm>
            <a:off x="7829550" y="5046241"/>
            <a:ext cx="4962906" cy="887685"/>
          </a:xfrm>
          <a:prstGeom prst="rect">
            <a:avLst/>
          </a:prstGeom>
          <a:noFill/>
          <a:ln>
            <a:noFill/>
          </a:ln>
        </p:spPr>
        <p:txBody>
          <a:bodyPr spcFirstLastPara="1" wrap="square" lIns="25400" tIns="25400" rIns="25400" bIns="25400" anchor="t" anchorCtr="0">
            <a:noAutofit/>
          </a:bodyPr>
          <a:lstStyle/>
          <a:p>
            <a:pPr marL="0" marR="0" lvl="0" indent="0" algn="l" rtl="0">
              <a:lnSpc>
                <a:spcPct val="122500"/>
              </a:lnSpc>
              <a:spcBef>
                <a:spcPts val="0"/>
              </a:spcBef>
              <a:spcAft>
                <a:spcPts val="0"/>
              </a:spcAft>
              <a:buClr>
                <a:srgbClr val="000000"/>
              </a:buClr>
              <a:buSzPts val="1575"/>
              <a:buFont typeface="Arial"/>
              <a:buNone/>
            </a:pPr>
            <a:r>
              <a:rPr lang="en-US" sz="1575" b="1" i="0" u="none" strike="noStrike" cap="none">
                <a:solidFill>
                  <a:srgbClr val="000000"/>
                </a:solidFill>
                <a:latin typeface="Helvetica Neue"/>
                <a:ea typeface="Helvetica Neue"/>
                <a:cs typeface="Helvetica Neue"/>
                <a:sym typeface="Helvetica Neue"/>
              </a:rPr>
              <a:t>Practice. </a:t>
            </a:r>
            <a:r>
              <a:rPr lang="en-US" sz="1575" i="0" u="none" strike="noStrike" cap="none">
                <a:solidFill>
                  <a:srgbClr val="000000"/>
                </a:solidFill>
                <a:highlight>
                  <a:srgbClr val="E1E1E1"/>
                </a:highlight>
                <a:latin typeface="Helvetica Neue"/>
                <a:ea typeface="Helvetica Neue"/>
                <a:cs typeface="Helvetica Neue"/>
                <a:sym typeface="Helvetica Neue"/>
              </a:rPr>
              <a:t>Use AI to generate a function that reads from the Temperature &amp; Humidity sensor, then manually optimize the memory usage.</a:t>
            </a:r>
            <a:endParaRPr sz="1575" i="0" u="none" strike="noStrike" cap="none">
              <a:solidFill>
                <a:schemeClr val="dk1"/>
              </a:solidFill>
              <a:latin typeface="Helvetica Neue"/>
              <a:ea typeface="Helvetica Neue"/>
              <a:cs typeface="Helvetica Neue"/>
              <a:sym typeface="Helvetica Neue"/>
            </a:endParaRPr>
          </a:p>
        </p:txBody>
      </p:sp>
      <p:sp>
        <p:nvSpPr>
          <p:cNvPr id="353" name="Google Shape;353;p16"/>
          <p:cNvSpPr/>
          <p:nvPr/>
        </p:nvSpPr>
        <p:spPr>
          <a:xfrm>
            <a:off x="13092261" y="209550"/>
            <a:ext cx="27131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14</a:t>
            </a:r>
            <a:endParaRPr sz="1200" i="0" u="none" strike="noStrike" cap="none">
              <a:solidFill>
                <a:schemeClr val="dk1"/>
              </a:solidFill>
              <a:latin typeface="Helvetica Neue"/>
              <a:ea typeface="Helvetica Neue"/>
              <a:cs typeface="Helvetica Neue"/>
              <a:sym typeface="Helvetica Neue"/>
            </a:endParaRPr>
          </a:p>
        </p:txBody>
      </p:sp>
      <p:sp>
        <p:nvSpPr>
          <p:cNvPr id="354" name="Google Shape;354;p16"/>
          <p:cNvSpPr/>
          <p:nvPr/>
        </p:nvSpPr>
        <p:spPr>
          <a:xfrm>
            <a:off x="9465171" y="7088535"/>
            <a:ext cx="4204424" cy="236190"/>
          </a:xfrm>
          <a:prstGeom prst="rect">
            <a:avLst/>
          </a:prstGeom>
          <a:noFill/>
          <a:ln>
            <a:noFill/>
          </a:ln>
        </p:spPr>
        <p:txBody>
          <a:bodyPr spcFirstLastPara="1" wrap="square" lIns="25400" tIns="25400" rIns="25400" bIns="25400" anchor="t" anchorCtr="0">
            <a:noAutofit/>
          </a:bodyPr>
          <a:lstStyle/>
          <a:p>
            <a:pPr marL="0" marR="0" lvl="0" indent="0" algn="l" rtl="0">
              <a:lnSpc>
                <a:spcPct val="112432"/>
              </a:lnSpc>
              <a:spcBef>
                <a:spcPts val="0"/>
              </a:spcBef>
              <a:spcAft>
                <a:spcPts val="0"/>
              </a:spcAft>
              <a:buClr>
                <a:srgbClr val="76706C"/>
              </a:buClr>
              <a:buSzPts val="1200"/>
              <a:buFont typeface="Arial"/>
              <a:buNone/>
            </a:pPr>
            <a:r>
              <a:rPr lang="en-US" sz="1200" i="0" u="none" strike="noStrike" cap="none">
                <a:solidFill>
                  <a:srgbClr val="76706C"/>
                </a:solidFill>
                <a:latin typeface="Helvetica Neue"/>
                <a:ea typeface="Helvetica Neue"/>
                <a:cs typeface="Helvetica Neue"/>
                <a:sym typeface="Helvetica Neue"/>
              </a:rPr>
              <a:t>© 2026 Incipe Academy Limited. All rights reserved.</a:t>
            </a:r>
            <a:endParaRPr sz="120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2159</Words>
  <Application>Microsoft Macintosh PowerPoint</Application>
  <PresentationFormat>Custom</PresentationFormat>
  <Paragraphs>221</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Inter Tight</vt: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Matt Matt</cp:lastModifiedBy>
  <cp:revision>1</cp:revision>
  <dcterms:modified xsi:type="dcterms:W3CDTF">2026-10-07T06:56:44Z</dcterms:modified>
</cp:coreProperties>
</file>