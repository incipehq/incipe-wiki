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parts: a quick timer revisit, finite-state machines, enum with switch case, then connecting the board to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millis() is the number of milliseconds since the board started, and it keeps growing. last_tick saves one moment on that line, so later you can check how much time has passed with millis() - last_tick. Tip: millis() returns an unsigned long, which is the safer type to store 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finite-state machine has a fixed list of states, is in exactly one at a time, and moves between them when something happens. The order shown is simplified to the three states used in the code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a state; each arrow is an event that moves the machine to another state. Trace one purchase: Idle, Accepting Coin, Product Selection, Dispensing, back to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slide listed GREEN → 7; it is corrected to 3 here. Remembering that 2 means YELLOW is hard; writing YELLOW is easy. That is the job of an enum.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commas between values, no comma after the last one, and the semicolon after the closing brace.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NUM_OF_STATES is a common trick: because counting starts at 0, the last entry equals the number of real states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light starts as RED (TrafficLight light = RED;), so only the RED case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traffic light state machine in code: the enum lists the states, light holds the current state, and the switch decides what each state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send a request through the internet; the server sends back a response. The board joins the network as a client using the SSID and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YourWiFiName and YourWiFiPassword with the classroom network. Note Serial.begin(115200): set the serial monitor to 115200 baud, not 9600, or the output looks garbled.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RSSI is negative: -50 is stronger than -85. Ask students to walk away from the router and watch the number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176143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176143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9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Advanced Programming II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45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574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states in code to the board on Wi-Fi.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830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29110"/>
            <a:ext cx="172301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Revisit: Timer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4301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650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611090"/>
            <a:ext cx="258657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Finite-state machine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1120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47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293070"/>
            <a:ext cx="253585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 &amp; switch case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0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4760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290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47800" y="3975050"/>
            <a:ext cx="286119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Wi-Fi &amp; signal strength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394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Revisit: Timer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5372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a moment on the timeline.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4917480" cy="848320"/>
          </a:xfrm>
          <a:prstGeom prst="rect">
            <a:avLst/>
          </a:prstGeom>
          <a:solidFill>
            <a:srgbClr val="E1E1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long</a:t>
            </a:r>
            <a:r>
              <a:rPr lang="en-US" sz="2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last_tick = millis();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761680"/>
            <a:ext cx="8763000" cy="76200"/>
          </a:xfrm>
          <a:prstGeom prst="rect">
            <a:avLst/>
          </a:prstGeom>
          <a:solidFill>
            <a:srgbClr val="B57946"/>
          </a:solidFill>
          <a:ln/>
        </p:spPr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1800" y="3647380"/>
            <a:ext cx="5080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20300" y="3672780"/>
            <a:ext cx="1511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(millis)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87800" y="3355280"/>
            <a:ext cx="25400" cy="889000"/>
          </a:xfrm>
          <a:prstGeom prst="rect">
            <a:avLst/>
          </a:prstGeom>
          <a:solidFill>
            <a:srgbClr val="1D1D1E"/>
          </a:solidFill>
          <a:ln/>
        </p:spPr>
      </p:sp>
      <p:sp>
        <p:nvSpPr>
          <p:cNvPr id="11" name="Text 8"/>
          <p:cNvSpPr/>
          <p:nvPr/>
        </p:nvSpPr>
        <p:spPr>
          <a:xfrm>
            <a:off x="3454400" y="3101280"/>
            <a:ext cx="1193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last_tick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08605" y="4282380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moment the line runs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951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Finite-State Machine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0211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Traffic light: one state at a time.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087860"/>
            <a:ext cx="2286000" cy="101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65660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29780"/>
            <a:ext cx="188366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40300" y="2087860"/>
            <a:ext cx="2286000" cy="101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0" name="Text 8"/>
          <p:cNvSpPr/>
          <p:nvPr/>
        </p:nvSpPr>
        <p:spPr>
          <a:xfrm>
            <a:off x="5168900" y="2265660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8900" y="2529780"/>
            <a:ext cx="188366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94800" y="2087860"/>
            <a:ext cx="2286000" cy="101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3" name="Text 11"/>
          <p:cNvSpPr/>
          <p:nvPr/>
        </p:nvSpPr>
        <p:spPr>
          <a:xfrm>
            <a:off x="9423400" y="2265660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23400" y="2529780"/>
            <a:ext cx="188366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YELLOW</a:t>
            </a:r>
            <a:endParaRPr lang="en-US" sz="2200" dirty="0"/>
          </a:p>
        </p:txBody>
      </p:sp>
      <p:pic>
        <p:nvPicPr>
          <p:cNvPr id="15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08300" y="2532360"/>
            <a:ext cx="2095500" cy="127000"/>
          </a:xfrm>
          <a:prstGeom prst="rect">
            <a:avLst/>
          </a:prstGeom>
        </p:spPr>
      </p:pic>
      <p:pic>
        <p:nvPicPr>
          <p:cNvPr id="1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32360"/>
            <a:ext cx="2095500" cy="127000"/>
          </a:xfrm>
          <a:prstGeom prst="rect">
            <a:avLst/>
          </a:prstGeom>
        </p:spPr>
      </p:pic>
      <p:pic>
        <p:nvPicPr>
          <p:cNvPr id="1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74300" y="3040360"/>
            <a:ext cx="127000" cy="825500"/>
          </a:xfrm>
          <a:prstGeom prst="rect">
            <a:avLst/>
          </a:prstGeom>
        </p:spPr>
      </p:pic>
      <p:pic>
        <p:nvPicPr>
          <p:cNvPr id="1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765300" y="3738860"/>
            <a:ext cx="8636000" cy="127000"/>
          </a:xfrm>
          <a:prstGeom prst="rect">
            <a:avLst/>
          </a:prstGeom>
        </p:spPr>
      </p:pic>
      <p:pic>
        <p:nvPicPr>
          <p:cNvPr id="1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765300" y="3040360"/>
            <a:ext cx="127000" cy="825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48175" y="392936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back to RED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85800" y="467866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light is always in exactly one state, and it moves to the next state when its time is up.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17501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Finite-State Machine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0291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Vending machine: four states.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32260"/>
            <a:ext cx="2667000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228600" rIns="135382" bIns="2286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54800" y="1732260"/>
            <a:ext cx="2667000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228600" rIns="135382" bIns="2286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Accepting Coin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54800" y="4399260"/>
            <a:ext cx="2667000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228600" rIns="135382" bIns="2286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Selection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399260"/>
            <a:ext cx="2667000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228600" rIns="135382" bIns="2286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Dispensing</a:t>
            </a:r>
            <a:endParaRPr lang="en-US" sz="1800" dirty="0"/>
          </a:p>
        </p:txBody>
      </p:sp>
      <p:pic>
        <p:nvPicPr>
          <p:cNvPr id="10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000" y="1871960"/>
            <a:ext cx="3403600" cy="101600"/>
          </a:xfrm>
          <a:prstGeom prst="rect">
            <a:avLst/>
          </a:prstGeom>
        </p:spPr>
      </p:pic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2000" y="2252960"/>
            <a:ext cx="3403600" cy="101600"/>
          </a:xfrm>
          <a:prstGeom prst="rect">
            <a:avLst/>
          </a:prstGeom>
        </p:spPr>
      </p:pic>
      <p:pic>
        <p:nvPicPr>
          <p:cNvPr id="1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37500" y="2443460"/>
            <a:ext cx="101600" cy="2006600"/>
          </a:xfrm>
          <a:prstGeom prst="rect">
            <a:avLst/>
          </a:prstGeom>
        </p:spPr>
      </p:pic>
      <p:pic>
        <p:nvPicPr>
          <p:cNvPr id="1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02000" y="2443460"/>
            <a:ext cx="3403600" cy="2070100"/>
          </a:xfrm>
          <a:prstGeom prst="rect">
            <a:avLst/>
          </a:prstGeom>
        </p:spPr>
      </p:pic>
      <p:pic>
        <p:nvPicPr>
          <p:cNvPr id="1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02000" y="4729460"/>
            <a:ext cx="3403600" cy="101600"/>
          </a:xfrm>
          <a:prstGeom prst="rect">
            <a:avLst/>
          </a:prstGeom>
        </p:spPr>
      </p:pic>
      <p:pic>
        <p:nvPicPr>
          <p:cNvPr id="1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968500" y="2443460"/>
            <a:ext cx="101600" cy="2006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434080" y="163066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 the insert coin button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3434080" y="236726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 request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9512300" y="1922760"/>
            <a:ext cx="2027555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Insert coins (stays in this state)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115300" y="3256260"/>
            <a:ext cx="25908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 the select product button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368800" y="3383260"/>
            <a:ext cx="1270000" cy="2133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 request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434080" y="450086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product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434080" y="4856460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 Change (internal)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2146300" y="3351510"/>
            <a:ext cx="157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Collect product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37169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25828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 can stand for names.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941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 OF THE WEEK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09080"/>
            <a:ext cx="5307616" cy="1325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Monday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1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Tuesday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2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…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Sunday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225" y="1694160"/>
            <a:ext cx="6350" cy="161528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657975" y="16941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TRAFFIC LIGHT STATES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7975" y="2009080"/>
            <a:ext cx="5307616" cy="100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RED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1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YELLOW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2</a:t>
            </a:r>
            <a:endParaRPr lang="en-US" sz="1600" dirty="0"/>
          </a:p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GREEN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665041"/>
            <a:ext cx="11125200" cy="935286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" y="3868241"/>
            <a:ext cx="109357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9800" y="4145062"/>
            <a:ext cx="10935716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a way to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 friendly names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a set of related integer constants, making code more readable. Less debugging time.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3314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21137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define your own enum.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85280"/>
            <a:ext cx="5153025" cy="2181076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enum EnumName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VALUE1,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VALUE2,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VALUE3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5225" y="1744960"/>
            <a:ext cx="6350" cy="252139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7975" y="2085280"/>
            <a:ext cx="5153025" cy="2181076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enum TrafficLight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RED,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YELLOW,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GREEN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};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7027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7410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use your own enum.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 · NUMBERS START AT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85280"/>
            <a:ext cx="5153025" cy="239752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339280"/>
            <a:ext cx="2134860" cy="1914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enum TrafficLight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RED,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YELLOW,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GREEN,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NUM_OF_STATES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68080" y="2339280"/>
            <a:ext cx="416570" cy="1914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
(0)
(1)
(2)
(3)
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5225" y="1744960"/>
            <a:ext cx="6350" cy="273784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DECLARE A VARIABLE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7975" y="2085280"/>
            <a:ext cx="5153025" cy="82803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TrafficLight</a:t>
            </a:r>
            <a:r>
              <a:rPr lang="en-US" sz="18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light = RED;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7975" y="3040311"/>
            <a:ext cx="530761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enum name becomes a type, like int. light can only hold one of its values.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0257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Case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457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write switch case.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715000" cy="329267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28600" rIns="151638" bIns="20320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(light) {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RED: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RED light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GREEN: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GREEN light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YELLOW: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YELLOW light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07200" y="1592560"/>
            <a:ext cx="6350" cy="329267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219950" y="1595735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19950" y="172591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(light)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9950" y="202560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Checks the value of light.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19950" y="240466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19950" y="253484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 RED: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19950" y="283453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when light is 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19950" y="321359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9950" y="4022527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9950" y="33437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19950" y="364346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Leaves the switch. Without it, the next case runs too.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44131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enum + Switch Case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44131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together.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61120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· DEFINE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01441"/>
            <a:ext cx="5156200" cy="17399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14554" bIns="1778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enum TrafficLight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RED,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YELLOW,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GREEN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68341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· DECLARE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208661"/>
            <a:ext cx="5156200" cy="6044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114554" bIns="1524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TrafficLight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light = RED;</a:t>
            </a:r>
            <a:endParaRPr lang="en-US" sz="1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45200" y="3135511"/>
            <a:ext cx="4064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54800" y="1592560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· SWITCH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54800" y="1932880"/>
            <a:ext cx="5156200" cy="294883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14554" bIns="1778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(light) {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RED: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RED light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GREEN: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GREEN light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case YELLOW: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turn on YELLOW light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break;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87841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Wi-Fi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1854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technical terms.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4064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91010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62200" y="1894185"/>
            <a:ext cx="24592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name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5950"/>
            <a:ext cx="4064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28825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62200" y="2432000"/>
            <a:ext cx="24592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Security key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823766"/>
            <a:ext cx="4064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66641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 address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62200" y="2969816"/>
            <a:ext cx="24592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Device identifier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361581"/>
            <a:ext cx="4064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99396"/>
            <a:ext cx="4064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0445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vs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62200" y="3507631"/>
            <a:ext cx="245922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asks, who answers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56200" y="1744960"/>
            <a:ext cx="6350" cy="2921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5568950" y="2602210"/>
            <a:ext cx="1651000" cy="12065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21" name="Text 19"/>
          <p:cNvSpPr/>
          <p:nvPr/>
        </p:nvSpPr>
        <p:spPr>
          <a:xfrm>
            <a:off x="5772150" y="2780010"/>
            <a:ext cx="12954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72150" y="3105100"/>
            <a:ext cx="1295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Laptop, phone, computer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02550" y="2830810"/>
            <a:ext cx="1638300" cy="749300"/>
          </a:xfrm>
          <a:prstGeom prst="rect">
            <a:avLst/>
          </a:prstGeom>
          <a:noFill/>
          <a:ln w="12700">
            <a:solidFill>
              <a:srgbClr val="D4D4D4"/>
            </a:solidFill>
            <a:prstDash val="solid"/>
          </a:ln>
        </p:spPr>
        <p:txBody>
          <a:bodyPr wrap="square" lIns="184150" tIns="234950" rIns="184150" bIns="21466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Internet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23450" y="2602210"/>
            <a:ext cx="1651000" cy="1206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77800" rIns="152400" bIns="1778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1800" dirty="0"/>
          </a:p>
        </p:txBody>
      </p:sp>
      <p:pic>
        <p:nvPicPr>
          <p:cNvPr id="25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81850" y="3167360"/>
            <a:ext cx="552450" cy="76200"/>
          </a:xfrm>
          <a:prstGeom prst="rect">
            <a:avLst/>
          </a:prstGeom>
        </p:spPr>
      </p:pic>
      <p:pic>
        <p:nvPicPr>
          <p:cNvPr id="2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09100" y="3167360"/>
            <a:ext cx="552450" cy="76200"/>
          </a:xfrm>
          <a:prstGeom prst="rect">
            <a:avLst/>
          </a:prstGeom>
        </p:spPr>
      </p:pic>
      <p:pic>
        <p:nvPicPr>
          <p:cNvPr id="2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43650" y="2265660"/>
            <a:ext cx="4356100" cy="101600"/>
          </a:xfrm>
          <a:prstGeom prst="rect">
            <a:avLst/>
          </a:prstGeom>
        </p:spPr>
      </p:pic>
      <p:pic>
        <p:nvPicPr>
          <p:cNvPr id="2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43650" y="4043660"/>
            <a:ext cx="4356100" cy="101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40625" y="197356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540625" y="4183360"/>
            <a:ext cx="19621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156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Wi-Fi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1052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the board to Wi-Fi.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SETUP()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32880"/>
            <a:ext cx="4064000" cy="1778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120396" bIns="1778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&lt;WiFi.h&gt;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char* ssid =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"YourWiFiName"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char* password =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"YourWiFiPassword"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837880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178201"/>
            <a:ext cx="4064000" cy="1270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0396" bIns="1524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nothing (or add more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functionality later)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56200" y="1592560"/>
            <a:ext cx="6350" cy="38556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5568950" y="1592560"/>
            <a:ext cx="64293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68950" y="1932880"/>
            <a:ext cx="6242050" cy="33782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81979" bIns="1778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Serial.begin(115200);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WiFi.begin(ssid, password);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Serial.print("Connecting to WiFi...");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WiFi.status()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!= WL_CONNECTED)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delay(500);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Serial.print(".");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Serial.println("\nConnected! IP Address: ");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WiFi.localIP()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3214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Wi-Fi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2870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Step-by-step Wi-Fi connection.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09130"/>
            <a:ext cx="326151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WiFi.begin()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30761"/>
            <a:ext cx="3261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Connects to Wi-Fi.</a:t>
            </a:r>
            <a:endParaRPr lang="en-US" sz="1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5517" y="2511326"/>
            <a:ext cx="406400" cy="20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5117" y="1906885"/>
            <a:ext cx="31665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5117" y="2094210"/>
            <a:ext cx="32615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5117" y="2409130"/>
            <a:ext cx="326156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WiFi.status()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65117" y="2830761"/>
            <a:ext cx="326156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Checks connection status.</a:t>
            </a:r>
            <a:endParaRPr lang="en-US" sz="14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34883" y="2511326"/>
            <a:ext cx="406400" cy="203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644483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4483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44483" y="2409130"/>
            <a:ext cx="326151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WiFi.localIP()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644483" y="2830761"/>
            <a:ext cx="32615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success, gets the assigned IP address.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21585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Strength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40682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Closer to 0 dBm means a stronger signal.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56060"/>
          <a:ext cx="11112500" cy="2572841"/>
        </p:xfrm>
        <a:graphic>
          <a:graphicData uri="http://schemas.openxmlformats.org/drawingml/2006/table">
            <a:tbl>
              <a:tblPr/>
              <a:tblGrid>
                <a:gridCol w="2222500"/>
                <a:gridCol w="2667000"/>
                <a:gridCol w="6223000"/>
              </a:tblGrid>
              <a:tr h="4647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Signal strength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RSSI (dBm)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647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Excellent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-30 to -70 dBm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connection is strong and you shouldn’t have any issues.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Good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-71 to -80 dBm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connection is good enough for most activities.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6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Fair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-81 to -90 dBm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connection is fine for most tasks, but you may experience some issues.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7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Below -90 dBm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connection isn’t strong enough for most activities.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9692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Strength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98670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RSSI every two seconds.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985000" cy="3342084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59690" bIns="1524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Check WiFi connection status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(WiFi.status() == WL_CONNECTED) 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Get the RSSI (Received Signal Strength Indicator)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long rssi =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WiFi.RSSI()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Serial.print("Signal strength (RSSI): ");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Serial.print(rssi);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 dBm");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else 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Serial.println("WiFi disconnected");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delay(2000);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Wait 2 seconds before next reading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77200" y="1541760"/>
            <a:ext cx="6350" cy="334208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5417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188208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this loop() to the Wi-Fi sketch.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25797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your reading with the table on the last slide.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38203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10528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858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19585"/>
            <a:ext cx="82933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finite-state machine is always in one state and moves between states on events.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6750"/>
            <a:ext cx="858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0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508200"/>
            <a:ext cx="82933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enum gives friendly names to related integer constants, counting from 0.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5366"/>
            <a:ext cx="858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936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19200" y="3096816"/>
            <a:ext cx="82933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case runs the code for the current value; break ends each case.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13981"/>
            <a:ext cx="858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102596"/>
            <a:ext cx="858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82256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19200" y="3685431"/>
            <a:ext cx="829335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WiFi.begin(), WiFi.status() and WiFi.localIP() connect the board; WiFi.RSSI() reads signal strength.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K83 Lesson 9: Advanced Programming II">
  <a:themeElements>
    <a:clrScheme name="PLK83 Lesson 9: Advanced Programming II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PLK83 Lesson 9: Advanced Programming II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PLK83 Lesson 9: Advanced Programming II</dc:title>
  <dc:subject/>
  <dc:creator/>
  <cp:lastModifiedBy/>
  <cp:revision>1</cp:revision>
  <dcterms:created xsi:type="dcterms:W3CDTF">2026-10-09T05:24:36Z</dcterms:created>
  <dcterms:modified xsi:type="dcterms:W3CDTF">2026-10-09T05:24:36Z</dcterms:modified>
</cp:coreProperties>
</file>