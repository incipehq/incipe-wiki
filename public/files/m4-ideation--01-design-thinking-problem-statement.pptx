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M4 Session 1: from user pain points to a problem statement and a How might we question, a brainstorm with the INCIPE building blocks, and five IoT product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code today. Groups of 3 to 4 for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IoT is what the INCIPE kit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people, not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stages loop: testing often sends you back to empathy.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moments beat opinions: people are bad at predicting what they would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Solutions hide inside wishes. Dig under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go into the workshop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insight is the “because” — the real reason the problem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right: a timer, a reservoir, a phone alert, a neighbour — many answers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now do we think about technology.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the Wiki lists them. The IMU is coming soon; the colour sensor has no published functions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 for ideas today; some still need their arguments published before a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these you built the logic for in M3 Sessions 8 and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curriculum task: group brainstorming session to ideate 5 potential IoT product ideas using the INCIPE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keep this table for Session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ideas first, AI second — otherwise everyone gets the same ten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too broad.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too narrow.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the temperature and humidity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Empathize, Define, Ideate, Prototype,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keep your five ideas; pick a favourite to bring to Session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922020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9462" b="39462"/>
          <a:stretch/>
        </p:blipFill>
        <p:spPr>
          <a:xfrm>
            <a:off x="0" y="3003550"/>
            <a:ext cx="12192000" cy="38544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3401060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</a:t>
            </a:r>
            <a:endParaRPr lang="en-US" sz="1200" dirty="0"/>
          </a:p>
          <a:p>
            <a:pPr algn="l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4064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101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8409940" y="406400"/>
            <a:ext cx="34010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M4: Ideation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085850"/>
            <a:ext cx="10464800" cy="1454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Session 1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Thinking &amp;</a:t>
            </a:r>
            <a:endParaRPr lang="en-US" sz="3750" dirty="0"/>
          </a:p>
          <a:p>
            <a:pPr algn="ctr" indent="0" marL="0">
              <a:lnSpc>
                <a:spcPts val="3750"/>
              </a:lnSpc>
              <a:buNone/>
            </a:pPr>
            <a:r>
              <a:rPr lang="en-US" sz="375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Statement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sure it’s worth building — for a real person.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21717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7781544"/>
                <a:gridCol w="1945386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Part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Topic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Empathy: find a real pain point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7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Define: a problem statement and a “How might we” question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8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Ideate: brainstorm with the INCIPE building blocks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Workshop: five IoT product ideas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10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You’ll need sticky notes or paper, a pen, your group, and the Wiki open to look up modules.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Words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Seven words you will hear today.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874566"/>
        </p:xfrm>
        <a:graphic>
          <a:graphicData uri="http://schemas.openxmlformats.org/drawingml/2006/table">
            <a:tbl>
              <a:tblPr/>
              <a:tblGrid>
                <a:gridCol w="2810002"/>
                <a:gridCol w="7997698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Word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Plain meaning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Design thinking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Inventing by starting from people’s problems, not from the technology.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person who will use what you make — not you, unless you design for yourself.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Pain point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Something that annoys, worries or slows down a user.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Empathy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Understanding how someone else feels and what their day is really like.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Problem statement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sentence: who has the problem, what they need, and why.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might we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question that turns a problem into an invitation to find many solutions.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IoT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Internet of Things: everyday objects with sensors, a small computer and often a network.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Empathy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Listen before you prescribe.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M3 you debugged like a doctor. Design thinking starts the same way.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great product that solves nobody’s problem is a cure for an illness nobody has.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Thinking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stages. Today: the first three.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2316063"/>
        </p:xfrm>
        <a:graphic>
          <a:graphicData uri="http://schemas.openxmlformats.org/drawingml/2006/table">
            <a:tbl>
              <a:tblPr/>
              <a:tblGrid>
                <a:gridCol w="2593848"/>
                <a:gridCol w="6052312"/>
                <a:gridCol w="216154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Stage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Question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 Empathize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Who is the user, and what bothers them?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Today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 Define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exactly is the problem?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Today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3. Ideate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could solve it? (Many ideas!)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Today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 Prototype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What’s the quickest way to try one?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Session 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5. Test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Does it actually help the user?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Session 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Finding Pain Points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ways to find what bothers people.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90700"/>
          <a:ext cx="10807700" cy="1663402"/>
        </p:xfrm>
        <a:graphic>
          <a:graphicData uri="http://schemas.openxmlformats.org/drawingml/2006/table">
            <a:tbl>
              <a:tblPr/>
              <a:tblGrid>
                <a:gridCol w="2593848"/>
                <a:gridCol w="3890772"/>
                <a:gridCol w="4323080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Method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you do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Observe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Watch someone do the task, without helping.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Your aunt checks the soil with her finger every day.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“Tell me about the last time…”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Ask about a real moment, not opinions.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“I was away for a week.”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Ask “why?”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Keep asking why, up to five times.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 did it die? No water. Why? Nobody was home…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Walk through their day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 what they do from morning to night.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Where do they forget, worry or wait?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24383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Pain, Not Solution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2095500"/>
            <a:ext cx="9810750" cy="136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 want a watering robot” is a solution.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85800" y="3873500"/>
            <a:ext cx="850265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pain point underneath is “my plants die when I’m away”.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826000"/>
            <a:ext cx="85026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asking until you reach the pain — it leaves room for better solutions.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pain points, three different users. 3 minutes.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544042"/>
        </p:xfrm>
        <a:graphic>
          <a:graphicData uri="http://schemas.openxmlformats.org/drawingml/2006/table">
            <a:tbl>
              <a:tblPr/>
              <a:tblGrid>
                <a:gridCol w="3242310"/>
                <a:gridCol w="756539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Area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Imagine a user like…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Plant care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student who travels for weekend competitions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Home security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grandparent living alone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Gaming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younger brother who gets bored waiting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0640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one of the curriculum’s areas and write three pain points, each from a different user.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the problem in one sentence.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10820400" cy="139819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336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[USER] NEEDS A WAY TO [NEED] BECAUSE [INSIGHT].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448520"/>
            <a:ext cx="10621772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student who travels for weekend competitions needs a way to keep their desk plant watered because nobody checks it while they’re away.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40005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 flip it into a question: How might we help a student keep a plant alive while they’re away for a few days?</a:t>
            </a:r>
            <a:endParaRPr lang="en-US" sz="1400" dirty="0"/>
          </a:p>
        </p:txBody>
      </p:sp>
      <p:pic>
        <p:nvPicPr>
          <p:cNvPr id="9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Might We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too broad, not too narrow.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668413"/>
        </p:xfrm>
        <a:graphic>
          <a:graphicData uri="http://schemas.openxmlformats.org/drawingml/2006/table">
            <a:tbl>
              <a:tblPr/>
              <a:tblGrid>
                <a:gridCol w="4755388"/>
                <a:gridCol w="1729232"/>
                <a:gridCol w="4323080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HMW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Verdict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Why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might we fix gardening?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Too broad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user, no clear need — you can’t start.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might we add a pump to a plant pot?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Too narrow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The solution is already inside the question.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045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How might we help a student keep a plant alive while away for a few days?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Just right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clear user and need, and many possible answers.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445000"/>
            <a:ext cx="111450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Like a good exam question: “Write about history” is too broad; “Write the year 1066” too narrow; “Explain why the castle was built on a hill” gives room to think.</a:t>
            </a:r>
            <a:endParaRPr lang="en-US" sz="14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Ideate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Four brainstorming rules.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917700"/>
          <a:ext cx="10807700" cy="1930053"/>
        </p:xfrm>
        <a:graphic>
          <a:graphicData uri="http://schemas.openxmlformats.org/drawingml/2006/table">
            <a:tbl>
              <a:tblPr/>
              <a:tblGrid>
                <a:gridCol w="3242310"/>
                <a:gridCol w="7565390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Quantity first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Aim for many ideas; judge them later.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 “but”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Build on others’ ideas with “yes, and…”.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Wild ideas welcome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silly idea often leads to a good one.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Stay on the HMW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 idea should answer your question.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Building Blocks · Inputs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INCIPE modules can sense.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994124"/>
        </p:xfrm>
        <a:graphic>
          <a:graphicData uri="http://schemas.openxmlformats.org/drawingml/2006/table">
            <a:tbl>
              <a:tblPr/>
              <a:tblGrid>
                <a:gridCol w="3674618"/>
                <a:gridCol w="7133082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Module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Gives you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Temperature &amp; humidity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Temperature in °C and relative humidity 0–100 %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Light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Brightness from 0 (dark) to 1023 (bright)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Soil moisture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raw soil-moisture reading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Ultrasonic distance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Distance in cm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Air quality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Air quality in ppm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Flame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Flame (infrared) intensity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Button · Joystick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Pressed or not · X and Y and the stick button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IR receiver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Signals from a remote control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Building Blocks · Outputs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the INCIPE modules can do.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27200"/>
          <a:ext cx="10807700" cy="2874566"/>
        </p:xfrm>
        <a:graphic>
          <a:graphicData uri="http://schemas.openxmlformats.org/drawingml/2006/table">
            <a:tbl>
              <a:tblPr/>
              <a:tblGrid>
                <a:gridCol w="3674618"/>
                <a:gridCol w="713308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Module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LED strip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Lights each pixel in a colour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Buzzer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Beeps or plays a tone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Servo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Turns to a position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Motor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Spins at a speed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Water pump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Pumps water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IR sender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Sends a remote-control signal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SD card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Saves data to files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HMW to Ideas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input notices it? Which output acts?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544042"/>
        </p:xfrm>
        <a:graphic>
          <a:graphicData uri="http://schemas.openxmlformats.org/drawingml/2006/table">
            <a:tbl>
              <a:tblPr/>
              <a:tblGrid>
                <a:gridCol w="3674618"/>
                <a:gridCol w="2377694"/>
                <a:gridCol w="2377694"/>
                <a:gridCol w="2377694"/>
              </a:tblGrid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HMW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Input notices…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Output does…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Idea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…keep a plant alive while away?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Soil moisture: dry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Water pump: waters it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Self-watering pot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6001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…help a grandparent know someone is at the door?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Ultrasonic: someone close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Buzzer + LED strip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Visitor alert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268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…make waiting for the bus less boring?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Joystick + button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LED strip as a screen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Pocket game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Workshop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IoT product ideas in 10 minutes.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854200"/>
          <a:ext cx="10807700" cy="1930053"/>
        </p:xfrm>
        <a:graphic>
          <a:graphicData uri="http://schemas.openxmlformats.org/drawingml/2006/table">
            <a:tbl>
              <a:tblPr/>
              <a:tblGrid>
                <a:gridCol w="1080770"/>
                <a:gridCol w="1513078"/>
                <a:gridCol w="8213852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Step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Time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 this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Everyone reads out their three pain points.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Pick two pain points. Write a problem statement and an HMW for each.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Brainstorm silently, one idea per sticky note, then share. Aim for 10+.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 min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Pick your best five and fill in the template.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Workshop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five ideas.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790700"/>
          <a:ext cx="10807700" cy="2155924"/>
        </p:xfrm>
        <a:graphic>
          <a:graphicData uri="http://schemas.openxmlformats.org/drawingml/2006/table">
            <a:tbl>
              <a:tblPr/>
              <a:tblGrid>
                <a:gridCol w="648462"/>
                <a:gridCol w="1945386"/>
                <a:gridCol w="1729232"/>
                <a:gridCol w="2593848"/>
                <a:gridCol w="1945386"/>
                <a:gridCol w="194538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#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Idea name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User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HMW it answers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Inputs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Outputs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5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 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85800" y="4572000"/>
            <a:ext cx="1114501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each: a real user? Every module in the building-block tables? Explainable in one sentence? Keep it — Session 2 tests one.</a:t>
            </a:r>
            <a:endParaRPr lang="en-US" sz="1300" dirty="0"/>
          </a:p>
        </p:txBody>
      </p:sp>
      <p:pic>
        <p:nvPicPr>
          <p:cNvPr id="7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as a Teammate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your own brainstorm, ask the AI for more.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10820400" cy="139819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33600"/>
            <a:ext cx="1062177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WORKSPACE AI CHAT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448520"/>
            <a:ext cx="10621772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 is our How might we question: [HMW]. Suggest ten product ideas that use only these INCIPE modules: [paste the two building-block tables]. One sentence each.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4000500"/>
            <a:ext cx="111450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Treat its answers like a teammate’s sticky notes: some great, some naming parts the kit doesn’t have — cross those out.</a:t>
            </a:r>
            <a:endParaRPr lang="en-US" sz="1400" dirty="0"/>
          </a:p>
        </p:txBody>
      </p:sp>
      <p:pic>
        <p:nvPicPr>
          <p:cNvPr id="9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“I want an app that reminds me to water my plants.” Pain point or solution?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“I want an app that reminds me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to water my plants.”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Solution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pain underneath: “I forget to water my plants and they die.” Starting there leaves room for better solutions.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What’s wrong with “How might we improve home security?”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How might we improve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home security?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Too broad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user, no specific need. Better: “…help a grandparent living alone know when someone is at the door?”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What’s wrong with “How might we put an ultrasonic sensor on the front door?”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How might we put an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ultrasonic sensor on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the front door?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Too narrow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solution is already in the question, so the brainstorm has nowhere to go.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HMW is about knowing when a room is too hot. Which input notices it?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756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Inputs: temperature &amp; humidity,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light, soil moisture, ultrasonic,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air quality, flame, button, joystick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Temp &amp; humidity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gives the temperature in °C.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5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Put the five design-thinking stages in order.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905000"/>
            <a:ext cx="5334000" cy="355600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6" name="Text 4"/>
          <p:cNvSpPr/>
          <p:nvPr/>
        </p:nvSpPr>
        <p:spPr>
          <a:xfrm>
            <a:off x="939800" y="21590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9800" y="2524720"/>
            <a:ext cx="497078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Test · Ideate · Empathize ·</a:t>
            </a:r>
            <a:endParaRPr lang="en-US" sz="1200" dirty="0"/>
          </a:p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Prototype · Define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3800" y="1905000"/>
            <a:ext cx="6350" cy="35560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527800" y="190500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27800" y="2270720"/>
            <a:ext cx="51277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 → D → I → P → T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527800" y="2832050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27800" y="3197771"/>
            <a:ext cx="51277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Empathize, Define, Ideate, Prototype, Test. Today covered the first three.</a:t>
            </a:r>
            <a:endParaRPr lang="en-US" sz="1400" dirty="0"/>
          </a:p>
        </p:txBody>
      </p:sp>
      <p:pic>
        <p:nvPicPr>
          <p:cNvPr id="13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81000"/>
            <a:ext cx="94968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685800" y="726430"/>
            <a:ext cx="949680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05000"/>
            <a:ext cx="343590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473920"/>
            <a:ext cx="3435909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 from people: observe, ask about real moments, and keep asking “why?” until you reach the pain point.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28034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28034" y="2473920"/>
            <a:ext cx="343596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Write a problem statement, then a How might we question — not too broad, not too narrow, no solution inside.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70317" y="1905000"/>
            <a:ext cx="34359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8170317" y="2473920"/>
            <a:ext cx="343596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Brainstorm many ideas first, then match each to the INCIPE inputs that notice the problem and the outputs that act.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4953000"/>
            <a:ext cx="10820400" cy="77023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52400" rIns="0" bIns="12700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— Session 2: Product-market fit &amp; solution validation.</a:t>
            </a:r>
            <a:r>
              <a:rPr lang="en-US" sz="13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Who exactly wants your idea, a Lean Canvas, and a 3-minute problem-statement pitch.</a:t>
            </a:r>
            <a:endParaRPr lang="en-US" sz="1300" dirty="0"/>
          </a:p>
        </p:txBody>
      </p:sp>
      <p:pic>
        <p:nvPicPr>
          <p:cNvPr id="12" name="Image 0" descr="Incipe Academy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10490200" y="381000"/>
            <a:ext cx="1320800" cy="2730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81000" y="62636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98200" y="62636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1 · Design Thinking &amp; Problem Statement">
  <a:themeElements>
    <a:clrScheme name="Session 1 · Design Thinking &amp; Problem Statement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Session 1 · Design Thinking &amp; Problem Statement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· Design Thinking &amp; Problem Statement</dc:title>
  <dc:subject/>
  <dc:creator/>
  <cp:lastModifiedBy/>
  <cp:revision>1</cp:revision>
  <dcterms:created xsi:type="dcterms:W3CDTF">2026-10-09T05:10:42Z</dcterms:created>
  <dcterms:modified xsi:type="dcterms:W3CDTF">2026-10-09T05:10:42Z</dcterms:modified>
</cp:coreProperties>
</file>