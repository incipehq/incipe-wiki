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M5 Session 3: explaining at the right level, presenting architecture as system, data flow and code, honesty about AI, and a mock architecture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the block diagram, flowchart, code and Session 2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of detail is the idea that ties the session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explanation starts at level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2 for everyone; level 3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it: explain your hardest idea in two sentences, no jargon; your partner repeats it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block diagram is from Session 2; the flowchart from M4 Session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Sense, clean, decide, act works for almost any INCIPE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show only the lines that make the key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slide: just these lines, large, and point at each while you say its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honest answer is a strength in a showcase or an interview.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invent an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curriculum task: present your product architecture (sensors, actuators, firmware, AI usage). Firmware here means your own code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board’s own runtime is not part of the talk; the Wiki says it detects modules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like running a bath.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what the product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 code map and the key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I don’t know yet, here’s how I’d find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what it did, what you checked, what you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rehearse the six-slide architecture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9462" b="39462"/>
          <a:stretch/>
        </p:blipFill>
        <p:spPr>
          <a:xfrm>
            <a:off x="0" y="3003550"/>
            <a:ext cx="12192000" cy="3854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340106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</a:t>
            </a:r>
            <a:endParaRPr lang="en-US" sz="120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4064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101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09940" y="406400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M5: Presentation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085850"/>
            <a:ext cx="1046480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3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Technical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Presentation Skills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parent understands it; an engineer respects it.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171700"/>
          <a:ext cx="10807700" cy="1930053"/>
        </p:xfrm>
        <a:graphic>
          <a:graphicData uri="http://schemas.openxmlformats.org/drawingml/2006/table">
            <a:tbl>
              <a:tblPr/>
              <a:tblGrid>
                <a:gridCol w="1080770"/>
                <a:gridCol w="7781544"/>
                <a:gridCol w="194538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Topic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Explaining technical ideas to non-technical people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Presenting your architecture: system, data flow, code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Being honest about AI, and handling questions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Mock presentation: your product architecture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Words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words you will hear today.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515245"/>
        </p:xfrm>
        <a:graphic>
          <a:graphicData uri="http://schemas.openxmlformats.org/drawingml/2006/table">
            <a:tbl>
              <a:tblPr/>
              <a:tblGrid>
                <a:gridCol w="2810002"/>
                <a:gridCol w="799769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Plain 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Jargon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Words only specialists understand, like “hysteresis” or “ADC”.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Architecture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a system is organised: its parts and how they connect.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System design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big-picture plan: which parts, doing what, talking to whom.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Data flow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path information takes — reading, decision, action.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Code map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short table of the main parts of your code and what each does.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Level of detail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far you zoom in: what it does, how parts connect, or the code.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Explaining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Explain like a map app: zoom in only when needed.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Zoomed out you see the city; zoom in for streets; further for buildings.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with what it does. Zoom into the code only for a technical audience, or when someone asks.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Explaining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levels of detail.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437283"/>
        </p:xfrm>
        <a:graphic>
          <a:graphicData uri="http://schemas.openxmlformats.org/drawingml/2006/table">
            <a:tbl>
              <a:tblPr/>
              <a:tblGrid>
                <a:gridCol w="3026156"/>
                <a:gridCol w="4755388"/>
                <a:gridCol w="3026156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Level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you show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Who needs it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 What it does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“It waters your plant only when the soil is dry.”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Everyone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 How the parts connect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Probe → board → pump: the block diagram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Curious listeners, teachers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3. How the code decides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Two thresholds, a bool, a few lines of code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Engineers, judges, interviewers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Explaining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Swap jargon for pictures people know.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155924"/>
        </p:xfrm>
        <a:graphic>
          <a:graphicData uri="http://schemas.openxmlformats.org/drawingml/2006/table">
            <a:tbl>
              <a:tblPr/>
              <a:tblGrid>
                <a:gridCol w="2810002"/>
                <a:gridCol w="799769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Jargon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Plain words or an analogy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Soil moisture sensor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“A probe that feels how wet the soil is — like your finger, but it never forgets.”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Threshold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“The line where it changes its mind: below 30 % wet, it waters.”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Hysteresis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“Like running a bath: on when the water’s low, off only when it’s high enough.”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State machine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“It’s always in one mood — watering or waiting — with clear rules for switching.”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−1 fail-safe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“If a sensor is unplugged, it plays safe and does nothing.”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080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 (3 min): explain your hardest idea to a partner in two sentences, with no jargon. They repeat it back. If they can’t, try another analogy.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your design in three views, far to near.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View 1: the system — your block diagram. View 2: the data flow — one reading’s journey. View 3: the code — a map, then the few lines that decide.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Never put a whole program on a slide.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View 2 · Data Flow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Follow one reading like a parcel.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796604"/>
        </p:xfrm>
        <a:graphic>
          <a:graphicData uri="http://schemas.openxmlformats.org/drawingml/2006/table">
            <a:tbl>
              <a:tblPr/>
              <a:tblGrid>
                <a:gridCol w="1945386"/>
                <a:gridCol w="8862314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Step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Smart Garden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Sense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Every 2 seconds, the probe gives a raw reading.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Clean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−1 becomes “act as if wet”; any other reading becomes % wet using your calibration.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Decide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Two thresholds and the current state choose: on, off, or keep going.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pump (today: the PUMP ON / PUMP OFF stand-in), and the Serial Monitor shows it.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View 3 · Code Map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Map the code before you show any of it.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155924"/>
        </p:xfrm>
        <a:graphic>
          <a:graphicData uri="http://schemas.openxmlformats.org/drawingml/2006/table">
            <a:tbl>
              <a:tblPr/>
              <a:tblGrid>
                <a:gridCol w="3890772"/>
                <a:gridCol w="691692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 of the code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it does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DRY_VALUE, WET_VALUE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calibration readings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wetPercent()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Turns a raw reading into % wet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START, STOP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two thresholds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watering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Remembers the state: on or off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loop()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Reads, decides and acts, every 2 seconds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Narrate the key lines in plain words.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711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415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41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48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(watering &amp;&amp; wet &gt; STOP)   { watering = false; Serial.println("PUMP OFF");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54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 · STEP 1 OF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08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pump is off and the soil is 25 % wet.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2654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2908300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false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2654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2908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Narrate the key lines in plain words.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711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415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41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48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(watering &amp;&amp; wet &gt; STOP)   { watering = false; Serial.println("PUMP OFF");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54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 · STEP 2 OF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083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Say: “If the pump is off and the soil is drier than 30 %, switch it on.” It is — so it switches 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2654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2908300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25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2654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2908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2984500"/>
            <a:ext cx="2328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ON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Narrate the key lines in plain words.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711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701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70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48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(watering &amp;&amp; wet &gt; STOP)   { watering = false; Serial.println("PUMP OFF");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54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2 · STEP 3 OF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083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Say: “If it’s on and wetter than 60 %, switch it off.” Still 25 %, so it keeps watering.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2654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2908300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25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true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2654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2908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2984500"/>
            <a:ext cx="2328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ON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Narrate the key lines in plain words.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711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415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415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48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(watering &amp;&amp; wet &gt; STOP)   { watering = false; Serial.println("PUMP OFF");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54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1 · STEP 4 OF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083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Later the soil is 65 % wet. “The pump is already on, so this line does nothing…”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2654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2908300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true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2654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2908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2984500"/>
            <a:ext cx="2328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ON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by Line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Narrate the key lines in plain words.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14500"/>
            <a:ext cx="10820400" cy="7112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70100"/>
            <a:ext cx="10820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70100"/>
            <a:ext cx="31750" cy="22860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1841500"/>
            <a:ext cx="10857230" cy="48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1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(!watering &amp;&amp; wet &lt; START) { watering = true;  Serial.println("PUMP ON"); }</a:t>
            </a:r>
            <a:endParaRPr lang="en-US" sz="1100" dirty="0"/>
          </a:p>
          <a:p>
            <a:pPr algn="l" indent="0" marL="0">
              <a:lnSpc>
                <a:spcPts val="1804"/>
              </a:lnSpc>
              <a:buNone/>
            </a:pPr>
            <a:r>
              <a:rPr lang="en-US" sz="1100" dirty="0">
                <a:solidFill>
                  <a:srgbClr val="76706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2</a:t>
            </a:r>
            <a:r>
              <a:rPr lang="en-US" sz="11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if (watering &amp;&amp; wet &gt; STOP)   { watering = false; Serial.println("PUMP OFF"); 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543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 2 · STEP 5 OF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0830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“…but it’s wetter than 60 %, so the pump switches off.”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6800" y="26543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46800" y="2908300"/>
            <a:ext cx="2616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wet = 65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watering = </a:t>
            </a: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false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0800" y="2654300"/>
            <a:ext cx="26423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40800" y="2908300"/>
            <a:ext cx="2565400" cy="698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93200" y="2984500"/>
            <a:ext cx="232841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ON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5C3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PUMP OFF</a:t>
            </a:r>
            <a:endParaRPr lang="en-US" sz="1200" dirty="0"/>
          </a:p>
        </p:txBody>
      </p:sp>
      <p:pic>
        <p:nvPicPr>
          <p:cNvPr id="1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Honesty About AI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Say what the AI did — and what you did.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437283"/>
        </p:xfrm>
        <a:graphic>
          <a:graphicData uri="http://schemas.openxmlformats.org/drawingml/2006/table">
            <a:tbl>
              <a:tblPr/>
              <a:tblGrid>
                <a:gridCol w="3026156"/>
                <a:gridCol w="7781544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the AI did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“The Workspace AI drafted my first wetPercent() and suggested a default: case.”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you checked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“I compared every incipe.* call with the Wiki, compiled it, and tested it with dry soil and water.”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you changed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“Its first draft treated −1 as a real reading. I added the fail-safe.”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Handling Questions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situations, four moves.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796604"/>
        </p:xfrm>
        <a:graphic>
          <a:graphicData uri="http://schemas.openxmlformats.org/drawingml/2006/table">
            <a:tbl>
              <a:tblPr/>
              <a:tblGrid>
                <a:gridCol w="3242310"/>
                <a:gridCol w="7565390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Situation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to do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 understand it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Repeat it briefly so everyone hears it, then answer at the right level.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 don’t understand it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“Could you say a bit more about what you mean?”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 can’t answer it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“I don’t know yet — here’s how I’d find out…” Never invent an answer.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It’s about a weakness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Admit it, then say what you’d do: “It can’t water two pots yet; a second pump would fix that.”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Mock Presentation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product architecture in six slides, about 5 minutes.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515245"/>
        </p:xfrm>
        <a:graphic>
          <a:graphicData uri="http://schemas.openxmlformats.org/drawingml/2006/table">
            <a:tbl>
              <a:tblPr/>
              <a:tblGrid>
                <a:gridCol w="2593848"/>
                <a:gridCol w="6916928"/>
                <a:gridCol w="1296924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Slide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Show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Level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 What it does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One sentence and a photo of your build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 System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block diagram: sensors, board, actuators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3. Data flow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Sense → clean → decide → act, or your flowchart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4. Code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code map and the 2–5 lines that decide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5. AI usage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it did, what you checked, what you changed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6. Next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One weakness and how you’d fix it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—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Mock Presentation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audience plays three roles.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parent asks “what does it do for me?”. An engineer asks “why two thresholds?”. An interviewer asks “what did the AI do, and what did you do?”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 each talk, each role asks one question. Keep firmware to your own code and the incipe.* calls from the Wiki.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1106424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Explain “hysteresis” to a grandparent in one sentence.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hysteresis = 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 bath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“Tap on when the water’s low, off only when it’s high enough — so it doesn’t keep flicking on and off.”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Non-technical audience: what do you show first — code or what it does?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A: the code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B: what it does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27800" y="289044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25616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does is level 1. Code is level 3 — for a technical audience or when asked.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slide shows 60 lines of code. How do you fix it?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[ 60 lines of code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Code map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code map plus only the 2–5 lines that decide, large, narrated line by line.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judge asks something you don’t know. What do you say?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Judge: “What happens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at 0 °C?”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Don’t know yet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“I don’t know yet — here’s how I’d find out.” Never invent an answer.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goes on your “AI usage” slide?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1000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AI usage: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?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?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66420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Did · checked · changed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AI did, what you checked (Wiki names, compiling, testing), and what you changed.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05000"/>
            <a:ext cx="343590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73920"/>
            <a:ext cx="3435909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zoomed out — what it does — and zoom in only as far as your audience needs; swap jargon for analogies.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28034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28034" y="2473920"/>
            <a:ext cx="3435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 architecture in three views: the system, the data flow, and a code map with the few lines that decide.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70317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70317" y="2473920"/>
            <a:ext cx="34359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 honest about AI — what it did, what you checked, what you changed — and say “I don’t know yet” rather than invent.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953000"/>
            <a:ext cx="10820400" cy="53910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— Session 4: Final pitch &amp; career preparation.</a:t>
            </a: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Polishing the deck and docs, a demo video for your portfolio, and the final showcase.</a:t>
            </a:r>
            <a:endParaRPr lang="en-US" sz="1300" dirty="0"/>
          </a:p>
        </p:txBody>
      </p:sp>
      <p:pic>
        <p:nvPicPr>
          <p:cNvPr id="12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 3 · Technical Presentation Skills">
  <a:themeElements>
    <a:clrScheme name="Session 3 · Technical Presentation Skills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Session 3 · Technical Presentation Skills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 · Technical Presentation Skills</dc:title>
  <dc:subject/>
  <dc:creator/>
  <cp:lastModifiedBy/>
  <cp:revision>1</cp:revision>
  <dcterms:created xsi:type="dcterms:W3CDTF">2026-10-09T05:31:09Z</dcterms:created>
  <dcterms:modified xsi:type="dcterms:W3CDTF">2026-10-09T05:31:09Z</dcterms:modified>
</cp:coreProperties>
</file>