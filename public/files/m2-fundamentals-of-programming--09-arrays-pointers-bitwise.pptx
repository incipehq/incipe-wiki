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3 builds on Lesson 4's arrays: references and pointers, eight yes/no flags in one byte, and a moving average of the light sensor.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parts in thirty minutes. Students need the board and the light sensor.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session does not repeat arrays; it adds references, pointers and bitwise operators, and uses an array for the moving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aloud once; each is explained again when it comes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reference lets a function change your variable, or hand back more than one answer, without copying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of 5. The program starts in setup().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2. An ordinary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3. score and points are two names for one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4. Changing score changes points, because they are the same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5. Prints 60. This was run and checked; the copy version prints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&amp; means two different things: after a type in a parameter it makes a reference; in front of a variable it takes the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of 4. The locker.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2. The sticky note: p holds where light lives, not its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3. Going to the locker and swapping what is inside.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4. Prints 600.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light: the point is that arrays are passed without copying. Hardware-level pointer use is handled by the INCIPE runtime.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switch is worth double the one to its right. Ask the class to read 110 (6) and 1000 (8).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up the bits in columns and work one column at a time. Every result here was computed and 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of 8. Switch 0 will mean "sensor ready", switch 2 "button pressed".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2. OR with a single 1 bit switches that bit on and leaves the others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3. Switch 0 stays on; switch 2 joins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4. 101 is switches 2 and 0: the number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5. This is how you check one flag: AND with a mask that has only that 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6. true prints as 1, false as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7. XOR with a single bit toggles it: on becomes off, off becomes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8. Summary: OR sets a bit, AND checks it, XOR flips it, and 1 &lt;&lt; n picks which one. ~ flips every bit, so AND with ~(1 &lt;&lt; n) clears bit 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curriculum task: read 10 values from the light sensor and compute the moving average using an array. These facts are exactly the Wiki's.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football team's form is the moving average of its results. Two pieces of code: average() for an array, and loop() that keeps the last 10 readings.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of 10. The same average as Lesson 4, written as a function that takes any array.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3. The for loop from Lesson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10. average returns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of 13. Change SIZE here and nowhere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2. Remember those zeros: they explain the low start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3. next is an index into the array, from 0 to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4. The light sensor returns 0 to 1023, or -1 when not detected.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5. The -1 check keeps a missing sensor out of the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6. The newest reading overwrites the oldest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7. Modulo is the remainder: (9 + 1) % 10 is 0, so next goes round and round 0 to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8. 50.00 — too low, because nine boxes still hold 0. It corrects itself once all ten are filled.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9. The Wiki says read light every 20 to 500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10. Second time round loop().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13. 102.00. Both printed values were run and 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average above loop, add setup with Serial.begin(9600), Upload, and open the Plotter. Wave a hand over the sensor: the raw light would jump; the average glides.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shows the trade-off of a moving average: a small window reacts fast but is jumpy; a large one is smooth but slow.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50. Compare with the reference version, which printed 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2 and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16. Each shift left doubles the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50.00, printed with two decimal places.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points to remember. Homework: finish the moving-average task, including the fix for the low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9462" b="39462"/>
          <a:stretch/>
        </p:blipFill>
        <p:spPr>
          <a:xfrm>
            <a:off x="0" y="3003550"/>
            <a:ext cx="12192000" cy="3854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3401060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</a:t>
            </a:r>
            <a:endParaRPr lang="en-US" sz="120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4064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Incipe 101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409940" y="406400"/>
            <a:ext cx="34010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M2: Programming with C++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085850"/>
            <a:ext cx="10464800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Session 3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Arrays, Pointers &amp;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Bitwise Operations</a:t>
            </a:r>
            <a:endParaRPr lang="en-US" sz="3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Smooth a noisy sensor, give a box a second name, pack eight answers into a byte.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2171700"/>
          <a:ext cx="10807700" cy="1930053"/>
        </p:xfrm>
        <a:graphic>
          <a:graphicData uri="http://schemas.openxmlformats.org/drawingml/2006/table">
            <a:tbl>
              <a:tblPr/>
              <a:tblGrid>
                <a:gridCol w="1080770"/>
                <a:gridCol w="7781544"/>
                <a:gridCol w="1945386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Topic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Time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References: a second name for the same box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Pointers: the address of a box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Bitwise operators: eight switches in one byte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9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04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Practice: a moving average of the light sensor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9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Already Covered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know arrays from Lesson 4.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917700"/>
          <a:ext cx="10807700" cy="1544042"/>
        </p:xfrm>
        <a:graphic>
          <a:graphicData uri="http://schemas.openxmlformats.org/drawingml/2006/table">
            <a:tbl>
              <a:tblPr/>
              <a:tblGrid>
                <a:gridCol w="5944235"/>
                <a:gridCol w="4863465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Idea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Where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Arrays: create, write, read, index from 0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Lesson 4 · Array &amp; for loop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Average and largest value with a for loop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Lesson 4 · Array &amp; for loop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Writing functions with parameters and return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Session 2 · Control structures &amp; functions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Words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Eight words you will hear today.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727200"/>
          <a:ext cx="10807700" cy="3233886"/>
        </p:xfrm>
        <a:graphic>
          <a:graphicData uri="http://schemas.openxmlformats.org/drawingml/2006/table">
            <a:tbl>
              <a:tblPr/>
              <a:tblGrid>
                <a:gridCol w="2593848"/>
                <a:gridCol w="8213852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Plain meaning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Reference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second name for a variable that already exists. Change one, and you change both.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Address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Where a variable lives in memory — like a locker number.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Pointer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variable that holds an address.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Bit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smallest piece of data: 0 or 1. A byte is 8 bits.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Binary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Writing a number in bits, like 101 for 5.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Bitwise operator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An operator that works on each bit separately: &amp;, |, ^, &lt;&lt;, &gt;&gt;.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Moving average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average of only the last few readings, updated as each new one arrives.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Modulo (%)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remainder after dividing: 10 % 10 is 0, 7 % 10 is 7.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reference is a nickname: two names, one box.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841500"/>
            <a:ext cx="98107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 school you are "Alex"; at home you are "Al". If Al gets a haircut, so does Alex.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730500"/>
            <a:ext cx="98107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Session 2 a function got a </a:t>
            </a: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copy</a:t>
            </a: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of each value. Add &amp; after the type, and it gets the </a:t>
            </a: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variable</a:t>
            </a: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instead.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873500"/>
            <a:ext cx="6350000" cy="69215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03200" rIns="78740" bIns="17780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 addBonus(int &amp;score)</a:t>
            </a:r>
            <a:endParaRPr lang="en-US" sz="1500" dirty="0"/>
          </a:p>
        </p:txBody>
      </p:sp>
      <p:pic>
        <p:nvPicPr>
          <p:cNvPr id="8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Passing by reference.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921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365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365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2570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addBonus(int &amp;score)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score = score + 10;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setup()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Serial.begin(9600);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points = 50;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addBonus(points);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Serial.println(points);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6 · STEP 1 OF 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the Serial monitor.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429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683000"/>
            <a:ext cx="426440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None yet.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381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635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Passing by reference.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921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619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619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2570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addBonus(int &amp;score)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score = score + 10;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setup()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Serial.begin(9600);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points = 50;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addBonus(points);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Serial.println(points);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7 · STEP 2 OF 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points starts at 50.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429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683000"/>
            <a:ext cx="426440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points =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381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635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Passing by reference.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921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873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873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2570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addBonus(int &amp;score)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score = score + 10;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setup()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Serial.begin(9600);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points = 50;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addBonus(points);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Serial.println(points);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8 · STEP 3 OF 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Call addBonus. Because of &amp;, score is not a copy — it is another name for points.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429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683000"/>
            <a:ext cx="42644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points = 50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(same box)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381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635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Passing by reference.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921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349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349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2570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addBonus(int &amp;score)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score = score + 10;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setup()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Serial.begin(9600);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points = 50;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addBonus(points);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Serial.println(points);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2 · STEP 4 OF 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10 to score… which is points.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429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683000"/>
            <a:ext cx="42644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points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381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635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Passing by reference.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921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127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4127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2570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addBonus(int &amp;score)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score = score + 10;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setup()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Serial.begin(9600);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points = 50;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addBonus(points);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Serial.println(points);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9 · STEP 5 OF 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 in setup(), points really changed. Without the &amp;, it would print 50.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429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683000"/>
            <a:ext cx="426440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points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60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381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635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823200" y="476250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60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Pointers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pointer is a locker number on a sticky note.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841500"/>
            <a:ext cx="1114501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locker holds your stuff (the value). The sticky note holds the locker's number (the address). With the note, you can go to the locker and change what is inside.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2806700"/>
          <a:ext cx="10807700" cy="1544042"/>
        </p:xfrm>
        <a:graphic>
          <a:graphicData uri="http://schemas.openxmlformats.org/drawingml/2006/table">
            <a:tbl>
              <a:tblPr/>
              <a:tblGrid>
                <a:gridCol w="2161540"/>
                <a:gridCol w="4323080"/>
                <a:gridCol w="4323080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Symbol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Say it as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Example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&amp;x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"the address of x"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int *p = &amp;light;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int *p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"p is a pointer to an int"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*p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"go to the address in p"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*p = 600;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Changing a box through its address.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1397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95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95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1043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light = 512;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*p = &amp;light;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*p = 600;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Serial.println(light);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 · STEP 1 OF 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normal int box holding 512.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429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683000"/>
            <a:ext cx="426440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light =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512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381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635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Changing a box through its address.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1397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349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349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1043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light = 512;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*p = &amp;light;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*p = 600;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Serial.println(light);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2 · STEP 2 OF 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&amp;light is the address of light. p keeps it — p "points to" light.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429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683000"/>
            <a:ext cx="42644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light = 512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 =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address of light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381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635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Changing a box through its address.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1397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603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603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1043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light = 512;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*p = &amp;light;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*p = 600;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Serial.println(light);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3 · STEP 3 OF 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*p means "the box p points to". Put 600 in it.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429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683000"/>
            <a:ext cx="42644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light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512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600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 = address of light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381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635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Changing a box through its address.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1397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857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857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1043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light = 512;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*p = &amp;light;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*p = 600;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Serial.println(light);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4 · STEP 4 OF 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light itself changed, though line 3 never named it.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429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683000"/>
            <a:ext cx="42644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light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512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600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 = address of light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381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635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823200" y="476250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600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Pointers &amp; Arrays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array's name works like a pointer to its first box.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2159000"/>
            <a:ext cx="98107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That is why a function can take a whole array — float values[] — and read every reading without copying all ten. You will use this in the practice.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556000"/>
            <a:ext cx="10820400" cy="942975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03200" rIns="0" bIns="17780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the INCIPE Board: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in firmware, pointers also reach the chip's hardware directly. Here the runtime does that for you — your code calls the incipe.* helpers — so you use pointers on your own variables and arrays.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Bitwise Operators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byte is a row of 8 light switches.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841500"/>
            <a:ext cx="1114501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bit is a switch: on (1) or off (0). One uint8_t can hold eight yes/no answers. Counting from the right, the switches are numbered 0 to 7.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2806700"/>
          <a:ext cx="10807700" cy="825500"/>
        </p:xfrm>
        <a:graphic>
          <a:graphicData uri="http://schemas.openxmlformats.org/drawingml/2006/table">
            <a:tbl>
              <a:tblPr/>
              <a:tblGrid>
                <a:gridCol w="1296924"/>
                <a:gridCol w="1188847"/>
                <a:gridCol w="1188847"/>
                <a:gridCol w="1188847"/>
                <a:gridCol w="1188847"/>
                <a:gridCol w="1188847"/>
                <a:gridCol w="1188847"/>
                <a:gridCol w="1188847"/>
                <a:gridCol w="1188847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Switch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Worth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128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64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32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16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4064000"/>
            <a:ext cx="111450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 binary </a:t>
            </a: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101</a:t>
            </a: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is switch 2 and switch 0 on: 4 + 1 = </a:t>
            </a: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00" dirty="0"/>
          </a:p>
        </p:txBody>
      </p:sp>
      <p:pic>
        <p:nvPicPr>
          <p:cNvPr id="8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Operators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one works on every bit separately.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155924"/>
        </p:xfrm>
        <a:graphic>
          <a:graphicData uri="http://schemas.openxmlformats.org/drawingml/2006/table">
            <a:tbl>
              <a:tblPr/>
              <a:tblGrid>
                <a:gridCol w="864616"/>
                <a:gridCol w="1729232"/>
                <a:gridCol w="3026156"/>
                <a:gridCol w="3242310"/>
                <a:gridCol w="1945386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Op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Name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Each bit is 1 when…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Example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Result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&amp;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AND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both bits are 1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1100 &amp; 1010 (12 &amp; 10)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1000 = 8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|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either bit is 1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1100 | 1010 (12 | 10)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1110 = 14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^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XOR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bits are different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1100 ^ 1010 (12 ^ 10)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0110 = 6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&lt;&lt;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shift left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every bit moves left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0001 &lt;&lt; 3 (1 &lt;&lt; 3)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1000 = 8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&gt;&gt;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shift right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every bit moves right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1000 &gt;&gt; 2 (8 &gt;&gt; 2)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0010 = 2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572000"/>
            <a:ext cx="111450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the same as &amp;&amp; and || from Lesson 2: those compare whole true/false values. &amp; and | work on every bit.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Eight flags in one byte.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28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95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95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2061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uint8_t flags = 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| (1 &lt;&lt; 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| (1 &lt;&lt; 2);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Serial.println(flags, BIN);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pressed = flags &amp; (1 &lt;&lt; 2);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Serial.println(pressed);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^ (1 &lt;&lt; 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Serial.println(flags, BIN);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 · STEP 1 OF 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byte, all eight switches off.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429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683000"/>
            <a:ext cx="426440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flags =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00000000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381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635500"/>
            <a:ext cx="4140200" cy="952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Eight flags in one byte.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28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349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349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2061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uint8_t flags = 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| (1 &lt;&lt; 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| (1 &lt;&lt; 2);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Serial.println(flags, BIN);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pressed = flags &amp; (1 &lt;&lt; 2);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Serial.println(pressed);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^ (1 &lt;&lt; 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Serial.println(flags, BIN);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2 · STEP 2 OF 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&lt;&lt; 0 is 00000001. OR it in: switch 0 on — "sensor ready".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429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683000"/>
            <a:ext cx="426440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flags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00000000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00000001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381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635500"/>
            <a:ext cx="4140200" cy="952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Eight flags in one byte.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28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603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603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2061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uint8_t flags = 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| (1 &lt;&lt; 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| (1 &lt;&lt; 2);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Serial.println(flags, BIN);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pressed = flags &amp; (1 &lt;&lt; 2);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Serial.println(pressed);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^ (1 &lt;&lt; 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Serial.println(flags, BIN);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3 · STEP 3 OF 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&lt;&lt; 2 is 00000100. OR it in: switch 2 on — "button pressed".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429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683000"/>
            <a:ext cx="426440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flags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00000001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00000101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381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635500"/>
            <a:ext cx="4140200" cy="952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Eight flags in one byte.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28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857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857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2061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uint8_t flags = 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| (1 &lt;&lt; 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| (1 &lt;&lt; 2);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Serial.println(flags, BIN);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pressed = flags &amp; (1 &lt;&lt; 2);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Serial.println(pressed);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^ (1 &lt;&lt; 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Serial.println(flags, BIN);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4 · STEP 4 OF 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BIN prints the number in binary. Leading zeros are not printed.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429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683000"/>
            <a:ext cx="426440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flags = 00000101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381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635500"/>
            <a:ext cx="4140200" cy="952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823200" y="473075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101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Eight flags in one byte.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28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111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111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2061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uint8_t flags = 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| (1 &lt;&lt; 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| (1 &lt;&lt; 2);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Serial.println(flags, BIN);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pressed = flags &amp; (1 &lt;&lt; 2);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Serial.println(pressed);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^ (1 &lt;&lt; 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Serial.println(flags, BIN);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5 · STEP 5 OF 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with 00000100 keeps only switch 2. It is on, so the result is not 0: true.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429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683000"/>
            <a:ext cx="42644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flags = 00000101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pressed =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381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635500"/>
            <a:ext cx="4140200" cy="952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823200" y="473075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101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Eight flags in one byte.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28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365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365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2061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uint8_t flags = 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| (1 &lt;&lt; 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| (1 &lt;&lt; 2);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Serial.println(flags, BIN);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pressed = flags &amp; (1 &lt;&lt; 2);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Serial.println(pressed);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^ (1 &lt;&lt; 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Serial.println(flags, BIN);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6 · STEP 6 OF 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bool prints as 1 for true.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429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683000"/>
            <a:ext cx="42644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flags = 00000101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pressed = true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381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635500"/>
            <a:ext cx="4140200" cy="952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823200" y="4730750"/>
            <a:ext cx="395046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Eight flags in one byte.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28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619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619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2061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uint8_t flags = 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| (1 &lt;&lt; 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| (1 &lt;&lt; 2);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Serial.println(flags, BIN);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pressed = flags &amp; (1 &lt;&lt; 2);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Serial.println(pressed);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^ (1 &lt;&lt; 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Serial.println(flags, BIN);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7 · STEP 7 OF 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XOR flips switch 0: on → off.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429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683000"/>
            <a:ext cx="42644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flags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00000101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00000100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pressed = true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381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635500"/>
            <a:ext cx="4140200" cy="952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823200" y="4730750"/>
            <a:ext cx="395046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Eight flags in one byte.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28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873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873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2061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uint8_t flags = 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| (1 &lt;&lt; 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| (1 &lt;&lt; 2);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Serial.println(flags, BIN);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pressed = flags &amp; (1 &lt;&lt; 2);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Serial.println(pressed);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flags = flags ^ (1 &lt;&lt; 0);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Serial.println(flags, BIN);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8 · STEP 8 OF 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switch 2 is left. To force a bit off: flags &amp; ~(1 &lt;&lt; n).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429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683000"/>
            <a:ext cx="42644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flags = 00000100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pressed = true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381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635500"/>
            <a:ext cx="4140200" cy="952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823200" y="4730750"/>
            <a:ext cx="395046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100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Practice: Moving Average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Meet the light sensor.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841500"/>
            <a:ext cx="10820400" cy="96262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044700"/>
            <a:ext cx="106217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LINE OF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334220"/>
            <a:ext cx="1062177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float light = incipe.getLightIntensity();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3124200"/>
          <a:ext cx="10807700" cy="1544042"/>
        </p:xfrm>
        <a:graphic>
          <a:graphicData uri="http://schemas.openxmlformats.org/drawingml/2006/table">
            <a:tbl>
              <a:tblPr/>
              <a:tblGrid>
                <a:gridCol w="3026156"/>
                <a:gridCol w="7781544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Item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Detail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Value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float from 0 (dark) to 1023 (bright)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 detected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-1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Read it every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20–500 ms — light changes quickly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85800" y="4953000"/>
            <a:ext cx="111450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details: Wiki › Light sensor.</a:t>
            </a:r>
            <a:endParaRPr lang="en-US" sz="1200" dirty="0"/>
          </a:p>
        </p:txBody>
      </p:sp>
      <p:pic>
        <p:nvPicPr>
          <p:cNvPr id="10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a Moving Average?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Judge a team by its last 10 games.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78486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its whole history, and not just yesterday. Each new reading pushes out the oldest, so the number follows real changes but ignores single flickers.</a:t>
            </a:r>
            <a:endParaRPr lang="en-US" sz="1600" dirty="0"/>
          </a:p>
        </p:txBody>
      </p:sp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average of an array.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159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95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95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1806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average(float values[], int count)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total = 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count; i++)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total = total + values[i];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total / count;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 · STEP 1 OF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values[] is passed like a pointer: nothing is copied. Say it holds {10, 20, 30}.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values = {10, 20, 30}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count =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635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HANDS BACK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889500"/>
            <a:ext cx="4140200" cy="571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average of an array.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159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349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349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1806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average(float values[], int count)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total = 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count; i++)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total = total + values[i];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total / count;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2 · STEP 2 OF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the total at 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values = {10, 20, 30}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count = 3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total =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635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HANDS BACK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889500"/>
            <a:ext cx="4140200" cy="571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average of an array.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159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603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603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1806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average(float values[], int count)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total = 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count; i++)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total = total + values[i];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total / count;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3 · STEP 3 OF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 starts at 0; 0 &lt; 3, so go in.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values = {10, 20, 30}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count = 3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total = 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 =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635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HANDS BACK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889500"/>
            <a:ext cx="4140200" cy="571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average of an array.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159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857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857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1806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average(float values[], int count)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total = 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count; i++)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total = total + values[i];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total / count;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4 · STEP 4 OF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values[0] = 10.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values = {10, 20, 30}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count = 3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total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 = 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635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HANDS BACK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889500"/>
            <a:ext cx="4140200" cy="571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average of an array.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159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603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603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1806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average(float values[], int count)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total = 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count; i++)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total = total + values[i];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total / count;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3 · STEP 5 OF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 becomes 1; 1 &lt; 3.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values = {10, 20, 30}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count = 3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total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10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635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HANDS BACK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889500"/>
            <a:ext cx="4140200" cy="571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average of an array.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159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857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857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1806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average(float values[], int count)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total = 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count; i++)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total = total + values[i];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total / count;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4 · STEP 6 OF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values[1] = 20.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values = {10, 20, 30}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count = 3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total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→ 10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635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HANDS BACK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889500"/>
            <a:ext cx="4140200" cy="571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average of an array.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159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603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603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1806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average(float values[], int count)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total = 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count; i++)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total = total + values[i];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total / count;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3 · STEP 7 OF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 becomes 2; 2 &lt; 3.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values = {10, 20, 30}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count = 3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total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→ 10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30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→ 1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635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HANDS BACK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889500"/>
            <a:ext cx="4140200" cy="571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average of an array.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159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857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857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1806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average(float values[], int count)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total = 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count; i++)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total = total + values[i];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total / count;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4 · STEP 8 OF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values[2] = 30.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values = {10, 20, 30}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count = 3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total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→ 10 → 30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→ 1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635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HANDS BACK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889500"/>
            <a:ext cx="4140200" cy="571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average of an array.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159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603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603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1806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average(float values[], int count)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total = 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count; i++)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total = total + values[i];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total / count;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3 · STEP 9 OF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 becomes 3; 3 &lt; 3 is false — the loop ends.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values = {10, 20, 30}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count = 3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total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→ 10 → 30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60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→ 1 → 2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635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HANDS BACK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889500"/>
            <a:ext cx="4140200" cy="571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average of an array.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2159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365500"/>
            <a:ext cx="6604000" cy="25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365500"/>
            <a:ext cx="31750" cy="2540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6475095" cy="1806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average(float values[], int count)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total = 0;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count; i++) {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total = total + values[i];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total / count;</a:t>
            </a:r>
            <a:endParaRPr lang="en-US" sz="1200" dirty="0"/>
          </a:p>
          <a:p>
            <a:pPr algn="l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6 · STEP 10 OF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 back 60 / 3 = 20.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values = {10, 20, 30}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count = 3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total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→ 10 → 30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60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→ 1 → 2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635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HANDS BACK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889500"/>
            <a:ext cx="4140200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823200" y="502920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20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last 10 readings.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32385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57400"/>
            <a:ext cx="6604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574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57400"/>
            <a:ext cx="6475095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SIZE = 10;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readings[SIZE];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next = 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light = incipe.getLightIntensity();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(light &gt;= 0)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readings[next] = light;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next = (next + 1) % SIZE;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Serial.println(average(readings, SIZE));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delay(100);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 · STEP 1 OF 13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 the last 10 readings.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SIZE =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508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762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last 10 readings.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32385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286000"/>
            <a:ext cx="6604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2860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57400"/>
            <a:ext cx="6475095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SIZE = 10;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readings[SIZE];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next = 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light = incipe.getLightIntensity();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(light &gt;= 0)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readings[next] = light;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next = (next + 1) % SIZE;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Serial.println(average(readings, SIZE));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delay(100);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2 · STEP 2 OF 13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Ten boxes. A global array starts as all 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SIZE = 10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readings =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{0,0,0,0,0,0,0,0,0,0}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508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762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last 10 readings.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32385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514600"/>
            <a:ext cx="6604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5146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57400"/>
            <a:ext cx="6475095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SIZE = 10;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readings[SIZE];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next = 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light = incipe.getLightIntensity();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(light &gt;= 0)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readings[next] = light;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next = (next + 1) % SIZE;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Serial.println(average(readings, SIZE));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delay(100);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3 · STEP 3 OF 13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is the box the next reading goes in.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SIZE = 10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readings = {0,0,0,0,0,0,0,0,0,0}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next =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508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762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last 10 readings.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32385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200400"/>
            <a:ext cx="6604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2004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57400"/>
            <a:ext cx="6475095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SIZE = 10;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readings[SIZE];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next = 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light = incipe.getLightIntensity();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(light &gt;= 0)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readings[next] = light;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next = (next + 1) % SIZE;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Serial.println(average(readings, SIZE));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delay(100);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6 · STEP 4 OF 13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light. Say it is 500.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SIZE = 10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readings = {0,0,0,0,0,0,0,0,0,0}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next = 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light =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508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762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last 10 readings.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32385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429000"/>
            <a:ext cx="6604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4290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57400"/>
            <a:ext cx="6475095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SIZE = 10;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readings[SIZE];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next = 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light = incipe.getLightIntensity();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(light &gt;= 0)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readings[next] = light;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next = (next + 1) % SIZE;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Serial.println(average(readings, SIZE));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delay(100);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7 · STEP 5 OF 13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−1, so the sensor is there.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SIZE = 10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readings = {0,0,0,0,0,0,0,0,0,0}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next = 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light = 500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508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762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last 10 readings.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32385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657600"/>
            <a:ext cx="6604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6576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57400"/>
            <a:ext cx="6475095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SIZE = 10;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readings[SIZE];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next = 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light = incipe.getLightIntensity();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(light &gt;= 0)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readings[next] = light;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next = (next + 1) % SIZE;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Serial.println(average(readings, SIZE));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delay(100);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8 · STEP 6 OF 13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Put it in box 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SIZE = 10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readings =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{500,0,0,0,0,0,0,0,0,0}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next = 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light = 500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508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762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last 10 readings.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32385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886200"/>
            <a:ext cx="6604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8862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57400"/>
            <a:ext cx="6475095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SIZE = 10;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readings[SIZE];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next = 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light = incipe.getLightIntensity();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(light &gt;= 0)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readings[next] = light;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next = (next + 1) % SIZE;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Serial.println(average(readings, SIZE));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delay(100);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9 · STEP 7 OF 13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Move to the next box. % wraps 10 back to 0, so after box 9 it reuses box 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SIZE = 10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readings = {500,0,0,0,0,0,0,0,0,0}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next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light = 500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508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762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last 10 readings.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32385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114800"/>
            <a:ext cx="6604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41148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57400"/>
            <a:ext cx="6475095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SIZE = 10;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readings[SIZE];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next = 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light = incipe.getLightIntensity();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(light &gt;= 0)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readings[next] = light;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next = (next + 1) % SIZE;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Serial.println(average(readings, SIZE));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delay(100);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10 · STEP 8 OF 13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Average of the 10 boxes: 500 / 10.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SIZE = 10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readings = {500,0,0,0,0,0,0,0,0,0}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next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1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light = 500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508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762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823200" y="485775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50.00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last 10 readings.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32385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572000"/>
            <a:ext cx="6604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45720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57400"/>
            <a:ext cx="6475095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SIZE = 10;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readings[SIZE];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next = 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light = incipe.getLightIntensity();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(light &gt;= 0)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readings[next] = light;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next = (next + 1) % SIZE;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Serial.println(average(readings, SIZE));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delay(100);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12 · STEP 9 OF 13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Wait 100 ms — inside the Wiki's 20–500 ms.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SIZE = 10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readings = {500,0,0,0,0,0,0,0,0,0}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next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1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light = 500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508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762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823200" y="485775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50.00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last 10 readings.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32385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200400"/>
            <a:ext cx="6604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2004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57400"/>
            <a:ext cx="6475095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SIZE = 10;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readings[SIZE];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next = 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light = incipe.getLightIntensity();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(light &gt;= 0)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readings[next] = light;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next = (next + 1) % SIZE;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Serial.println(average(readings, SIZE));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delay(100);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6 · STEP 10 OF 13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pass: say the light reads 520.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SIZE = 10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readings = {500,0,0,0,0,0,0,0,0,0}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next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1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light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520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508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762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823200" y="485775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50.00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last 10 readings.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32385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657600"/>
            <a:ext cx="6604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6576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57400"/>
            <a:ext cx="6475095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SIZE = 10;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readings[SIZE];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next = 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light = incipe.getLightIntensity();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(light &gt;= 0)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readings[next] = light;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next = (next + 1) % SIZE;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Serial.println(average(readings, SIZE));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delay(100);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8 · STEP 11 OF 13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Into box 1.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SIZE = 10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readings =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{500,520,0,0,0,0,0,0,0,0}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next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1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light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520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508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762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823200" y="485775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50.00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last 10 readings.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32385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886200"/>
            <a:ext cx="6604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8862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57400"/>
            <a:ext cx="6475095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SIZE = 10;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readings[SIZE];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next = 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light = incipe.getLightIntensity();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(light &gt;= 0)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readings[next] = light;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next = (next + 1) % SIZE;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Serial.println(average(readings, SIZE));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delay(100);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9 · STEP 12 OF 13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to box 2.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SIZE = 10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readings = {500,520,0,0,0,0,0,0,0,0}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next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→ 1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</a:t>
            </a:r>
            <a:r>
              <a:rPr lang="en-US" sz="13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light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520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508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762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823200" y="485775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50.00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last 10 readings.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6604000" cy="32385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114800"/>
            <a:ext cx="6604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41148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57400"/>
            <a:ext cx="6475095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SIZE = 10;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readings[SIZE];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next = 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light = incipe.getLightIntensity();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(light &gt;= 0)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readings[next] = light;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next = (next + 1) % SIZE;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Serial.println(average(readings, SIZE));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delay(100);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70800" y="1905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10 · STEP 13 OF 13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70800" y="2190750"/>
            <a:ext cx="4264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(500 + 520) / 10.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0800" y="30480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70800" y="3302000"/>
            <a:ext cx="426440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SIZE = 10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readings = {500,520,0,0,0,0,0,0,0,0}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next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→ 1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2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light = </a:t>
            </a:r>
            <a:r>
              <a:rPr lang="en-US" sz="13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500 →</a:t>
            </a: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520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70800" y="4508500"/>
            <a:ext cx="426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0800" y="4762500"/>
            <a:ext cx="41402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823200" y="4857750"/>
            <a:ext cx="395046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50.00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102.00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Watch Out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first nine averages are too low.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78486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empty boxes still hold 0. After 10 readings every box is real and the average is right. Fixing that is part of your task.</a:t>
            </a:r>
            <a:endParaRPr lang="en-US" sz="1600" dirty="0"/>
          </a:p>
        </p:txBody>
      </p:sp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Task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it, plot it, then make it better.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178943"/>
        </p:xfrm>
        <a:graphic>
          <a:graphicData uri="http://schemas.openxmlformats.org/drawingml/2006/table">
            <a:tbl>
              <a:tblPr/>
              <a:tblGrid>
                <a:gridCol w="864616"/>
                <a:gridCol w="9943084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Step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 this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Build the sketch and open the Plotter.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0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Print the raw light and the average on one line, so the Plotter draws both: Serial.print(light); Serial.print(" "); then println the average.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Fix the low start: keep a count of readings so far (up to 10) and average only those.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Try SIZE 3 and 30. Which follows your hand faster? Which is smoother?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&amp; this time. What prints?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1732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 addBonusCopy(int score) {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score = score + 10;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 points = 50;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addBonusCopy(points);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Serial.println(points);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Without &amp;, the function gets a copy. It adds 10 to the copy; points is untouched.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2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prints?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100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 a = 5;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 *p = &amp;a;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*p = *p * 2;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Serial.println(a);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 points to a, so *p * 2 is 5 × 2 = 10, written back into a.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3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are 6 &amp; 3 and 6 | 1?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UP THE BITS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1447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110  (6)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&amp; 011  (3)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110  (6)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| 001  (1)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and 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110 &amp; 011 = 010 = 2: only the middle bit is 1 in both. 110 | 001 = 111 = 7: every bit is 1 in at least one.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4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is 1 &lt;&lt; 4?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SHIFT THE BITS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00001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&lt;&lt; 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00001 shifted left 4 places is 10000: switch 4, worth 16.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5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1106424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first reading is 500. What prints, and why not 500?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2159000"/>
            <a:ext cx="5334000" cy="3302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413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MOVING AVERAGE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778720"/>
            <a:ext cx="4970780" cy="75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SIZE = 10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readings = {500,0,0,0,0,0,0,0,0,0}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Serial.println(average(readings, SIZE));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2159000"/>
            <a:ext cx="6350" cy="3302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2159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524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50.00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3144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51016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other nine boxes still hold 0, so the average is 500 / 10 = 50. It becomes right once all ten boxes are filled.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things to take away.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905000"/>
            <a:ext cx="343590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473920"/>
            <a:ext cx="343590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 &amp;x is a reference — another name for the same variable, so a function can change it.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28034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28034" y="2473920"/>
            <a:ext cx="34359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pointer holds an address: &amp; takes it, * goes to it. An array's name works like a pointer to its first box.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70317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170317" y="2473920"/>
            <a:ext cx="34359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| sets a bit, &amp; checks it, ^ flips it. A moving average keeps the last N readings in an array.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953000"/>
            <a:ext cx="10820400" cy="539105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— Session 4: Structs &amp; state machines.</a:t>
            </a: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Group related data with struct, and build a traffic light that moves from state to state.</a:t>
            </a:r>
            <a:endParaRPr lang="en-US" sz="1300" dirty="0"/>
          </a:p>
        </p:txBody>
      </p:sp>
      <p:pic>
        <p:nvPicPr>
          <p:cNvPr id="12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ssion 3 · Arrays, Pointers &amp; Bitwise Operations">
  <a:themeElements>
    <a:clrScheme name="Session 3 · Arrays, Pointers &amp; Bitwise Operations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8F5C33"/>
      </a:accent2>
      <a:accent3>
        <a:srgbClr val="76706C"/>
      </a:accent3>
      <a:accent4>
        <a:srgbClr val="D4D4D4"/>
      </a:accent4>
      <a:accent5>
        <a:srgbClr val="9AA0A6"/>
      </a:accent5>
      <a:accent6>
        <a:srgbClr val="737374"/>
      </a:accent6>
      <a:hlink>
        <a:srgbClr val="0563C1"/>
      </a:hlink>
      <a:folHlink>
        <a:srgbClr val="954F72"/>
      </a:folHlink>
    </a:clrScheme>
    <a:fontScheme name="Session 3 · Arrays, Pointers &amp; Bitwise Operations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 · Arrays, Pointers &amp; Bitwise Operations</dc:title>
  <dc:subject/>
  <dc:creator/>
  <cp:lastModifiedBy/>
  <cp:revision>1</cp:revision>
  <dcterms:created xsi:type="dcterms:W3CDTF">2026-10-09T05:11:22Z</dcterms:created>
  <dcterms:modified xsi:type="dcterms:W3CDTF">2026-10-09T05:11:22Z</dcterms:modified>
</cp:coreProperties>
</file>