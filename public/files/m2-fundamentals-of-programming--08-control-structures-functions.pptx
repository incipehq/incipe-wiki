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picks up what Lessons 2 to 4 left out: switch, while and do-while, and writing your own functions. They come together in a Digital Dice that rolls when the button is pressed, and an AI-suggested debounce.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in thirty minutes. Students need the board and the button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back to the M2 lessons for anything here they have forgotten. This session does not repeat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aloud once; each one is explained again when it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 example from Lesson 3 needs ranges, so it stays an if / else if. A dice face is an exact value, so it suits a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6. A function with one int parameter, value. We follow the call showDice(4).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switch looks at value and jumps to the matching case. It does not test the cases one by one like an if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The switch jumped straight to case 4 and printed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break is what stops the code from running on into case 5. Without it, the next cases would run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The closing brace of the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Always give a switch a default, so a value you did not expect still does something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every case with break. The Verify button does not warn you about a missing break; it is a logical error, not a syntax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used while (Serial.available() == 0) {} to wait for typing; that is a while loop with an empty body. Today we give it a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12. A countdown before the dice roll: 3, 2, 1, 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 while loop checks its condition before every pass, including the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The first line of output: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Forgetting this line is the classic infinite loop: count would stay 3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The closing brace sends the program back up to the while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Second line of output: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count is now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One more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Third line of output: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10. count reaches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11. 0 is not greater than 0, so the condition is false and the loop is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12. The full output: 3, 2, 1, 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Taste first, then check. Use do-while when the body must happen at least once, for example asking a question before checking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have been calling functions all along: Serial.println, incipe.getButtonResponse. Now they write one. A function gives a few lines a name, so loop() reads like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5. Writing addDice above setup does not run it. A function only runs when something calls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values in the call go into the parameters in order: 3 into a, 4 into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return hands back 7 and leaves the function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The call addDice(3, 4) is replaced by its answer,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The Serial monitor shows 7. Fix a bug inside a function once, and every call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curriculum practice: press the button and display a random number. Three pieces: roll, show, and the button. These are the button facts from the Wiki,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curriculum shows the dice on the LED strip, one LED per pip. The Wiki does not yet list what incipe.setLEDcolour and incipe.showLED take, so today the Serial monitor is the display.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9. The same release logic as Lesson 3, now calling our two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getButtonResponse gives 1 while the button is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The if condition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While the button is held, loop runs many times; each pass just keeps pressed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The button now reads 0, but pressed still remembers the 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A minus one reading matches neither branch, so an unplugged button rolls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Resetting pressed is what stops one press turning into many rolls.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rollDice(6) runs first and gives a number from 1 to 6; that number goes straight into showDice. The roll is random; 4 is just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One press, one 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must be written above the place they are first used, or declared there. Putting rollDice and showDice at the top keeps it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curriculum's AI task: use AI to suggest error handling for button debouncing. The prompt names the exact function, asks the AI to keep the student's logic, and asks about minus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it like M1 Session 2: is the incipe name exactly the Wiki's? What does minus one do here? It is just another value, so an unplugged button settles at minus one and still rolls nothing. Did the AI keep the release logic, or rewrite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three, then not a dice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two, then three. This was run and checked; fall-through is real C++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3, 2, 1 on three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10, once. A plain while loop would print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any whole number from 1 to 6. A common mistake is random(1, 6), which can never give a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to remember. Homework: finish the Digital Dice and add the AI's debounce, reviewed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685800" y="726430"/>
            <a:ext cx="9220200" cy="408930"/>
          </a:xfrm>
          <a:prstGeom prst="rect">
            <a:avLst/>
          </a:prstGeom>
          <a:noFill/>
          <a:ln/>
        </p:spPr>
        <p:txBody>
          <a:bodyPr wrap="square" lIns="0" tIns="0" rIns="0" bIns="0" rtlCol="0" anchor="t"/>
          <a:lstStyle>
            <a:lvl1pPr algn="l" indent="0" marL="0">
              <a:lnSpc>
                <a:spcPct val="115000"/>
              </a:lnSpc>
              <a:buNone/>
              <a:defRPr lang="en-US" sz="28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85800" y="1440160"/>
            <a:ext cx="10693400" cy="4605040"/>
          </a:xfrm>
          <a:prstGeom prst="rect">
            <a:avLst/>
          </a:prstGeom>
          <a:noFill/>
          <a:ln/>
        </p:spPr>
        <p:txBody>
          <a:bodyPr wrap="square" lIns="0" tIns="0" rIns="0" bIns="0" rtlCol="0" anchor="t"/>
          <a:lstStyle>
            <a:lvl1pPr algn="l" indent="0" marL="0">
              <a:lnSpc>
                <a:spcPct val="140000"/>
              </a:lnSpc>
              <a:buNone/>
              <a:defRPr lang="en-US" sz="16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685800" y="726430"/>
            <a:ext cx="9220200" cy="408930"/>
          </a:xfrm>
          <a:prstGeom prst="rect">
            <a:avLst/>
          </a:prstGeom>
          <a:noFill/>
          <a:ln/>
        </p:spPr>
        <p:txBody>
          <a:bodyPr wrap="square" lIns="0" tIns="0" rIns="0" bIns="0" rtlCol="0" anchor="t"/>
          <a:lstStyle>
            <a:lvl1pPr algn="l" indent="0" marL="0">
              <a:lnSpc>
                <a:spcPct val="115000"/>
              </a:lnSpc>
              <a:buNone/>
              <a:defRPr lang="en-US" sz="28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85800" y="1440160"/>
            <a:ext cx="10693400" cy="4605040"/>
          </a:xfrm>
          <a:prstGeom prst="rect">
            <a:avLst/>
          </a:prstGeom>
          <a:noFill/>
          <a:ln/>
        </p:spPr>
        <p:txBody>
          <a:bodyPr wrap="square" lIns="0" tIns="0" rIns="0" bIns="0" rtlCol="0" anchor="t"/>
          <a:lstStyle>
            <a:lvl1pPr algn="l" indent="0" marL="0">
              <a:lnSpc>
                <a:spcPct val="140000"/>
              </a:lnSpc>
              <a:buNone/>
              <a:defRPr lang="en-US" sz="16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39462" b="39462"/>
          <a:stretch/>
        </p:blipFill>
        <p:spPr>
          <a:xfrm>
            <a:off x="0" y="3003550"/>
            <a:ext cx="12192000" cy="3854450"/>
          </a:xfrm>
          <a:prstGeom prst="rect">
            <a:avLst/>
          </a:prstGeom>
        </p:spPr>
      </p:pic>
      <p:sp>
        <p:nvSpPr>
          <p:cNvPr id="3" name="Text 0"/>
          <p:cNvSpPr/>
          <p:nvPr/>
        </p:nvSpPr>
        <p:spPr>
          <a:xfrm>
            <a:off x="381000" y="381000"/>
            <a:ext cx="3401060" cy="375841"/>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B57946"/>
                </a:solidFill>
                <a:latin typeface="Helvetica Neue" pitchFamily="34" charset="0"/>
                <a:ea typeface="Helvetica Neue" pitchFamily="34" charset="-122"/>
                <a:cs typeface="Helvetica Neue" pitchFamily="34" charset="-120"/>
              </a:rPr>
              <a:t>© 2026 Incipe Academy Limited.</a:t>
            </a:r>
            <a:endParaRPr lang="en-US" sz="1200" dirty="0"/>
          </a:p>
          <a:p>
            <a:pPr algn="l" indent="0" marL="0">
              <a:lnSpc>
                <a:spcPts val="1380"/>
              </a:lnSpc>
              <a:buNone/>
            </a:pPr>
            <a:r>
              <a:rPr lang="en-US" sz="1200" dirty="0">
                <a:solidFill>
                  <a:srgbClr val="B57946"/>
                </a:solidFill>
                <a:latin typeface="Helvetica Neue" pitchFamily="34" charset="0"/>
                <a:ea typeface="Helvetica Neue" pitchFamily="34" charset="-122"/>
                <a:cs typeface="Helvetica Neue" pitchFamily="34" charset="-120"/>
              </a:rPr>
              <a:t>All rights reserved.</a:t>
            </a:r>
            <a:endParaRPr lang="en-US" sz="1200" dirty="0"/>
          </a:p>
        </p:txBody>
      </p:sp>
      <p:sp>
        <p:nvSpPr>
          <p:cNvPr id="4" name="Text 1"/>
          <p:cNvSpPr/>
          <p:nvPr/>
        </p:nvSpPr>
        <p:spPr>
          <a:xfrm>
            <a:off x="4133850" y="406400"/>
            <a:ext cx="39243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B57946"/>
                </a:solidFill>
                <a:latin typeface="Helvetica Neue" pitchFamily="34" charset="0"/>
                <a:ea typeface="Helvetica Neue" pitchFamily="34" charset="-122"/>
                <a:cs typeface="Helvetica Neue" pitchFamily="34" charset="-120"/>
              </a:rPr>
              <a:t>Incipe 101</a:t>
            </a:r>
            <a:endParaRPr lang="en-US" sz="1600" dirty="0"/>
          </a:p>
        </p:txBody>
      </p:sp>
      <p:sp>
        <p:nvSpPr>
          <p:cNvPr id="5" name="Text 2"/>
          <p:cNvSpPr/>
          <p:nvPr/>
        </p:nvSpPr>
        <p:spPr>
          <a:xfrm>
            <a:off x="8409940" y="406400"/>
            <a:ext cx="340106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B57946"/>
                </a:solidFill>
                <a:latin typeface="Helvetica Neue" pitchFamily="34" charset="0"/>
                <a:ea typeface="Helvetica Neue" pitchFamily="34" charset="-122"/>
                <a:cs typeface="Helvetica Neue" pitchFamily="34" charset="-120"/>
              </a:rPr>
              <a:t>M2: Programming with C++</a:t>
            </a:r>
            <a:endParaRPr lang="en-US" sz="1600" dirty="0"/>
          </a:p>
        </p:txBody>
      </p:sp>
      <p:sp>
        <p:nvSpPr>
          <p:cNvPr id="6" name="Text 3"/>
          <p:cNvSpPr/>
          <p:nvPr>
            <p:ph type="title"/>
          </p:nvPr>
        </p:nvSpPr>
        <p:spPr>
          <a:xfrm>
            <a:off x="863600" y="1085850"/>
            <a:ext cx="10464800" cy="1454150"/>
          </a:xfrm>
          <a:prstGeom prst="rect">
            <a:avLst/>
          </a:prstGeom>
          <a:noFill/>
          <a:ln/>
        </p:spPr>
        <p:txBody>
          <a:bodyPr wrap="square" lIns="0" tIns="0" rIns="0" bIns="0" rtlCol="0" anchor="t">
            <a:normAutofit/>
          </a:bodyPr>
          <a:lstStyle/>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Session 2</a:t>
            </a:r>
            <a:endParaRPr lang="en-US" sz="3750" dirty="0"/>
          </a:p>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Control Structures &amp;</a:t>
            </a:r>
            <a:endParaRPr lang="en-US" sz="3750" dirty="0"/>
          </a:p>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Functions</a:t>
            </a:r>
            <a:endParaRPr lang="en-US" sz="3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Lesson Overview</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Choose one of many, repeat until done, and give your code names.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2171700"/>
          <a:ext cx="10807700" cy="2316063"/>
        </p:xfrm>
        <a:graphic>
          <a:graphicData uri="http://schemas.openxmlformats.org/drawingml/2006/table">
            <a:tbl>
              <a:tblPr/>
              <a:tblGrid>
                <a:gridCol w="1080770"/>
                <a:gridCol w="7781544"/>
                <a:gridCol w="1945386"/>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Part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Topic</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Time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switch: one choice out of many</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6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02</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while and do-while: repeat until done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6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03</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Writing your own functions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7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04</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Practice: Digital Dice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7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05</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AI integration: debouncing the button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4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Already Covered</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You know these from Lessons 2 to 4.</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917700"/>
          <a:ext cx="10807700" cy="1544042"/>
        </p:xfrm>
        <a:graphic>
          <a:graphicData uri="http://schemas.openxmlformats.org/drawingml/2006/table">
            <a:tbl>
              <a:tblPr/>
              <a:tblGrid>
                <a:gridCol w="5944235"/>
                <a:gridCol w="4863465"/>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Idea</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Where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if, else if, else, &amp;&amp;, ||, !</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Lesson 2 · More about programming</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Reading the button and counting a press on release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Lesson 3 · Programming sensors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for loops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Lesson 4 · Array &amp; for loop</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6" name="Text 3"/>
          <p:cNvSpPr/>
          <p:nvPr/>
        </p:nvSpPr>
        <p:spPr>
          <a:xfrm>
            <a:off x="685800" y="40640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Today adds three new tools — switch, while / do-while and your own functions — and puts them to work in a Digital Dice.</a:t>
            </a:r>
            <a:endParaRPr lang="en-US" sz="14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Key Words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Ten words you will hear today.</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663700"/>
          <a:ext cx="10807700" cy="3659485"/>
        </p:xfrm>
        <a:graphic>
          <a:graphicData uri="http://schemas.openxmlformats.org/drawingml/2006/table">
            <a:tbl>
              <a:tblPr/>
              <a:tblGrid>
                <a:gridCol w="2377694"/>
                <a:gridCol w="8430006"/>
              </a:tblGrid>
              <a:tr h="332680">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Word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Plain meaning</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switch</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Picks one block of code to run, by matching a value exactly.</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case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One possible value inside a switch.</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break</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"Stop here and leave the switch."</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default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What runs when no case matches.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while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Repeats while a condition is true — checks first.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do-while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Runs once, then repeats while a condition is true — checks after.</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Function</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named block of code you can run from anywhere by calling its name.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Parameter</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value you hand to a function when you call it.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Return value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The answer a function hands back.</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Debounce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Ignoring the tiny flickers a button makes as it is pressed.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switch</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Like a vending machine: press 4, get slot 4.</a:t>
            </a:r>
            <a:endParaRPr lang="en-US" sz="2800" dirty="0"/>
          </a:p>
        </p:txBody>
      </p:sp>
      <p:sp>
        <p:nvSpPr>
          <p:cNvPr id="5" name="Text 3"/>
          <p:cNvSpPr/>
          <p:nvPr/>
        </p:nvSpPr>
        <p:spPr>
          <a:xfrm>
            <a:off x="685800" y="18415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Not "bigger than 3", not "between 2 and 5" — exactly 4. A switch jumps straight to the case that equals the value.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8500" y="2679700"/>
          <a:ext cx="10807700" cy="1158032"/>
        </p:xfrm>
        <a:graphic>
          <a:graphicData uri="http://schemas.openxmlformats.org/drawingml/2006/table">
            <a:tbl>
              <a:tblPr/>
              <a:tblGrid>
                <a:gridCol w="5403850"/>
                <a:gridCol w="5403850"/>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Use switch when…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Use if / else if when…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You match exact values: 1, 2, 3…</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You compare ranges: score &gt;= 85</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There are many choices of one variable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The conditions mix different variables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showDice() with a switch.</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2095500"/>
            <a:ext cx="6604000" cy="254000"/>
          </a:xfrm>
          <a:prstGeom prst="rect">
            <a:avLst/>
          </a:prstGeom>
          <a:solidFill>
            <a:srgbClr val="FFFFFF"/>
          </a:solidFill>
          <a:ln/>
        </p:spPr>
      </p:sp>
      <p:sp>
        <p:nvSpPr>
          <p:cNvPr id="7" name="Shape 5"/>
          <p:cNvSpPr/>
          <p:nvPr/>
        </p:nvSpPr>
        <p:spPr>
          <a:xfrm>
            <a:off x="685800" y="2095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showDice(int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switch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case 1: Serial.println("one");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case 2: Serial.println("two");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case 3: Serial.println("three");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4: Serial.println("four");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5: Serial.println("five");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6: Serial.println("six");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default: Serial.println("not a dice number");</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 · STEP 1 OF 6</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showDice takes one number. Say we call showDice(4).</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value = </a:t>
            </a:r>
            <a:r>
              <a:rPr lang="en-US" sz="1300" dirty="0">
                <a:solidFill>
                  <a:srgbClr val="8F5C33"/>
                </a:solidFill>
                <a:latin typeface="Courier New" pitchFamily="49" charset="0"/>
                <a:ea typeface="Courier New" pitchFamily="49" charset="-122"/>
                <a:cs typeface="Courier New" pitchFamily="49" charset="-120"/>
              </a:rPr>
              <a:t>4</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showDice() with a switch.</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2349500"/>
            <a:ext cx="6604000" cy="254000"/>
          </a:xfrm>
          <a:prstGeom prst="rect">
            <a:avLst/>
          </a:prstGeom>
          <a:solidFill>
            <a:srgbClr val="FFFFFF"/>
          </a:solidFill>
          <a:ln/>
        </p:spPr>
      </p:sp>
      <p:sp>
        <p:nvSpPr>
          <p:cNvPr id="7" name="Shape 5"/>
          <p:cNvSpPr/>
          <p:nvPr/>
        </p:nvSpPr>
        <p:spPr>
          <a:xfrm>
            <a:off x="685800" y="2349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showDice(int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switch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case 1: Serial.println("one");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case 2: Serial.println("two");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case 3: Serial.println("three");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4: Serial.println("four");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5: Serial.println("five");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6: Serial.println("six");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default: Serial.println("not a dice number");</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2 · STEP 2 OF 6</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switch (value) — find the case that equals 4.</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value = 4</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showDice() with a switch.</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3365500"/>
            <a:ext cx="6604000" cy="254000"/>
          </a:xfrm>
          <a:prstGeom prst="rect">
            <a:avLst/>
          </a:prstGeom>
          <a:solidFill>
            <a:srgbClr val="FFFFFF"/>
          </a:solidFill>
          <a:ln/>
        </p:spPr>
      </p:sp>
      <p:sp>
        <p:nvSpPr>
          <p:cNvPr id="7" name="Shape 5"/>
          <p:cNvSpPr/>
          <p:nvPr/>
        </p:nvSpPr>
        <p:spPr>
          <a:xfrm>
            <a:off x="685800" y="3365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showDice(int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switch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case 1: Serial.println("one");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case 2: Serial.println("two");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case 3: Serial.println("three");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4: Serial.println("four");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5: Serial.println("five");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6: Serial.println("six");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default: Serial.println("not a dice number");</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6 · STEP 3 OF 6</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case 4 matches. Print "four"…</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value = 4</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four</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showDice() with a switch.</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3365500"/>
            <a:ext cx="6604000" cy="254000"/>
          </a:xfrm>
          <a:prstGeom prst="rect">
            <a:avLst/>
          </a:prstGeom>
          <a:solidFill>
            <a:srgbClr val="FFFFFF"/>
          </a:solidFill>
          <a:ln/>
        </p:spPr>
      </p:sp>
      <p:sp>
        <p:nvSpPr>
          <p:cNvPr id="7" name="Shape 5"/>
          <p:cNvSpPr/>
          <p:nvPr/>
        </p:nvSpPr>
        <p:spPr>
          <a:xfrm>
            <a:off x="685800" y="3365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showDice(int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switch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case 1: Serial.println("one");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case 2: Serial.println("two");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case 3: Serial.println("three");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4: Serial.println("four");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5: Serial.println("five");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6: Serial.println("six");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default: Serial.println("not a dice number");</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6 · STEP 4 OF 6</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…then break jumps out of the switch. Cases 5, 6 and default are skipped.</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value = 4</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four</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showDice() with a switch.</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4381500"/>
            <a:ext cx="6604000" cy="254000"/>
          </a:xfrm>
          <a:prstGeom prst="rect">
            <a:avLst/>
          </a:prstGeom>
          <a:solidFill>
            <a:srgbClr val="FFFFFF"/>
          </a:solidFill>
          <a:ln/>
        </p:spPr>
      </p:sp>
      <p:sp>
        <p:nvSpPr>
          <p:cNvPr id="7" name="Shape 5"/>
          <p:cNvSpPr/>
          <p:nvPr/>
        </p:nvSpPr>
        <p:spPr>
          <a:xfrm>
            <a:off x="685800" y="4381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showDice(int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switch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case 1: Serial.println("one");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case 2: Serial.println("two");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case 3: Serial.println("three");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4: Serial.println("four");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5: Serial.println("five");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6: Serial.println("six");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default: Serial.println("not a dice number");</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10 · STEP 5 OF 6</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Leave the switch.</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value = 4</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four</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showDice() with a switch.</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4635500"/>
            <a:ext cx="6604000" cy="254000"/>
          </a:xfrm>
          <a:prstGeom prst="rect">
            <a:avLst/>
          </a:prstGeom>
          <a:solidFill>
            <a:srgbClr val="FFFFFF"/>
          </a:solidFill>
          <a:ln/>
        </p:spPr>
      </p:sp>
      <p:sp>
        <p:nvSpPr>
          <p:cNvPr id="7" name="Shape 5"/>
          <p:cNvSpPr/>
          <p:nvPr/>
        </p:nvSpPr>
        <p:spPr>
          <a:xfrm>
            <a:off x="685800" y="4635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void showDice(int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switch (value)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case 1: Serial.println("one");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case 2: Serial.println("two");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case 3: Serial.println("three");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4: Serial.println("four");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5: Serial.println("five");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6: Serial.println("six");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default: Serial.println("not a dice number");</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11 · STEP 6 OF 6</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function ends. A value like 7 or 0 would have matched no case and run default instead.</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value = 4</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four</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24383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Be Careful</a:t>
            </a:r>
            <a:endParaRPr lang="en-US" sz="1600" dirty="0"/>
          </a:p>
        </p:txBody>
      </p:sp>
      <p:sp>
        <p:nvSpPr>
          <p:cNvPr id="4" name="Text 2"/>
          <p:cNvSpPr/>
          <p:nvPr>
            <p:ph type="title"/>
          </p:nvPr>
        </p:nvSpPr>
        <p:spPr>
          <a:xfrm>
            <a:off x="685800" y="2095500"/>
            <a:ext cx="981075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D1D1E"/>
                </a:solidFill>
                <a:latin typeface="Helvetica Neue" pitchFamily="34" charset="0"/>
                <a:ea typeface="Helvetica Neue" pitchFamily="34" charset="-122"/>
                <a:cs typeface="Helvetica Neue" pitchFamily="34" charset="-120"/>
              </a:rPr>
              <a:t>Forget a break and the code falls through.</a:t>
            </a:r>
            <a:endParaRPr lang="en-US" sz="4800" dirty="0"/>
          </a:p>
        </p:txBody>
      </p:sp>
      <p:sp>
        <p:nvSpPr>
          <p:cNvPr id="5" name="Text 3"/>
          <p:cNvSpPr/>
          <p:nvPr/>
        </p:nvSpPr>
        <p:spPr>
          <a:xfrm>
            <a:off x="685800" y="4064000"/>
            <a:ext cx="78486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0000"/>
                </a:solidFill>
                <a:latin typeface="Helvetica Neue" pitchFamily="34" charset="0"/>
                <a:ea typeface="Helvetica Neue" pitchFamily="34" charset="-122"/>
                <a:cs typeface="Helvetica Neue" pitchFamily="34" charset="-120"/>
              </a:rPr>
              <a:t>Without break, C++ keeps running into the next case until it meets one. That is almost always a bug — Checkpoint 2 shows what happens.</a:t>
            </a:r>
            <a:endParaRPr lang="en-US" sz="1600" dirty="0"/>
          </a:p>
        </p:txBody>
      </p:sp>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while &amp; do-while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One cook checks first. The other tastes first.</a:t>
            </a:r>
            <a:endParaRPr lang="en-US" sz="2800" dirty="0"/>
          </a:p>
        </p:txBody>
      </p:sp>
      <p:sp>
        <p:nvSpPr>
          <p:cNvPr id="5" name="Text 3"/>
          <p:cNvSpPr/>
          <p:nvPr/>
        </p:nvSpPr>
        <p:spPr>
          <a:xfrm>
            <a:off x="685800" y="1841500"/>
            <a:ext cx="111450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"While the water isn't boiling, wait" checks before acting: that is while. "Taste the soup, then decide if it needs salt" acts first: that is do-while.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8500" y="2870200"/>
          <a:ext cx="10807700" cy="1437283"/>
        </p:xfrm>
        <a:graphic>
          <a:graphicData uri="http://schemas.openxmlformats.org/drawingml/2006/table">
            <a:tbl>
              <a:tblPr/>
              <a:tblGrid>
                <a:gridCol w="1729232"/>
                <a:gridCol w="2377694"/>
                <a:gridCol w="2377694"/>
                <a:gridCol w="4323080"/>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Loop</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Checks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Runs at least once?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Best for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for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Before each pass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No</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Counting a known number of times (Lesson 4)</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while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Before each pass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No</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"Keep going until something happens"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do-while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After each pass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Yes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"Do it once, then repeat if needed"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095500"/>
            <a:ext cx="6604000" cy="254000"/>
          </a:xfrm>
          <a:prstGeom prst="rect">
            <a:avLst/>
          </a:prstGeom>
          <a:solidFill>
            <a:srgbClr val="FFFFFF"/>
          </a:solidFill>
          <a:ln/>
        </p:spPr>
      </p:sp>
      <p:sp>
        <p:nvSpPr>
          <p:cNvPr id="7" name="Shape 5"/>
          <p:cNvSpPr/>
          <p:nvPr/>
        </p:nvSpPr>
        <p:spPr>
          <a:xfrm>
            <a:off x="685800" y="2095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 · STEP 1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Start the countdown at 3.</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8F5C33"/>
                </a:solidFill>
                <a:latin typeface="Courier New" pitchFamily="49" charset="0"/>
                <a:ea typeface="Courier New" pitchFamily="49" charset="-122"/>
                <a:cs typeface="Courier New" pitchFamily="49" charset="-120"/>
              </a:rPr>
              <a:t>3</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349500"/>
            <a:ext cx="6604000" cy="254000"/>
          </a:xfrm>
          <a:prstGeom prst="rect">
            <a:avLst/>
          </a:prstGeom>
          <a:solidFill>
            <a:srgbClr val="FFFFFF"/>
          </a:solidFill>
          <a:ln/>
        </p:spPr>
      </p:sp>
      <p:sp>
        <p:nvSpPr>
          <p:cNvPr id="7" name="Shape 5"/>
          <p:cNvSpPr/>
          <p:nvPr/>
        </p:nvSpPr>
        <p:spPr>
          <a:xfrm>
            <a:off x="685800" y="2349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2 · STEP 2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Is 3 &gt; 0? Yes — go in.</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3</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603500"/>
            <a:ext cx="6604000" cy="254000"/>
          </a:xfrm>
          <a:prstGeom prst="rect">
            <a:avLst/>
          </a:prstGeom>
          <a:solidFill>
            <a:srgbClr val="FFFFFF"/>
          </a:solidFill>
          <a:ln/>
        </p:spPr>
      </p:sp>
      <p:sp>
        <p:nvSpPr>
          <p:cNvPr id="7" name="Shape 5"/>
          <p:cNvSpPr/>
          <p:nvPr/>
        </p:nvSpPr>
        <p:spPr>
          <a:xfrm>
            <a:off x="685800" y="2603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3 · STEP 3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Print the count.</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3</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3</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857500"/>
            <a:ext cx="6604000" cy="254000"/>
          </a:xfrm>
          <a:prstGeom prst="rect">
            <a:avLst/>
          </a:prstGeom>
          <a:solidFill>
            <a:srgbClr val="FFFFFF"/>
          </a:solidFill>
          <a:ln/>
        </p:spPr>
      </p:sp>
      <p:sp>
        <p:nvSpPr>
          <p:cNvPr id="7" name="Shape 5"/>
          <p:cNvSpPr/>
          <p:nvPr/>
        </p:nvSpPr>
        <p:spPr>
          <a:xfrm>
            <a:off x="685800" y="2857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4 · STEP 4 OF 12</a:t>
            </a:r>
            <a:endParaRPr lang="en-US" sz="1200" dirty="0"/>
          </a:p>
        </p:txBody>
      </p:sp>
      <p:sp>
        <p:nvSpPr>
          <p:cNvPr id="10" name="Text 8"/>
          <p:cNvSpPr/>
          <p:nvPr/>
        </p:nvSpPr>
        <p:spPr>
          <a:xfrm>
            <a:off x="7670800" y="2190750"/>
            <a:ext cx="4521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Take 1 away — otherwise the loop would never end.</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76706C"/>
                </a:solidFill>
                <a:latin typeface="Courier New" pitchFamily="49" charset="0"/>
                <a:ea typeface="Courier New" pitchFamily="49" charset="-122"/>
                <a:cs typeface="Courier New" pitchFamily="49" charset="-120"/>
              </a:rPr>
              <a:t>3 →</a:t>
            </a:r>
            <a:r>
              <a:rPr lang="en-US" sz="1300" dirty="0">
                <a:solidFill>
                  <a:srgbClr val="1D1D1E"/>
                </a:solidFill>
                <a:latin typeface="Courier New" pitchFamily="49" charset="0"/>
                <a:ea typeface="Courier New" pitchFamily="49" charset="-122"/>
                <a:cs typeface="Courier New" pitchFamily="49" charset="-120"/>
              </a:rPr>
              <a:t> </a:t>
            </a:r>
            <a:r>
              <a:rPr lang="en-US" sz="1300" dirty="0">
                <a:solidFill>
                  <a:srgbClr val="8F5C33"/>
                </a:solidFill>
                <a:latin typeface="Courier New" pitchFamily="49" charset="0"/>
                <a:ea typeface="Courier New" pitchFamily="49" charset="-122"/>
                <a:cs typeface="Courier New" pitchFamily="49" charset="-120"/>
              </a:rPr>
              <a:t>2</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3</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349500"/>
            <a:ext cx="6604000" cy="254000"/>
          </a:xfrm>
          <a:prstGeom prst="rect">
            <a:avLst/>
          </a:prstGeom>
          <a:solidFill>
            <a:srgbClr val="FFFFFF"/>
          </a:solidFill>
          <a:ln/>
        </p:spPr>
      </p:sp>
      <p:sp>
        <p:nvSpPr>
          <p:cNvPr id="7" name="Shape 5"/>
          <p:cNvSpPr/>
          <p:nvPr/>
        </p:nvSpPr>
        <p:spPr>
          <a:xfrm>
            <a:off x="685800" y="2349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2 · STEP 5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Back to the check. Is 2 &gt; 0? Yes.</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76706C"/>
                </a:solidFill>
                <a:latin typeface="Courier New" pitchFamily="49" charset="0"/>
                <a:ea typeface="Courier New" pitchFamily="49" charset="-122"/>
                <a:cs typeface="Courier New" pitchFamily="49" charset="-120"/>
              </a:rPr>
              <a:t>3 →</a:t>
            </a:r>
            <a:r>
              <a:rPr lang="en-US" sz="1300" dirty="0">
                <a:solidFill>
                  <a:srgbClr val="1D1D1E"/>
                </a:solidFill>
                <a:latin typeface="Courier New" pitchFamily="49" charset="0"/>
                <a:ea typeface="Courier New" pitchFamily="49" charset="-122"/>
                <a:cs typeface="Courier New" pitchFamily="49" charset="-120"/>
              </a:rPr>
              <a:t> 2</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3</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603500"/>
            <a:ext cx="6604000" cy="254000"/>
          </a:xfrm>
          <a:prstGeom prst="rect">
            <a:avLst/>
          </a:prstGeom>
          <a:solidFill>
            <a:srgbClr val="FFFFFF"/>
          </a:solidFill>
          <a:ln/>
        </p:spPr>
      </p:sp>
      <p:sp>
        <p:nvSpPr>
          <p:cNvPr id="7" name="Shape 5"/>
          <p:cNvSpPr/>
          <p:nvPr/>
        </p:nvSpPr>
        <p:spPr>
          <a:xfrm>
            <a:off x="685800" y="2603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3 · STEP 6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Print it.</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76706C"/>
                </a:solidFill>
                <a:latin typeface="Courier New" pitchFamily="49" charset="0"/>
                <a:ea typeface="Courier New" pitchFamily="49" charset="-122"/>
                <a:cs typeface="Courier New" pitchFamily="49" charset="-120"/>
              </a:rPr>
              <a:t>3 →</a:t>
            </a:r>
            <a:r>
              <a:rPr lang="en-US" sz="1300" dirty="0">
                <a:solidFill>
                  <a:srgbClr val="1D1D1E"/>
                </a:solidFill>
                <a:latin typeface="Courier New" pitchFamily="49" charset="0"/>
                <a:ea typeface="Courier New" pitchFamily="49" charset="-122"/>
                <a:cs typeface="Courier New" pitchFamily="49" charset="-120"/>
              </a:rPr>
              <a:t> 2</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3</a:t>
            </a:r>
            <a:endParaRPr lang="en-US" sz="1200" dirty="0"/>
          </a:p>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2</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857500"/>
            <a:ext cx="6604000" cy="254000"/>
          </a:xfrm>
          <a:prstGeom prst="rect">
            <a:avLst/>
          </a:prstGeom>
          <a:solidFill>
            <a:srgbClr val="FFFFFF"/>
          </a:solidFill>
          <a:ln/>
        </p:spPr>
      </p:sp>
      <p:sp>
        <p:nvSpPr>
          <p:cNvPr id="7" name="Shape 5"/>
          <p:cNvSpPr/>
          <p:nvPr/>
        </p:nvSpPr>
        <p:spPr>
          <a:xfrm>
            <a:off x="685800" y="2857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4 · STEP 7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Take 1 away.</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76706C"/>
                </a:solidFill>
                <a:latin typeface="Courier New" pitchFamily="49" charset="0"/>
                <a:ea typeface="Courier New" pitchFamily="49" charset="-122"/>
                <a:cs typeface="Courier New" pitchFamily="49" charset="-120"/>
              </a:rPr>
              <a:t>3 → 2 →</a:t>
            </a:r>
            <a:r>
              <a:rPr lang="en-US" sz="1300" dirty="0">
                <a:solidFill>
                  <a:srgbClr val="1D1D1E"/>
                </a:solidFill>
                <a:latin typeface="Courier New" pitchFamily="49" charset="0"/>
                <a:ea typeface="Courier New" pitchFamily="49" charset="-122"/>
                <a:cs typeface="Courier New" pitchFamily="49" charset="-120"/>
              </a:rPr>
              <a:t> </a:t>
            </a:r>
            <a:r>
              <a:rPr lang="en-US" sz="1300" dirty="0">
                <a:solidFill>
                  <a:srgbClr val="8F5C33"/>
                </a:solidFill>
                <a:latin typeface="Courier New" pitchFamily="49" charset="0"/>
                <a:ea typeface="Courier New" pitchFamily="49" charset="-122"/>
                <a:cs typeface="Courier New" pitchFamily="49" charset="-120"/>
              </a:rPr>
              <a:t>1</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3</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2</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349500"/>
            <a:ext cx="6604000" cy="254000"/>
          </a:xfrm>
          <a:prstGeom prst="rect">
            <a:avLst/>
          </a:prstGeom>
          <a:solidFill>
            <a:srgbClr val="FFFFFF"/>
          </a:solidFill>
          <a:ln/>
        </p:spPr>
      </p:sp>
      <p:sp>
        <p:nvSpPr>
          <p:cNvPr id="7" name="Shape 5"/>
          <p:cNvSpPr/>
          <p:nvPr/>
        </p:nvSpPr>
        <p:spPr>
          <a:xfrm>
            <a:off x="685800" y="2349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2 · STEP 8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Is 1 &gt; 0? Yes.</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76706C"/>
                </a:solidFill>
                <a:latin typeface="Courier New" pitchFamily="49" charset="0"/>
                <a:ea typeface="Courier New" pitchFamily="49" charset="-122"/>
                <a:cs typeface="Courier New" pitchFamily="49" charset="-120"/>
              </a:rPr>
              <a:t>3 → 2 →</a:t>
            </a:r>
            <a:r>
              <a:rPr lang="en-US" sz="1300" dirty="0">
                <a:solidFill>
                  <a:srgbClr val="1D1D1E"/>
                </a:solidFill>
                <a:latin typeface="Courier New" pitchFamily="49" charset="0"/>
                <a:ea typeface="Courier New" pitchFamily="49" charset="-122"/>
                <a:cs typeface="Courier New" pitchFamily="49" charset="-120"/>
              </a:rPr>
              <a:t> 1</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3</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2</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603500"/>
            <a:ext cx="6604000" cy="254000"/>
          </a:xfrm>
          <a:prstGeom prst="rect">
            <a:avLst/>
          </a:prstGeom>
          <a:solidFill>
            <a:srgbClr val="FFFFFF"/>
          </a:solidFill>
          <a:ln/>
        </p:spPr>
      </p:sp>
      <p:sp>
        <p:nvSpPr>
          <p:cNvPr id="7" name="Shape 5"/>
          <p:cNvSpPr/>
          <p:nvPr/>
        </p:nvSpPr>
        <p:spPr>
          <a:xfrm>
            <a:off x="685800" y="2603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3 · STEP 9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Print it.</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76706C"/>
                </a:solidFill>
                <a:latin typeface="Courier New" pitchFamily="49" charset="0"/>
                <a:ea typeface="Courier New" pitchFamily="49" charset="-122"/>
                <a:cs typeface="Courier New" pitchFamily="49" charset="-120"/>
              </a:rPr>
              <a:t>3 → 2 →</a:t>
            </a:r>
            <a:r>
              <a:rPr lang="en-US" sz="1300" dirty="0">
                <a:solidFill>
                  <a:srgbClr val="1D1D1E"/>
                </a:solidFill>
                <a:latin typeface="Courier New" pitchFamily="49" charset="0"/>
                <a:ea typeface="Courier New" pitchFamily="49" charset="-122"/>
                <a:cs typeface="Courier New" pitchFamily="49" charset="-120"/>
              </a:rPr>
              <a:t> 1</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3</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2</a:t>
            </a:r>
            <a:endParaRPr lang="en-US" sz="1200" dirty="0"/>
          </a:p>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1</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857500"/>
            <a:ext cx="6604000" cy="254000"/>
          </a:xfrm>
          <a:prstGeom prst="rect">
            <a:avLst/>
          </a:prstGeom>
          <a:solidFill>
            <a:srgbClr val="FFFFFF"/>
          </a:solidFill>
          <a:ln/>
        </p:spPr>
      </p:sp>
      <p:sp>
        <p:nvSpPr>
          <p:cNvPr id="7" name="Shape 5"/>
          <p:cNvSpPr/>
          <p:nvPr/>
        </p:nvSpPr>
        <p:spPr>
          <a:xfrm>
            <a:off x="685800" y="2857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4 · STEP 10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Take 1 away.</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76706C"/>
                </a:solidFill>
                <a:latin typeface="Courier New" pitchFamily="49" charset="0"/>
                <a:ea typeface="Courier New" pitchFamily="49" charset="-122"/>
                <a:cs typeface="Courier New" pitchFamily="49" charset="-120"/>
              </a:rPr>
              <a:t>3 → 2 → 1 →</a:t>
            </a:r>
            <a:r>
              <a:rPr lang="en-US" sz="1300" dirty="0">
                <a:solidFill>
                  <a:srgbClr val="1D1D1E"/>
                </a:solidFill>
                <a:latin typeface="Courier New" pitchFamily="49" charset="0"/>
                <a:ea typeface="Courier New" pitchFamily="49" charset="-122"/>
                <a:cs typeface="Courier New" pitchFamily="49" charset="-120"/>
              </a:rPr>
              <a:t> </a:t>
            </a:r>
            <a:r>
              <a:rPr lang="en-US" sz="1300" dirty="0">
                <a:solidFill>
                  <a:srgbClr val="8F5C33"/>
                </a:solidFill>
                <a:latin typeface="Courier New" pitchFamily="49" charset="0"/>
                <a:ea typeface="Courier New" pitchFamily="49" charset="-122"/>
                <a:cs typeface="Courier New" pitchFamily="49" charset="-120"/>
              </a:rPr>
              <a:t>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3</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2</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1</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2349500"/>
            <a:ext cx="6604000" cy="254000"/>
          </a:xfrm>
          <a:prstGeom prst="rect">
            <a:avLst/>
          </a:prstGeom>
          <a:solidFill>
            <a:srgbClr val="FFFFFF"/>
          </a:solidFill>
          <a:ln/>
        </p:spPr>
      </p:sp>
      <p:sp>
        <p:nvSpPr>
          <p:cNvPr id="7" name="Shape 5"/>
          <p:cNvSpPr/>
          <p:nvPr/>
        </p:nvSpPr>
        <p:spPr>
          <a:xfrm>
            <a:off x="685800" y="2349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2 · STEP 11 OF 12</a:t>
            </a:r>
            <a:endParaRPr lang="en-US" sz="1200" dirty="0"/>
          </a:p>
        </p:txBody>
      </p:sp>
      <p:sp>
        <p:nvSpPr>
          <p:cNvPr id="10" name="Text 8"/>
          <p:cNvSpPr/>
          <p:nvPr/>
        </p:nvSpPr>
        <p:spPr>
          <a:xfrm>
            <a:off x="7670800" y="2190750"/>
            <a:ext cx="4264406" cy="27746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Is 0 &gt; 0? </a:t>
            </a:r>
            <a:r>
              <a:rPr lang="en-US" sz="1400" b="1" dirty="0">
                <a:solidFill>
                  <a:srgbClr val="000000"/>
                </a:solidFill>
                <a:latin typeface="Helvetica Neue" pitchFamily="34" charset="0"/>
                <a:ea typeface="Helvetica Neue" pitchFamily="34" charset="-122"/>
                <a:cs typeface="Helvetica Neue" pitchFamily="34" charset="-120"/>
              </a:rPr>
              <a:t>No</a:t>
            </a:r>
            <a:r>
              <a:rPr lang="en-US" sz="1400" dirty="0">
                <a:solidFill>
                  <a:srgbClr val="000000"/>
                </a:solidFill>
                <a:latin typeface="Helvetica Neue" pitchFamily="34" charset="0"/>
                <a:ea typeface="Helvetica Neue" pitchFamily="34" charset="-122"/>
                <a:cs typeface="Helvetica Neue" pitchFamily="34" charset="-120"/>
              </a:rPr>
              <a:t> — skip the loop.</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76706C"/>
                </a:solidFill>
                <a:latin typeface="Courier New" pitchFamily="49" charset="0"/>
                <a:ea typeface="Courier New" pitchFamily="49" charset="-122"/>
                <a:cs typeface="Courier New" pitchFamily="49" charset="-120"/>
              </a:rPr>
              <a:t>3 → 2 → 1 →</a:t>
            </a:r>
            <a:r>
              <a:rPr lang="en-US" sz="1300" dirty="0">
                <a:solidFill>
                  <a:srgbClr val="1D1D1E"/>
                </a:solidFill>
                <a:latin typeface="Courier New" pitchFamily="49" charset="0"/>
                <a:ea typeface="Courier New" pitchFamily="49" charset="-122"/>
                <a:cs typeface="Courier New" pitchFamily="49" charset="-120"/>
              </a:rPr>
              <a:t> 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3</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2</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1</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while-loop countdown.</a:t>
            </a:r>
            <a:endParaRPr lang="en-US" sz="2800" dirty="0"/>
          </a:p>
        </p:txBody>
      </p:sp>
      <p:sp>
        <p:nvSpPr>
          <p:cNvPr id="5" name="Shape 3"/>
          <p:cNvSpPr/>
          <p:nvPr/>
        </p:nvSpPr>
        <p:spPr>
          <a:xfrm>
            <a:off x="685800" y="1905000"/>
            <a:ext cx="6604000" cy="1905000"/>
          </a:xfrm>
          <a:prstGeom prst="rect">
            <a:avLst/>
          </a:prstGeom>
          <a:solidFill>
            <a:srgbClr val="E1E1E1"/>
          </a:solidFill>
          <a:ln/>
        </p:spPr>
      </p:sp>
      <p:sp>
        <p:nvSpPr>
          <p:cNvPr id="6" name="Shape 4"/>
          <p:cNvSpPr/>
          <p:nvPr/>
        </p:nvSpPr>
        <p:spPr>
          <a:xfrm>
            <a:off x="685800" y="3365500"/>
            <a:ext cx="6604000" cy="254000"/>
          </a:xfrm>
          <a:prstGeom prst="rect">
            <a:avLst/>
          </a:prstGeom>
          <a:solidFill>
            <a:srgbClr val="FFFFFF"/>
          </a:solidFill>
          <a:ln/>
        </p:spPr>
      </p:sp>
      <p:sp>
        <p:nvSpPr>
          <p:cNvPr id="7" name="Shape 5"/>
          <p:cNvSpPr/>
          <p:nvPr/>
        </p:nvSpPr>
        <p:spPr>
          <a:xfrm>
            <a:off x="685800" y="3365500"/>
            <a:ext cx="31750" cy="254000"/>
          </a:xfrm>
          <a:prstGeom prst="rect">
            <a:avLst/>
          </a:prstGeom>
          <a:solidFill>
            <a:srgbClr val="B57946"/>
          </a:solidFill>
          <a:ln/>
        </p:spPr>
      </p:sp>
      <p:sp>
        <p:nvSpPr>
          <p:cNvPr id="8" name="Text 6"/>
          <p:cNvSpPr/>
          <p:nvPr/>
        </p:nvSpPr>
        <p:spPr>
          <a:xfrm>
            <a:off x="889000" y="2095500"/>
            <a:ext cx="6475095" cy="155237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count =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while (count &gt; 0)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Serial.println("Roll!");</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6 · STEP 12 OF 12</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Carry on after the loop.</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count = </a:t>
            </a:r>
            <a:r>
              <a:rPr lang="en-US" sz="1300" dirty="0">
                <a:solidFill>
                  <a:srgbClr val="76706C"/>
                </a:solidFill>
                <a:latin typeface="Courier New" pitchFamily="49" charset="0"/>
                <a:ea typeface="Courier New" pitchFamily="49" charset="-122"/>
                <a:cs typeface="Courier New" pitchFamily="49" charset="-120"/>
              </a:rPr>
              <a:t>3 → 2 → 1 →</a:t>
            </a:r>
            <a:r>
              <a:rPr lang="en-US" sz="1300" dirty="0">
                <a:solidFill>
                  <a:srgbClr val="1D1D1E"/>
                </a:solidFill>
                <a:latin typeface="Courier New" pitchFamily="49" charset="0"/>
                <a:ea typeface="Courier New" pitchFamily="49" charset="-122"/>
                <a:cs typeface="Courier New" pitchFamily="49" charset="-120"/>
              </a:rPr>
              <a:t> 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1143000"/>
          </a:xfrm>
          <a:prstGeom prst="rect">
            <a:avLst/>
          </a:prstGeom>
          <a:solidFill>
            <a:srgbClr val="FFFFFF"/>
          </a:solidFill>
          <a:ln/>
        </p:spPr>
      </p:sp>
      <p:sp>
        <p:nvSpPr>
          <p:cNvPr id="15" name="Text 13"/>
          <p:cNvSpPr/>
          <p:nvPr/>
        </p:nvSpPr>
        <p:spPr>
          <a:xfrm>
            <a:off x="7823200" y="4730750"/>
            <a:ext cx="3950462"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3</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2</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1</a:t>
            </a:r>
            <a:endParaRPr lang="en-US" sz="1200" dirty="0"/>
          </a:p>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Roll!</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do-while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do-while always runs at least once.</a:t>
            </a:r>
            <a:endParaRPr lang="en-US" sz="2800" dirty="0"/>
          </a:p>
        </p:txBody>
      </p:sp>
      <p:sp>
        <p:nvSpPr>
          <p:cNvPr id="5" name="Text 3"/>
          <p:cNvSpPr/>
          <p:nvPr/>
        </p:nvSpPr>
        <p:spPr>
          <a:xfrm>
            <a:off x="685800" y="1905000"/>
            <a:ext cx="4826000" cy="1930301"/>
          </a:xfrm>
          <a:prstGeom prst="rect">
            <a:avLst/>
          </a:prstGeom>
          <a:solidFill>
            <a:srgbClr val="E1E1E1"/>
          </a:solidFill>
          <a:ln/>
        </p:spPr>
        <p:txBody>
          <a:bodyPr wrap="square" lIns="254000" tIns="254000" rIns="124460" bIns="228600" rtlCol="0" anchor="t">
            <a:normAutofit/>
          </a:bodyPr>
          <a:lstStyle/>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int n = 10;</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do {</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  Serial.println(n);</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  n = n + 1;</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 while (n &lt; 5);</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05500" y="1917700"/>
          <a:ext cx="5600700" cy="1668413"/>
        </p:xfrm>
        <a:graphic>
          <a:graphicData uri="http://schemas.openxmlformats.org/drawingml/2006/table">
            <a:tbl>
              <a:tblPr/>
              <a:tblGrid>
                <a:gridCol w="1008126"/>
                <a:gridCol w="4592574"/>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Line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What it does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1</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n starts at 10.</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2–4</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body runs first: prints 10, then n becomes 11.</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9045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5</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Now it checks n &lt; 5. 11 is not less than 5, so it stops. It printed once.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7" name="Text 4"/>
          <p:cNvSpPr/>
          <p:nvPr/>
        </p:nvSpPr>
        <p:spPr>
          <a:xfrm>
            <a:off x="685800" y="45720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same loop written with while would print nothing: 10 &lt; 5 is false before the first pass.</a:t>
            </a:r>
            <a:endParaRPr lang="en-US" sz="1400" dirty="0"/>
          </a:p>
        </p:txBody>
      </p:sp>
      <p:pic>
        <p:nvPicPr>
          <p:cNvPr id="8"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9"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0"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Your Own Functions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 function is a recipe card with a name.</a:t>
            </a:r>
            <a:endParaRPr lang="en-US" sz="2800" dirty="0"/>
          </a:p>
        </p:txBody>
      </p:sp>
      <p:sp>
        <p:nvSpPr>
          <p:cNvPr id="5" name="Text 3"/>
          <p:cNvSpPr/>
          <p:nvPr/>
        </p:nvSpPr>
        <p:spPr>
          <a:xfrm>
            <a:off x="685800" y="1841500"/>
            <a:ext cx="111450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It has a name ("Pancakes"), ingredients you bring (parameters) and a dish you get back (the return value). Once written, anyone can say "make pancakes".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8500" y="2743200"/>
          <a:ext cx="10807700" cy="2155924"/>
        </p:xfrm>
        <a:graphic>
          <a:graphicData uri="http://schemas.openxmlformats.org/drawingml/2006/table">
            <a:tbl>
              <a:tblPr/>
              <a:tblGrid>
                <a:gridCol w="3242310"/>
                <a:gridCol w="7565390"/>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Part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Meaning</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int (the first word)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type of the answer it hands back. void means "hands nothing back".</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addDice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function's name — say what it does.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(int a, int b)</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Two parameters: the ingredients.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return a + b;</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Hand back the answer, and leave the function.</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addDice(3, 4)</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call: 3 goes into a, 4 into b.</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Calling addDice().</a:t>
            </a:r>
            <a:endParaRPr lang="en-US" sz="2800" dirty="0"/>
          </a:p>
        </p:txBody>
      </p:sp>
      <p:sp>
        <p:nvSpPr>
          <p:cNvPr id="5" name="Shape 3"/>
          <p:cNvSpPr/>
          <p:nvPr/>
        </p:nvSpPr>
        <p:spPr>
          <a:xfrm>
            <a:off x="685800" y="1905000"/>
            <a:ext cx="6604000" cy="2667000"/>
          </a:xfrm>
          <a:prstGeom prst="rect">
            <a:avLst/>
          </a:prstGeom>
          <a:solidFill>
            <a:srgbClr val="E1E1E1"/>
          </a:solidFill>
          <a:ln/>
        </p:spPr>
      </p:sp>
      <p:sp>
        <p:nvSpPr>
          <p:cNvPr id="6" name="Shape 4"/>
          <p:cNvSpPr/>
          <p:nvPr/>
        </p:nvSpPr>
        <p:spPr>
          <a:xfrm>
            <a:off x="685800" y="3365500"/>
            <a:ext cx="6604000" cy="254000"/>
          </a:xfrm>
          <a:prstGeom prst="rect">
            <a:avLst/>
          </a:prstGeom>
          <a:solidFill>
            <a:srgbClr val="FFFFFF"/>
          </a:solidFill>
          <a:ln/>
        </p:spPr>
      </p:sp>
      <p:sp>
        <p:nvSpPr>
          <p:cNvPr id="7" name="Shape 5"/>
          <p:cNvSpPr/>
          <p:nvPr/>
        </p:nvSpPr>
        <p:spPr>
          <a:xfrm>
            <a:off x="685800" y="3365500"/>
            <a:ext cx="31750" cy="254000"/>
          </a:xfrm>
          <a:prstGeom prst="rect">
            <a:avLst/>
          </a:prstGeom>
          <a:solidFill>
            <a:srgbClr val="B57946"/>
          </a:solidFill>
          <a:ln/>
        </p:spPr>
      </p:sp>
      <p:sp>
        <p:nvSpPr>
          <p:cNvPr id="8" name="Text 6"/>
          <p:cNvSpPr/>
          <p:nvPr/>
        </p:nvSpPr>
        <p:spPr>
          <a:xfrm>
            <a:off x="889000" y="2095500"/>
            <a:ext cx="6475095" cy="2315865"/>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addDice(int a, int b)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return a + b;</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void setup()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Serial.begin(9600);</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7</a:t>
            </a:r>
            <a:r>
              <a:rPr lang="en-US" sz="1200" dirty="0">
                <a:solidFill>
                  <a:srgbClr val="1D1D1E"/>
                </a:solidFill>
                <a:latin typeface="Courier New" pitchFamily="49" charset="0"/>
                <a:ea typeface="Courier New" pitchFamily="49" charset="-122"/>
                <a:cs typeface="Courier New" pitchFamily="49" charset="-120"/>
              </a:rPr>
              <a:t>    int total = addDice(3, 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8</a:t>
            </a:r>
            <a:r>
              <a:rPr lang="en-US" sz="1200" dirty="0">
                <a:solidFill>
                  <a:srgbClr val="1D1D1E"/>
                </a:solidFill>
                <a:latin typeface="Courier New" pitchFamily="49" charset="0"/>
                <a:ea typeface="Courier New" pitchFamily="49" charset="-122"/>
                <a:cs typeface="Courier New" pitchFamily="49" charset="-120"/>
              </a:rPr>
              <a:t>    Serial.println(total);</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9</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6 · STEP 1 OF 5</a:t>
            </a:r>
            <a:endParaRPr lang="en-US" sz="1200" dirty="0"/>
          </a:p>
        </p:txBody>
      </p:sp>
      <p:sp>
        <p:nvSpPr>
          <p:cNvPr id="10" name="Text 8"/>
          <p:cNvSpPr/>
          <p:nvPr/>
        </p:nvSpPr>
        <p:spPr>
          <a:xfrm>
            <a:off x="7670800" y="2190750"/>
            <a:ext cx="4521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board starts in setup(). Start the Serial monitor.</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76706C"/>
                </a:solidFill>
                <a:latin typeface="Helvetica Neue" pitchFamily="34" charset="0"/>
                <a:ea typeface="Helvetica Neue" pitchFamily="34" charset="-122"/>
                <a:cs typeface="Helvetica Neue" pitchFamily="34" charset="-120"/>
              </a:rPr>
              <a:t>None yet.</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Calling addDice().</a:t>
            </a:r>
            <a:endParaRPr lang="en-US" sz="2800" dirty="0"/>
          </a:p>
        </p:txBody>
      </p:sp>
      <p:sp>
        <p:nvSpPr>
          <p:cNvPr id="5" name="Shape 3"/>
          <p:cNvSpPr/>
          <p:nvPr/>
        </p:nvSpPr>
        <p:spPr>
          <a:xfrm>
            <a:off x="685800" y="1905000"/>
            <a:ext cx="6604000" cy="2667000"/>
          </a:xfrm>
          <a:prstGeom prst="rect">
            <a:avLst/>
          </a:prstGeom>
          <a:solidFill>
            <a:srgbClr val="E1E1E1"/>
          </a:solidFill>
          <a:ln/>
        </p:spPr>
      </p:sp>
      <p:sp>
        <p:nvSpPr>
          <p:cNvPr id="6" name="Shape 4"/>
          <p:cNvSpPr/>
          <p:nvPr/>
        </p:nvSpPr>
        <p:spPr>
          <a:xfrm>
            <a:off x="685800" y="3619500"/>
            <a:ext cx="6604000" cy="254000"/>
          </a:xfrm>
          <a:prstGeom prst="rect">
            <a:avLst/>
          </a:prstGeom>
          <a:solidFill>
            <a:srgbClr val="FFFFFF"/>
          </a:solidFill>
          <a:ln/>
        </p:spPr>
      </p:sp>
      <p:sp>
        <p:nvSpPr>
          <p:cNvPr id="7" name="Shape 5"/>
          <p:cNvSpPr/>
          <p:nvPr/>
        </p:nvSpPr>
        <p:spPr>
          <a:xfrm>
            <a:off x="685800" y="3619500"/>
            <a:ext cx="31750" cy="254000"/>
          </a:xfrm>
          <a:prstGeom prst="rect">
            <a:avLst/>
          </a:prstGeom>
          <a:solidFill>
            <a:srgbClr val="B57946"/>
          </a:solidFill>
          <a:ln/>
        </p:spPr>
      </p:sp>
      <p:sp>
        <p:nvSpPr>
          <p:cNvPr id="8" name="Text 6"/>
          <p:cNvSpPr/>
          <p:nvPr/>
        </p:nvSpPr>
        <p:spPr>
          <a:xfrm>
            <a:off x="889000" y="2095500"/>
            <a:ext cx="6475095" cy="2315865"/>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addDice(int a, int b)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return a + b;</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void setup()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Serial.begin(9600);</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7</a:t>
            </a:r>
            <a:r>
              <a:rPr lang="en-US" sz="1200" dirty="0">
                <a:solidFill>
                  <a:srgbClr val="1D1D1E"/>
                </a:solidFill>
                <a:latin typeface="Courier New" pitchFamily="49" charset="0"/>
                <a:ea typeface="Courier New" pitchFamily="49" charset="-122"/>
                <a:cs typeface="Courier New" pitchFamily="49" charset="-120"/>
              </a:rPr>
              <a:t>    int total = addDice(3, 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8</a:t>
            </a:r>
            <a:r>
              <a:rPr lang="en-US" sz="1200" dirty="0">
                <a:solidFill>
                  <a:srgbClr val="1D1D1E"/>
                </a:solidFill>
                <a:latin typeface="Courier New" pitchFamily="49" charset="0"/>
                <a:ea typeface="Courier New" pitchFamily="49" charset="-122"/>
                <a:cs typeface="Courier New" pitchFamily="49" charset="-120"/>
              </a:rPr>
              <a:t>    Serial.println(total);</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9</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7 · STEP 2 OF 5</a:t>
            </a:r>
            <a:endParaRPr lang="en-US" sz="1200" dirty="0"/>
          </a:p>
        </p:txBody>
      </p:sp>
      <p:sp>
        <p:nvSpPr>
          <p:cNvPr id="10" name="Text 8"/>
          <p:cNvSpPr/>
          <p:nvPr/>
        </p:nvSpPr>
        <p:spPr>
          <a:xfrm>
            <a:off x="7670800" y="2190750"/>
            <a:ext cx="4521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Call addDice with 3 and 4. Jump up to the function.</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a = </a:t>
            </a:r>
            <a:r>
              <a:rPr lang="en-US" sz="1300" dirty="0">
                <a:solidFill>
                  <a:srgbClr val="8F5C33"/>
                </a:solidFill>
                <a:latin typeface="Courier New" pitchFamily="49" charset="0"/>
                <a:ea typeface="Courier New" pitchFamily="49" charset="-122"/>
                <a:cs typeface="Courier New" pitchFamily="49" charset="-120"/>
              </a:rPr>
              <a:t>3</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 = </a:t>
            </a:r>
            <a:r>
              <a:rPr lang="en-US" sz="1300" dirty="0">
                <a:solidFill>
                  <a:srgbClr val="8F5C33"/>
                </a:solidFill>
                <a:latin typeface="Courier New" pitchFamily="49" charset="0"/>
                <a:ea typeface="Courier New" pitchFamily="49" charset="-122"/>
                <a:cs typeface="Courier New" pitchFamily="49" charset="-120"/>
              </a:rPr>
              <a:t>4</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Calling addDice().</a:t>
            </a:r>
            <a:endParaRPr lang="en-US" sz="2800" dirty="0"/>
          </a:p>
        </p:txBody>
      </p:sp>
      <p:sp>
        <p:nvSpPr>
          <p:cNvPr id="5" name="Shape 3"/>
          <p:cNvSpPr/>
          <p:nvPr/>
        </p:nvSpPr>
        <p:spPr>
          <a:xfrm>
            <a:off x="685800" y="1905000"/>
            <a:ext cx="6604000" cy="2667000"/>
          </a:xfrm>
          <a:prstGeom prst="rect">
            <a:avLst/>
          </a:prstGeom>
          <a:solidFill>
            <a:srgbClr val="E1E1E1"/>
          </a:solidFill>
          <a:ln/>
        </p:spPr>
      </p:sp>
      <p:sp>
        <p:nvSpPr>
          <p:cNvPr id="6" name="Shape 4"/>
          <p:cNvSpPr/>
          <p:nvPr/>
        </p:nvSpPr>
        <p:spPr>
          <a:xfrm>
            <a:off x="685800" y="2349500"/>
            <a:ext cx="6604000" cy="254000"/>
          </a:xfrm>
          <a:prstGeom prst="rect">
            <a:avLst/>
          </a:prstGeom>
          <a:solidFill>
            <a:srgbClr val="FFFFFF"/>
          </a:solidFill>
          <a:ln/>
        </p:spPr>
      </p:sp>
      <p:sp>
        <p:nvSpPr>
          <p:cNvPr id="7" name="Shape 5"/>
          <p:cNvSpPr/>
          <p:nvPr/>
        </p:nvSpPr>
        <p:spPr>
          <a:xfrm>
            <a:off x="685800" y="2349500"/>
            <a:ext cx="31750" cy="254000"/>
          </a:xfrm>
          <a:prstGeom prst="rect">
            <a:avLst/>
          </a:prstGeom>
          <a:solidFill>
            <a:srgbClr val="B57946"/>
          </a:solidFill>
          <a:ln/>
        </p:spPr>
      </p:sp>
      <p:sp>
        <p:nvSpPr>
          <p:cNvPr id="8" name="Text 6"/>
          <p:cNvSpPr/>
          <p:nvPr/>
        </p:nvSpPr>
        <p:spPr>
          <a:xfrm>
            <a:off x="889000" y="2095500"/>
            <a:ext cx="6475095" cy="2315865"/>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addDice(int a, int b)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return a + b;</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void setup()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Serial.begin(9600);</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7</a:t>
            </a:r>
            <a:r>
              <a:rPr lang="en-US" sz="1200" dirty="0">
                <a:solidFill>
                  <a:srgbClr val="1D1D1E"/>
                </a:solidFill>
                <a:latin typeface="Courier New" pitchFamily="49" charset="0"/>
                <a:ea typeface="Courier New" pitchFamily="49" charset="-122"/>
                <a:cs typeface="Courier New" pitchFamily="49" charset="-120"/>
              </a:rPr>
              <a:t>    int total = addDice(3, 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8</a:t>
            </a:r>
            <a:r>
              <a:rPr lang="en-US" sz="1200" dirty="0">
                <a:solidFill>
                  <a:srgbClr val="1D1D1E"/>
                </a:solidFill>
                <a:latin typeface="Courier New" pitchFamily="49" charset="0"/>
                <a:ea typeface="Courier New" pitchFamily="49" charset="-122"/>
                <a:cs typeface="Courier New" pitchFamily="49" charset="-120"/>
              </a:rPr>
              <a:t>    Serial.println(total);</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9</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2 · STEP 3 OF 5</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Work out 3 + 4 and hand the answer back with return.</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a = 3</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 = 4</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Calling addDice().</a:t>
            </a:r>
            <a:endParaRPr lang="en-US" sz="2800" dirty="0"/>
          </a:p>
        </p:txBody>
      </p:sp>
      <p:sp>
        <p:nvSpPr>
          <p:cNvPr id="5" name="Shape 3"/>
          <p:cNvSpPr/>
          <p:nvPr/>
        </p:nvSpPr>
        <p:spPr>
          <a:xfrm>
            <a:off x="685800" y="1905000"/>
            <a:ext cx="6604000" cy="2667000"/>
          </a:xfrm>
          <a:prstGeom prst="rect">
            <a:avLst/>
          </a:prstGeom>
          <a:solidFill>
            <a:srgbClr val="E1E1E1"/>
          </a:solidFill>
          <a:ln/>
        </p:spPr>
      </p:sp>
      <p:sp>
        <p:nvSpPr>
          <p:cNvPr id="6" name="Shape 4"/>
          <p:cNvSpPr/>
          <p:nvPr/>
        </p:nvSpPr>
        <p:spPr>
          <a:xfrm>
            <a:off x="685800" y="3619500"/>
            <a:ext cx="6604000" cy="254000"/>
          </a:xfrm>
          <a:prstGeom prst="rect">
            <a:avLst/>
          </a:prstGeom>
          <a:solidFill>
            <a:srgbClr val="FFFFFF"/>
          </a:solidFill>
          <a:ln/>
        </p:spPr>
      </p:sp>
      <p:sp>
        <p:nvSpPr>
          <p:cNvPr id="7" name="Shape 5"/>
          <p:cNvSpPr/>
          <p:nvPr/>
        </p:nvSpPr>
        <p:spPr>
          <a:xfrm>
            <a:off x="685800" y="3619500"/>
            <a:ext cx="31750" cy="254000"/>
          </a:xfrm>
          <a:prstGeom prst="rect">
            <a:avLst/>
          </a:prstGeom>
          <a:solidFill>
            <a:srgbClr val="B57946"/>
          </a:solidFill>
          <a:ln/>
        </p:spPr>
      </p:sp>
      <p:sp>
        <p:nvSpPr>
          <p:cNvPr id="8" name="Text 6"/>
          <p:cNvSpPr/>
          <p:nvPr/>
        </p:nvSpPr>
        <p:spPr>
          <a:xfrm>
            <a:off x="889000" y="2095500"/>
            <a:ext cx="6475095" cy="2315865"/>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addDice(int a, int b)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return a + b;</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void setup()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Serial.begin(9600);</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7</a:t>
            </a:r>
            <a:r>
              <a:rPr lang="en-US" sz="1200" dirty="0">
                <a:solidFill>
                  <a:srgbClr val="1D1D1E"/>
                </a:solidFill>
                <a:latin typeface="Courier New" pitchFamily="49" charset="0"/>
                <a:ea typeface="Courier New" pitchFamily="49" charset="-122"/>
                <a:cs typeface="Courier New" pitchFamily="49" charset="-120"/>
              </a:rPr>
              <a:t>    int total = addDice(3, 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8</a:t>
            </a:r>
            <a:r>
              <a:rPr lang="en-US" sz="1200" dirty="0">
                <a:solidFill>
                  <a:srgbClr val="1D1D1E"/>
                </a:solidFill>
                <a:latin typeface="Courier New" pitchFamily="49" charset="0"/>
                <a:ea typeface="Courier New" pitchFamily="49" charset="-122"/>
                <a:cs typeface="Courier New" pitchFamily="49" charset="-120"/>
              </a:rPr>
              <a:t>    Serial.println(total);</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9</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7 · STEP 4 OF 5</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Back in setup(): the answer goes into total.</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a = 3, b = 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total = </a:t>
            </a:r>
            <a:r>
              <a:rPr lang="en-US" sz="1300" dirty="0">
                <a:solidFill>
                  <a:srgbClr val="8F5C33"/>
                </a:solidFill>
                <a:latin typeface="Courier New" pitchFamily="49" charset="0"/>
                <a:ea typeface="Courier New" pitchFamily="49" charset="-122"/>
                <a:cs typeface="Courier New" pitchFamily="49" charset="-120"/>
              </a:rPr>
              <a:t>7</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Calling addDice().</a:t>
            </a:r>
            <a:endParaRPr lang="en-US" sz="2800" dirty="0"/>
          </a:p>
        </p:txBody>
      </p:sp>
      <p:sp>
        <p:nvSpPr>
          <p:cNvPr id="5" name="Shape 3"/>
          <p:cNvSpPr/>
          <p:nvPr/>
        </p:nvSpPr>
        <p:spPr>
          <a:xfrm>
            <a:off x="685800" y="1905000"/>
            <a:ext cx="6604000" cy="2667000"/>
          </a:xfrm>
          <a:prstGeom prst="rect">
            <a:avLst/>
          </a:prstGeom>
          <a:solidFill>
            <a:srgbClr val="E1E1E1"/>
          </a:solidFill>
          <a:ln/>
        </p:spPr>
      </p:sp>
      <p:sp>
        <p:nvSpPr>
          <p:cNvPr id="6" name="Shape 4"/>
          <p:cNvSpPr/>
          <p:nvPr/>
        </p:nvSpPr>
        <p:spPr>
          <a:xfrm>
            <a:off x="685800" y="3873500"/>
            <a:ext cx="6604000" cy="254000"/>
          </a:xfrm>
          <a:prstGeom prst="rect">
            <a:avLst/>
          </a:prstGeom>
          <a:solidFill>
            <a:srgbClr val="FFFFFF"/>
          </a:solidFill>
          <a:ln/>
        </p:spPr>
      </p:sp>
      <p:sp>
        <p:nvSpPr>
          <p:cNvPr id="7" name="Shape 5"/>
          <p:cNvSpPr/>
          <p:nvPr/>
        </p:nvSpPr>
        <p:spPr>
          <a:xfrm>
            <a:off x="685800" y="3873500"/>
            <a:ext cx="31750" cy="254000"/>
          </a:xfrm>
          <a:prstGeom prst="rect">
            <a:avLst/>
          </a:prstGeom>
          <a:solidFill>
            <a:srgbClr val="B57946"/>
          </a:solidFill>
          <a:ln/>
        </p:spPr>
      </p:sp>
      <p:sp>
        <p:nvSpPr>
          <p:cNvPr id="8" name="Text 6"/>
          <p:cNvSpPr/>
          <p:nvPr/>
        </p:nvSpPr>
        <p:spPr>
          <a:xfrm>
            <a:off x="889000" y="2095500"/>
            <a:ext cx="6475095" cy="2315865"/>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a:t>
            </a:r>
            <a:r>
              <a:rPr lang="en-US" sz="1200" dirty="0">
                <a:solidFill>
                  <a:srgbClr val="1D1D1E"/>
                </a:solidFill>
                <a:latin typeface="Courier New" pitchFamily="49" charset="0"/>
                <a:ea typeface="Courier New" pitchFamily="49" charset="-122"/>
                <a:cs typeface="Courier New" pitchFamily="49" charset="-120"/>
              </a:rPr>
              <a:t>  int addDice(int a, int b)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2</a:t>
            </a:r>
            <a:r>
              <a:rPr lang="en-US" sz="1200" dirty="0">
                <a:solidFill>
                  <a:srgbClr val="1D1D1E"/>
                </a:solidFill>
                <a:latin typeface="Courier New" pitchFamily="49" charset="0"/>
                <a:ea typeface="Courier New" pitchFamily="49" charset="-122"/>
                <a:cs typeface="Courier New" pitchFamily="49" charset="-120"/>
              </a:rPr>
              <a:t>    return a + b;</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3</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5</a:t>
            </a:r>
            <a:r>
              <a:rPr lang="en-US" sz="1200" dirty="0">
                <a:solidFill>
                  <a:srgbClr val="1D1D1E"/>
                </a:solidFill>
                <a:latin typeface="Courier New" pitchFamily="49" charset="0"/>
                <a:ea typeface="Courier New" pitchFamily="49" charset="-122"/>
                <a:cs typeface="Courier New" pitchFamily="49" charset="-120"/>
              </a:rPr>
              <a:t>  void setup()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6</a:t>
            </a:r>
            <a:r>
              <a:rPr lang="en-US" sz="1200" dirty="0">
                <a:solidFill>
                  <a:srgbClr val="1D1D1E"/>
                </a:solidFill>
                <a:latin typeface="Courier New" pitchFamily="49" charset="0"/>
                <a:ea typeface="Courier New" pitchFamily="49" charset="-122"/>
                <a:cs typeface="Courier New" pitchFamily="49" charset="-120"/>
              </a:rPr>
              <a:t>    Serial.begin(9600);</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7</a:t>
            </a:r>
            <a:r>
              <a:rPr lang="en-US" sz="1200" dirty="0">
                <a:solidFill>
                  <a:srgbClr val="1D1D1E"/>
                </a:solidFill>
                <a:latin typeface="Courier New" pitchFamily="49" charset="0"/>
                <a:ea typeface="Courier New" pitchFamily="49" charset="-122"/>
                <a:cs typeface="Courier New" pitchFamily="49" charset="-120"/>
              </a:rPr>
              <a:t>    int total = addDice(3, 4);</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8</a:t>
            </a:r>
            <a:r>
              <a:rPr lang="en-US" sz="1200" dirty="0">
                <a:solidFill>
                  <a:srgbClr val="1D1D1E"/>
                </a:solidFill>
                <a:latin typeface="Courier New" pitchFamily="49" charset="0"/>
                <a:ea typeface="Courier New" pitchFamily="49" charset="-122"/>
                <a:cs typeface="Courier New" pitchFamily="49" charset="-120"/>
              </a:rPr>
              <a:t>    Serial.println(total);</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9</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8 · STEP 5 OF 5</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Print it.</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a = 3, b = 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total = 7</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7</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Practice: Digital Dice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Press the button, roll a number from 1 to 6.</a:t>
            </a:r>
            <a:endParaRPr lang="en-US" sz="2800" dirty="0"/>
          </a:p>
        </p:txBody>
      </p:sp>
      <p:sp>
        <p:nvSpPr>
          <p:cNvPr id="5" name="Shape 3"/>
          <p:cNvSpPr/>
          <p:nvPr/>
        </p:nvSpPr>
        <p:spPr>
          <a:xfrm>
            <a:off x="685800" y="1905000"/>
            <a:ext cx="10820400" cy="962620"/>
          </a:xfrm>
          <a:prstGeom prst="rect">
            <a:avLst/>
          </a:prstGeom>
          <a:solidFill>
            <a:srgbClr val="E1E1E1"/>
          </a:solidFill>
          <a:ln/>
        </p:spPr>
      </p:sp>
      <p:sp>
        <p:nvSpPr>
          <p:cNvPr id="6" name="Text 4"/>
          <p:cNvSpPr/>
          <p:nvPr/>
        </p:nvSpPr>
        <p:spPr>
          <a:xfrm>
            <a:off x="939800" y="2108200"/>
            <a:ext cx="106217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ONE LINE OF CODE</a:t>
            </a:r>
            <a:endParaRPr lang="en-US" sz="1200" dirty="0"/>
          </a:p>
        </p:txBody>
      </p:sp>
      <p:sp>
        <p:nvSpPr>
          <p:cNvPr id="7" name="Text 5"/>
          <p:cNvSpPr/>
          <p:nvPr/>
        </p:nvSpPr>
        <p:spPr>
          <a:xfrm>
            <a:off x="939800" y="2397720"/>
            <a:ext cx="10621772"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D1D1E"/>
                </a:solidFill>
                <a:latin typeface="Courier New" pitchFamily="49" charset="0"/>
                <a:ea typeface="Courier New" pitchFamily="49" charset="-122"/>
                <a:cs typeface="Courier New" pitchFamily="49" charset="-120"/>
              </a:rPr>
              <a:t>float pressed = incipe.getButtonResponse();</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8500" y="3187700"/>
          <a:ext cx="6337300" cy="1544042"/>
        </p:xfrm>
        <a:graphic>
          <a:graphicData uri="http://schemas.openxmlformats.org/drawingml/2006/table">
            <a:tbl>
              <a:tblPr/>
              <a:tblGrid>
                <a:gridCol w="3168650"/>
                <a:gridCol w="3168650"/>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Button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You get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Pressed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Not pressed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Not detected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9" name="Text 6"/>
          <p:cNvSpPr/>
          <p:nvPr/>
        </p:nvSpPr>
        <p:spPr>
          <a:xfrm>
            <a:off x="7416800" y="3175000"/>
            <a:ext cx="421208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button needs no data cleaning — it already answers yes or no. Full details: Wiki › Button.</a:t>
            </a:r>
            <a:endParaRPr lang="en-US" sz="1400" dirty="0"/>
          </a:p>
        </p:txBody>
      </p:sp>
      <p:pic>
        <p:nvPicPr>
          <p:cNvPr id="10"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1" name="Text 7"/>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2" name="Text 8"/>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Piece 1 — Roll</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random(1, 7) gives 1 up to, but not including, 7.</a:t>
            </a:r>
            <a:endParaRPr lang="en-US" sz="2800" dirty="0"/>
          </a:p>
        </p:txBody>
      </p:sp>
      <p:sp>
        <p:nvSpPr>
          <p:cNvPr id="5" name="Text 3"/>
          <p:cNvSpPr/>
          <p:nvPr/>
        </p:nvSpPr>
        <p:spPr>
          <a:xfrm>
            <a:off x="685800" y="2159000"/>
            <a:ext cx="4826000" cy="1361380"/>
          </a:xfrm>
          <a:prstGeom prst="rect">
            <a:avLst/>
          </a:prstGeom>
          <a:solidFill>
            <a:srgbClr val="E1E1E1"/>
          </a:solidFill>
          <a:ln/>
        </p:spPr>
        <p:txBody>
          <a:bodyPr wrap="square" lIns="254000" tIns="254000" rIns="124460" bIns="228600" rtlCol="0" anchor="t">
            <a:normAutofit/>
          </a:bodyPr>
          <a:lstStyle/>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int rollDice(int sides) {</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  return random(1, sides + 1);</a:t>
            </a:r>
            <a:endParaRPr lang="en-US" sz="1400" dirty="0"/>
          </a:p>
          <a:p>
            <a:pPr algn="l" indent="0" marL="0">
              <a:lnSpc>
                <a:spcPts val="2240"/>
              </a:lnSpc>
              <a:buNone/>
            </a:pPr>
            <a:r>
              <a:rPr lang="en-US" sz="1400" dirty="0">
                <a:solidFill>
                  <a:srgbClr val="1D1D1E"/>
                </a:solidFill>
                <a:latin typeface="Courier New" pitchFamily="49" charset="0"/>
                <a:ea typeface="Courier New" pitchFamily="49" charset="-122"/>
                <a:cs typeface="Courier New" pitchFamily="49" charset="-120"/>
              </a:rPr>
              <a: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05500" y="2171700"/>
          <a:ext cx="5600700" cy="1437283"/>
        </p:xfrm>
        <a:graphic>
          <a:graphicData uri="http://schemas.openxmlformats.org/drawingml/2006/table">
            <a:tbl>
              <a:tblPr/>
              <a:tblGrid>
                <a:gridCol w="896112"/>
                <a:gridCol w="4704588"/>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Line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What it does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1</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Takes how many sides the dice has; returns a whole number.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2</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random(1, 7) picks 1 to 6. That is why it says sides + 1.</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3</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End of the function.</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7" name="Text 4"/>
          <p:cNvSpPr/>
          <p:nvPr/>
        </p:nvSpPr>
        <p:spPr>
          <a:xfrm>
            <a:off x="685800" y="4572000"/>
            <a:ext cx="111450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Piece 2 — show: showDice(value) from the switch. Piece 3 — the button: count a roll on release, as in Lesson 3. On the LED strip: added once the Wiki lists what its functions take.</a:t>
            </a:r>
            <a:endParaRPr lang="en-US" sz="1400" dirty="0"/>
          </a:p>
        </p:txBody>
      </p:sp>
      <p:pic>
        <p:nvPicPr>
          <p:cNvPr id="8"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9"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0"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Piece 3 — roll on release.</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2095500"/>
            <a:ext cx="6604000" cy="254000"/>
          </a:xfrm>
          <a:prstGeom prst="rect">
            <a:avLst/>
          </a:prstGeom>
          <a:solidFill>
            <a:srgbClr val="FFFFFF"/>
          </a:solidFill>
          <a:ln/>
        </p:spPr>
      </p:sp>
      <p:sp>
        <p:nvSpPr>
          <p:cNvPr id="7" name="Shape 5"/>
          <p:cNvSpPr/>
          <p:nvPr/>
        </p:nvSpPr>
        <p:spPr>
          <a:xfrm>
            <a:off x="685800" y="2095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bool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button = incipe.getButtonResponse();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if (button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pressed = true;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 else if (button == 0 &amp;&amp; pressed)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showDice(rollDice(6));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 · STEP 1 OF 9</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Remember whether the button is being held. At the start it is not.</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pressed = </a:t>
            </a:r>
            <a:r>
              <a:rPr lang="en-US" sz="1300" dirty="0">
                <a:solidFill>
                  <a:srgbClr val="8F5C33"/>
                </a:solidFill>
                <a:latin typeface="Courier New" pitchFamily="49" charset="0"/>
                <a:ea typeface="Courier New" pitchFamily="49" charset="-122"/>
                <a:cs typeface="Courier New" pitchFamily="49" charset="-120"/>
              </a:rPr>
              <a:t>false</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Piece 3 — roll on release.</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2857500"/>
            <a:ext cx="6604000" cy="254000"/>
          </a:xfrm>
          <a:prstGeom prst="rect">
            <a:avLst/>
          </a:prstGeom>
          <a:solidFill>
            <a:srgbClr val="FFFFFF"/>
          </a:solidFill>
          <a:ln/>
        </p:spPr>
      </p:sp>
      <p:sp>
        <p:nvSpPr>
          <p:cNvPr id="7" name="Shape 5"/>
          <p:cNvSpPr/>
          <p:nvPr/>
        </p:nvSpPr>
        <p:spPr>
          <a:xfrm>
            <a:off x="685800" y="2857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bool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button = incipe.getButtonResponse();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if (button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pressed = true;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 else if (button == 0 &amp;&amp; pressed)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showDice(rollDice(6));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4 · STEP 2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Read the button. Say it is being pressed.</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pressed = false</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button = </a:t>
            </a:r>
            <a:r>
              <a:rPr lang="en-US" sz="1300" dirty="0">
                <a:solidFill>
                  <a:srgbClr val="8F5C33"/>
                </a:solidFill>
                <a:latin typeface="Courier New" pitchFamily="49" charset="0"/>
                <a:ea typeface="Courier New" pitchFamily="49" charset="-122"/>
                <a:cs typeface="Courier New" pitchFamily="49" charset="-120"/>
              </a:rPr>
              <a:t>1</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Piece 3 — roll on release.</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3111500"/>
            <a:ext cx="6604000" cy="254000"/>
          </a:xfrm>
          <a:prstGeom prst="rect">
            <a:avLst/>
          </a:prstGeom>
          <a:solidFill>
            <a:srgbClr val="FFFFFF"/>
          </a:solidFill>
          <a:ln/>
        </p:spPr>
      </p:sp>
      <p:sp>
        <p:nvSpPr>
          <p:cNvPr id="7" name="Shape 5"/>
          <p:cNvSpPr/>
          <p:nvPr/>
        </p:nvSpPr>
        <p:spPr>
          <a:xfrm>
            <a:off x="685800" y="3111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bool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button = incipe.getButtonResponse();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if (button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pressed = true;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 else if (button == 0 &amp;&amp; pressed)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showDice(rollDice(6));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5 · STEP 3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It is 1, so…</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pressed = false</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button = 1</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Piece 3 — roll on release.</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3365500"/>
            <a:ext cx="6604000" cy="254000"/>
          </a:xfrm>
          <a:prstGeom prst="rect">
            <a:avLst/>
          </a:prstGeom>
          <a:solidFill>
            <a:srgbClr val="FFFFFF"/>
          </a:solidFill>
          <a:ln/>
        </p:spPr>
      </p:sp>
      <p:sp>
        <p:nvSpPr>
          <p:cNvPr id="7" name="Shape 5"/>
          <p:cNvSpPr/>
          <p:nvPr/>
        </p:nvSpPr>
        <p:spPr>
          <a:xfrm>
            <a:off x="685800" y="3365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bool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button = incipe.getButtonResponse();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if (button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pressed = true;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 else if (button == 0 &amp;&amp; pressed)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showDice(rollDice(6));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6 · STEP 4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…remember that it is held. Nothing is rolled yet.</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pressed = </a:t>
            </a:r>
            <a:r>
              <a:rPr lang="en-US" sz="1300" dirty="0">
                <a:solidFill>
                  <a:srgbClr val="76706C"/>
                </a:solidFill>
                <a:latin typeface="Courier New" pitchFamily="49" charset="0"/>
                <a:ea typeface="Courier New" pitchFamily="49" charset="-122"/>
                <a:cs typeface="Courier New" pitchFamily="49" charset="-120"/>
              </a:rPr>
              <a:t>false →</a:t>
            </a:r>
            <a:r>
              <a:rPr lang="en-US" sz="1300" dirty="0">
                <a:solidFill>
                  <a:srgbClr val="1D1D1E"/>
                </a:solidFill>
                <a:latin typeface="Courier New" pitchFamily="49" charset="0"/>
                <a:ea typeface="Courier New" pitchFamily="49" charset="-122"/>
                <a:cs typeface="Courier New" pitchFamily="49" charset="-120"/>
              </a:rPr>
              <a:t> </a:t>
            </a:r>
            <a:r>
              <a:rPr lang="en-US" sz="1300" dirty="0">
                <a:solidFill>
                  <a:srgbClr val="8F5C33"/>
                </a:solidFill>
                <a:latin typeface="Courier New" pitchFamily="49" charset="0"/>
                <a:ea typeface="Courier New" pitchFamily="49" charset="-122"/>
                <a:cs typeface="Courier New" pitchFamily="49" charset="-120"/>
              </a:rPr>
              <a:t>true</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button = 1</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Piece 3 — roll on release.</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2857500"/>
            <a:ext cx="6604000" cy="254000"/>
          </a:xfrm>
          <a:prstGeom prst="rect">
            <a:avLst/>
          </a:prstGeom>
          <a:solidFill>
            <a:srgbClr val="FFFFFF"/>
          </a:solidFill>
          <a:ln/>
        </p:spPr>
      </p:sp>
      <p:sp>
        <p:nvSpPr>
          <p:cNvPr id="7" name="Shape 5"/>
          <p:cNvSpPr/>
          <p:nvPr/>
        </p:nvSpPr>
        <p:spPr>
          <a:xfrm>
            <a:off x="685800" y="2857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bool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button = incipe.getButtonResponse();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if (button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pressed = true;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 else if (button == 0 &amp;&amp; pressed)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showDice(rollDice(6));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4 · STEP 5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loop() runs again. Now the button has been let go.</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pressed = </a:t>
            </a:r>
            <a:r>
              <a:rPr lang="en-US" sz="1300" dirty="0">
                <a:solidFill>
                  <a:srgbClr val="76706C"/>
                </a:solidFill>
                <a:latin typeface="Courier New" pitchFamily="49" charset="0"/>
                <a:ea typeface="Courier New" pitchFamily="49" charset="-122"/>
                <a:cs typeface="Courier New" pitchFamily="49" charset="-120"/>
              </a:rPr>
              <a:t>false →</a:t>
            </a:r>
            <a:r>
              <a:rPr lang="en-US" sz="1300" dirty="0">
                <a:solidFill>
                  <a:srgbClr val="1D1D1E"/>
                </a:solidFill>
                <a:latin typeface="Courier New" pitchFamily="49" charset="0"/>
                <a:ea typeface="Courier New" pitchFamily="49" charset="-122"/>
                <a:cs typeface="Courier New" pitchFamily="49" charset="-120"/>
              </a:rPr>
              <a:t> true</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button = </a:t>
            </a:r>
            <a:r>
              <a:rPr lang="en-US" sz="1300" dirty="0">
                <a:solidFill>
                  <a:srgbClr val="76706C"/>
                </a:solidFill>
                <a:latin typeface="Courier New" pitchFamily="49" charset="0"/>
                <a:ea typeface="Courier New" pitchFamily="49" charset="-122"/>
                <a:cs typeface="Courier New" pitchFamily="49" charset="-120"/>
              </a:rPr>
              <a:t>1 →</a:t>
            </a:r>
            <a:r>
              <a:rPr lang="en-US" sz="1300" dirty="0">
                <a:solidFill>
                  <a:srgbClr val="1D1D1E"/>
                </a:solidFill>
                <a:latin typeface="Courier New" pitchFamily="49" charset="0"/>
                <a:ea typeface="Courier New" pitchFamily="49" charset="-122"/>
                <a:cs typeface="Courier New" pitchFamily="49" charset="-120"/>
              </a:rPr>
              <a:t> </a:t>
            </a:r>
            <a:r>
              <a:rPr lang="en-US" sz="1300" dirty="0">
                <a:solidFill>
                  <a:srgbClr val="8F5C33"/>
                </a:solidFill>
                <a:latin typeface="Courier New" pitchFamily="49" charset="0"/>
                <a:ea typeface="Courier New" pitchFamily="49" charset="-122"/>
                <a:cs typeface="Courier New" pitchFamily="49" charset="-120"/>
              </a:rPr>
              <a:t>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Piece 3 — roll on release.</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3619500"/>
            <a:ext cx="6604000" cy="254000"/>
          </a:xfrm>
          <a:prstGeom prst="rect">
            <a:avLst/>
          </a:prstGeom>
          <a:solidFill>
            <a:srgbClr val="FFFFFF"/>
          </a:solidFill>
          <a:ln/>
        </p:spPr>
      </p:sp>
      <p:sp>
        <p:nvSpPr>
          <p:cNvPr id="7" name="Shape 5"/>
          <p:cNvSpPr/>
          <p:nvPr/>
        </p:nvSpPr>
        <p:spPr>
          <a:xfrm>
            <a:off x="685800" y="3619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bool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button = incipe.getButtonResponse();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if (button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pressed = true;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 else if (button == 0 &amp;&amp; pressed)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showDice(rollDice(6));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7 · STEP 6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It is 0 and it was held — so this is a release.</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pressed = </a:t>
            </a:r>
            <a:r>
              <a:rPr lang="en-US" sz="1300" dirty="0">
                <a:solidFill>
                  <a:srgbClr val="76706C"/>
                </a:solidFill>
                <a:latin typeface="Courier New" pitchFamily="49" charset="0"/>
                <a:ea typeface="Courier New" pitchFamily="49" charset="-122"/>
                <a:cs typeface="Courier New" pitchFamily="49" charset="-120"/>
              </a:rPr>
              <a:t>false →</a:t>
            </a:r>
            <a:r>
              <a:rPr lang="en-US" sz="1300" dirty="0">
                <a:solidFill>
                  <a:srgbClr val="1D1D1E"/>
                </a:solidFill>
                <a:latin typeface="Courier New" pitchFamily="49" charset="0"/>
                <a:ea typeface="Courier New" pitchFamily="49" charset="-122"/>
                <a:cs typeface="Courier New" pitchFamily="49" charset="-120"/>
              </a:rPr>
              <a:t> true</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button = </a:t>
            </a:r>
            <a:r>
              <a:rPr lang="en-US" sz="1300" dirty="0">
                <a:solidFill>
                  <a:srgbClr val="76706C"/>
                </a:solidFill>
                <a:latin typeface="Courier New" pitchFamily="49" charset="0"/>
                <a:ea typeface="Courier New" pitchFamily="49" charset="-122"/>
                <a:cs typeface="Courier New" pitchFamily="49" charset="-120"/>
              </a:rPr>
              <a:t>1 →</a:t>
            </a:r>
            <a:r>
              <a:rPr lang="en-US" sz="1300" dirty="0">
                <a:solidFill>
                  <a:srgbClr val="1D1D1E"/>
                </a:solidFill>
                <a:latin typeface="Courier New" pitchFamily="49" charset="0"/>
                <a:ea typeface="Courier New" pitchFamily="49" charset="-122"/>
                <a:cs typeface="Courier New" pitchFamily="49" charset="-120"/>
              </a:rPr>
              <a:t> 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Piece 3 — roll on release.</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3873500"/>
            <a:ext cx="6604000" cy="254000"/>
          </a:xfrm>
          <a:prstGeom prst="rect">
            <a:avLst/>
          </a:prstGeom>
          <a:solidFill>
            <a:srgbClr val="FFFFFF"/>
          </a:solidFill>
          <a:ln/>
        </p:spPr>
      </p:sp>
      <p:sp>
        <p:nvSpPr>
          <p:cNvPr id="7" name="Shape 5"/>
          <p:cNvSpPr/>
          <p:nvPr/>
        </p:nvSpPr>
        <p:spPr>
          <a:xfrm>
            <a:off x="685800" y="3873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bool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button = incipe.getButtonResponse();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if (button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pressed = true;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 else if (button == 0 &amp;&amp; pressed)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showDice(rollDice(6));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8 · STEP 7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Forget the press, so one press makes one roll.</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pressed = </a:t>
            </a:r>
            <a:r>
              <a:rPr lang="en-US" sz="1300" dirty="0">
                <a:solidFill>
                  <a:srgbClr val="76706C"/>
                </a:solidFill>
                <a:latin typeface="Courier New" pitchFamily="49" charset="0"/>
                <a:ea typeface="Courier New" pitchFamily="49" charset="-122"/>
                <a:cs typeface="Courier New" pitchFamily="49" charset="-120"/>
              </a:rPr>
              <a:t>false → true →</a:t>
            </a:r>
            <a:r>
              <a:rPr lang="en-US" sz="1300" dirty="0">
                <a:solidFill>
                  <a:srgbClr val="1D1D1E"/>
                </a:solidFill>
                <a:latin typeface="Courier New" pitchFamily="49" charset="0"/>
                <a:ea typeface="Courier New" pitchFamily="49" charset="-122"/>
                <a:cs typeface="Courier New" pitchFamily="49" charset="-120"/>
              </a:rPr>
              <a:t> </a:t>
            </a:r>
            <a:r>
              <a:rPr lang="en-US" sz="1300" dirty="0">
                <a:solidFill>
                  <a:srgbClr val="8F5C33"/>
                </a:solidFill>
                <a:latin typeface="Courier New" pitchFamily="49" charset="0"/>
                <a:ea typeface="Courier New" pitchFamily="49" charset="-122"/>
                <a:cs typeface="Courier New" pitchFamily="49" charset="-120"/>
              </a:rPr>
              <a:t>false</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button = </a:t>
            </a:r>
            <a:r>
              <a:rPr lang="en-US" sz="1300" dirty="0">
                <a:solidFill>
                  <a:srgbClr val="76706C"/>
                </a:solidFill>
                <a:latin typeface="Courier New" pitchFamily="49" charset="0"/>
                <a:ea typeface="Courier New" pitchFamily="49" charset="-122"/>
                <a:cs typeface="Courier New" pitchFamily="49" charset="-120"/>
              </a:rPr>
              <a:t>1 →</a:t>
            </a:r>
            <a:r>
              <a:rPr lang="en-US" sz="1300" dirty="0">
                <a:solidFill>
                  <a:srgbClr val="1D1D1E"/>
                </a:solidFill>
                <a:latin typeface="Courier New" pitchFamily="49" charset="0"/>
                <a:ea typeface="Courier New" pitchFamily="49" charset="-122"/>
                <a:cs typeface="Courier New" pitchFamily="49" charset="-120"/>
              </a:rPr>
              <a:t> 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Piece 3 — roll on release.</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4127500"/>
            <a:ext cx="6604000" cy="254000"/>
          </a:xfrm>
          <a:prstGeom prst="rect">
            <a:avLst/>
          </a:prstGeom>
          <a:solidFill>
            <a:srgbClr val="FFFFFF"/>
          </a:solidFill>
          <a:ln/>
        </p:spPr>
      </p:sp>
      <p:sp>
        <p:nvSpPr>
          <p:cNvPr id="7" name="Shape 5"/>
          <p:cNvSpPr/>
          <p:nvPr/>
        </p:nvSpPr>
        <p:spPr>
          <a:xfrm>
            <a:off x="685800" y="4127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bool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button = incipe.getButtonResponse();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if (button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pressed = true;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 else if (button == 0 &amp;&amp; pressed)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showDice(rollDice(6));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9 · STEP 8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Roll a 6-sided dice and show it. Say it rolled 4.</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pressed = </a:t>
            </a:r>
            <a:r>
              <a:rPr lang="en-US" sz="1300" dirty="0">
                <a:solidFill>
                  <a:srgbClr val="76706C"/>
                </a:solidFill>
                <a:latin typeface="Courier New" pitchFamily="49" charset="0"/>
                <a:ea typeface="Courier New" pitchFamily="49" charset="-122"/>
                <a:cs typeface="Courier New" pitchFamily="49" charset="-120"/>
              </a:rPr>
              <a:t>false → true →</a:t>
            </a:r>
            <a:r>
              <a:rPr lang="en-US" sz="1300" dirty="0">
                <a:solidFill>
                  <a:srgbClr val="1D1D1E"/>
                </a:solidFill>
                <a:latin typeface="Courier New" pitchFamily="49" charset="0"/>
                <a:ea typeface="Courier New" pitchFamily="49" charset="-122"/>
                <a:cs typeface="Courier New" pitchFamily="49" charset="-120"/>
              </a:rPr>
              <a:t> false</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button = </a:t>
            </a:r>
            <a:r>
              <a:rPr lang="en-US" sz="1300" dirty="0">
                <a:solidFill>
                  <a:srgbClr val="76706C"/>
                </a:solidFill>
                <a:latin typeface="Courier New" pitchFamily="49" charset="0"/>
                <a:ea typeface="Courier New" pitchFamily="49" charset="-122"/>
                <a:cs typeface="Courier New" pitchFamily="49" charset="-120"/>
              </a:rPr>
              <a:t>1 →</a:t>
            </a:r>
            <a:r>
              <a:rPr lang="en-US" sz="1300" dirty="0">
                <a:solidFill>
                  <a:srgbClr val="1D1D1E"/>
                </a:solidFill>
                <a:latin typeface="Courier New" pitchFamily="49" charset="0"/>
                <a:ea typeface="Courier New" pitchFamily="49" charset="-122"/>
                <a:cs typeface="Courier New" pitchFamily="49" charset="-120"/>
              </a:rPr>
              <a:t> 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four</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Piece 3 — roll on release.</a:t>
            </a:r>
            <a:endParaRPr lang="en-US" sz="2800" dirty="0"/>
          </a:p>
        </p:txBody>
      </p:sp>
      <p:sp>
        <p:nvSpPr>
          <p:cNvPr id="5" name="Shape 3"/>
          <p:cNvSpPr/>
          <p:nvPr/>
        </p:nvSpPr>
        <p:spPr>
          <a:xfrm>
            <a:off x="685800" y="1905000"/>
            <a:ext cx="6604000" cy="3175000"/>
          </a:xfrm>
          <a:prstGeom prst="rect">
            <a:avLst/>
          </a:prstGeom>
          <a:solidFill>
            <a:srgbClr val="E1E1E1"/>
          </a:solidFill>
          <a:ln/>
        </p:spPr>
      </p:sp>
      <p:sp>
        <p:nvSpPr>
          <p:cNvPr id="6" name="Shape 4"/>
          <p:cNvSpPr/>
          <p:nvPr/>
        </p:nvSpPr>
        <p:spPr>
          <a:xfrm>
            <a:off x="685800" y="2857500"/>
            <a:ext cx="6604000" cy="254000"/>
          </a:xfrm>
          <a:prstGeom prst="rect">
            <a:avLst/>
          </a:prstGeom>
          <a:solidFill>
            <a:srgbClr val="FFFFFF"/>
          </a:solidFill>
          <a:ln/>
        </p:spPr>
      </p:sp>
      <p:sp>
        <p:nvSpPr>
          <p:cNvPr id="7" name="Shape 5"/>
          <p:cNvSpPr/>
          <p:nvPr/>
        </p:nvSpPr>
        <p:spPr>
          <a:xfrm>
            <a:off x="685800" y="2857500"/>
            <a:ext cx="31750" cy="254000"/>
          </a:xfrm>
          <a:prstGeom prst="rect">
            <a:avLst/>
          </a:prstGeom>
          <a:solidFill>
            <a:srgbClr val="B57946"/>
          </a:solidFill>
          <a:ln/>
        </p:spPr>
      </p:sp>
      <p:sp>
        <p:nvSpPr>
          <p:cNvPr id="8" name="Text 6"/>
          <p:cNvSpPr/>
          <p:nvPr/>
        </p:nvSpPr>
        <p:spPr>
          <a:xfrm>
            <a:off x="889000" y="2095500"/>
            <a:ext cx="6475095" cy="2824857"/>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bool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button = incipe.getButtonResponse();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if (button == 1)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pressed = true;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 else if (button == 0 &amp;&amp; pressed)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pressed = false;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showDice(rollDice(6));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4 · STEP 9 OF 9</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Next pass: still 0, but pressed is false, so nothing happens until the next press.</a:t>
            </a:r>
            <a:endParaRPr lang="en-US" sz="1400" dirty="0"/>
          </a:p>
        </p:txBody>
      </p:sp>
      <p:sp>
        <p:nvSpPr>
          <p:cNvPr id="11" name="Text 9"/>
          <p:cNvSpPr/>
          <p:nvPr/>
        </p:nvSpPr>
        <p:spPr>
          <a:xfrm>
            <a:off x="7670800" y="3429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7670800" y="3683000"/>
            <a:ext cx="426440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pressed = </a:t>
            </a:r>
            <a:r>
              <a:rPr lang="en-US" sz="1300" dirty="0">
                <a:solidFill>
                  <a:srgbClr val="76706C"/>
                </a:solidFill>
                <a:latin typeface="Courier New" pitchFamily="49" charset="0"/>
                <a:ea typeface="Courier New" pitchFamily="49" charset="-122"/>
                <a:cs typeface="Courier New" pitchFamily="49" charset="-120"/>
              </a:rPr>
              <a:t>false → true →</a:t>
            </a:r>
            <a:r>
              <a:rPr lang="en-US" sz="1300" dirty="0">
                <a:solidFill>
                  <a:srgbClr val="1D1D1E"/>
                </a:solidFill>
                <a:latin typeface="Courier New" pitchFamily="49" charset="0"/>
                <a:ea typeface="Courier New" pitchFamily="49" charset="-122"/>
                <a:cs typeface="Courier New" pitchFamily="49" charset="-120"/>
              </a:rPr>
              <a:t> false</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button = </a:t>
            </a:r>
            <a:r>
              <a:rPr lang="en-US" sz="1300" dirty="0">
                <a:solidFill>
                  <a:srgbClr val="76706C"/>
                </a:solidFill>
                <a:latin typeface="Courier New" pitchFamily="49" charset="0"/>
                <a:ea typeface="Courier New" pitchFamily="49" charset="-122"/>
                <a:cs typeface="Courier New" pitchFamily="49" charset="-120"/>
              </a:rPr>
              <a:t>1 →</a:t>
            </a:r>
            <a:r>
              <a:rPr lang="en-US" sz="1300" dirty="0">
                <a:solidFill>
                  <a:srgbClr val="1D1D1E"/>
                </a:solidFill>
                <a:latin typeface="Courier New" pitchFamily="49" charset="0"/>
                <a:ea typeface="Courier New" pitchFamily="49" charset="-122"/>
                <a:cs typeface="Courier New" pitchFamily="49" charset="-120"/>
              </a:rPr>
              <a:t> 0</a:t>
            </a:r>
            <a:endParaRPr lang="en-US" sz="1300" dirty="0"/>
          </a:p>
        </p:txBody>
      </p:sp>
      <p:sp>
        <p:nvSpPr>
          <p:cNvPr id="13" name="Text 11"/>
          <p:cNvSpPr/>
          <p:nvPr/>
        </p:nvSpPr>
        <p:spPr>
          <a:xfrm>
            <a:off x="7670800" y="43815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7670800" y="4635500"/>
            <a:ext cx="4140200" cy="698500"/>
          </a:xfrm>
          <a:prstGeom prst="rect">
            <a:avLst/>
          </a:prstGeom>
          <a:solidFill>
            <a:srgbClr val="FFFFFF"/>
          </a:solidFill>
          <a:ln/>
        </p:spPr>
      </p:sp>
      <p:sp>
        <p:nvSpPr>
          <p:cNvPr id="15" name="Text 13"/>
          <p:cNvSpPr/>
          <p:nvPr/>
        </p:nvSpPr>
        <p:spPr>
          <a:xfrm>
            <a:off x="7823200" y="4762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four</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Try It</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Put the three pieces in one sketch.</a:t>
            </a:r>
            <a:endParaRPr lang="en-US" sz="2800" dirty="0"/>
          </a:p>
        </p:txBody>
      </p:sp>
      <p:sp>
        <p:nvSpPr>
          <p:cNvPr id="5" name="Text 3"/>
          <p:cNvSpPr/>
          <p:nvPr/>
        </p:nvSpPr>
        <p:spPr>
          <a:xfrm>
            <a:off x="727869" y="1841500"/>
            <a:ext cx="10415111" cy="1454150"/>
          </a:xfrm>
          <a:prstGeom prst="rect">
            <a:avLst/>
          </a:prstGeom>
          <a:noFill/>
          <a:ln/>
        </p:spPr>
        <p:txBody>
          <a:bodyPr wrap="square" lIns="0" tIns="0" rIns="0" bIns="0" rtlCol="0" anchor="t">
            <a:normAutofit/>
          </a:bodyPr>
          <a:lstStyle/>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Write rollDice(sides) and showDice(value) at the top.</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Add setup() with Serial.begin(9600);</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Add bool pressed = false; and the loop() from the walkthrough.</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Verify, then Upload. Open the Serial monitor at 9600.</a:t>
            </a:r>
            <a:endParaRPr lang="en-US" sz="1500" dirty="0"/>
          </a:p>
          <a:p>
            <a:pPr algn="l" marL="211931" indent="-211931">
              <a:lnSpc>
                <a:spcPts val="2250"/>
              </a:lnSpc>
              <a:buSzPct val="100000"/>
              <a:buFontTx/>
              <a:buAutoNum type="arabicPeriod" startAt="1"/>
            </a:pPr>
            <a:r>
              <a:rPr lang="en-US" sz="1500" dirty="0">
                <a:solidFill>
                  <a:srgbClr val="1D1D1E"/>
                </a:solidFill>
                <a:latin typeface="Helvetica Neue" pitchFamily="34" charset="0"/>
                <a:ea typeface="Helvetica Neue" pitchFamily="34" charset="-122"/>
                <a:cs typeface="Helvetica Neue" pitchFamily="34" charset="-120"/>
              </a:rPr>
              <a:t>Press and release the button: one press, one roll. Unplug it: nothing rolls.</a:t>
            </a:r>
            <a:endParaRPr lang="en-US" sz="1500" dirty="0"/>
          </a:p>
        </p:txBody>
      </p:sp>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AI Integration</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Ask the AI to debounce the button.</a:t>
            </a:r>
            <a:endParaRPr lang="en-US" sz="2800" dirty="0"/>
          </a:p>
        </p:txBody>
      </p:sp>
      <p:sp>
        <p:nvSpPr>
          <p:cNvPr id="5" name="Text 3"/>
          <p:cNvSpPr/>
          <p:nvPr/>
        </p:nvSpPr>
        <p:spPr>
          <a:xfrm>
            <a:off x="685800" y="18415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Real buttons flicker 1-0-1-0 for a few milliseconds before they settle. That is bounce, and it can turn one press into several rolls.</a:t>
            </a:r>
            <a:endParaRPr lang="en-US" sz="1400" dirty="0"/>
          </a:p>
        </p:txBody>
      </p:sp>
      <p:sp>
        <p:nvSpPr>
          <p:cNvPr id="6" name="Text 4"/>
          <p:cNvSpPr/>
          <p:nvPr/>
        </p:nvSpPr>
        <p:spPr>
          <a:xfrm>
            <a:off x="685800" y="2730500"/>
            <a:ext cx="10820400" cy="942975"/>
          </a:xfrm>
          <a:prstGeom prst="rect">
            <a:avLst/>
          </a:prstGeom>
          <a:solidFill>
            <a:srgbClr val="E1E1E1"/>
          </a:solidFill>
          <a:ln/>
        </p:spPr>
        <p:txBody>
          <a:bodyPr wrap="square" lIns="254000" tIns="203200" rIns="0" bIns="177800" rtlCol="0" anchor="t">
            <a:normAutofit/>
          </a:bodyPr>
          <a:lstStyle/>
          <a:p>
            <a:pPr algn="l" indent="0" marL="0">
              <a:lnSpc>
                <a:spcPts val="2100"/>
              </a:lnSpc>
              <a:buNone/>
            </a:pPr>
            <a:r>
              <a:rPr lang="en-US" sz="1400" b="1" dirty="0">
                <a:solidFill>
                  <a:srgbClr val="000000"/>
                </a:solidFill>
                <a:latin typeface="Helvetica Neue" pitchFamily="34" charset="0"/>
                <a:ea typeface="Helvetica Neue" pitchFamily="34" charset="-122"/>
                <a:cs typeface="Helvetica Neue" pitchFamily="34" charset="-120"/>
              </a:rPr>
              <a:t>Prompt:</a:t>
            </a:r>
            <a:r>
              <a:rPr lang="en-US" sz="1400" dirty="0">
                <a:solidFill>
                  <a:srgbClr val="000000"/>
                </a:solidFill>
                <a:latin typeface="Helvetica Neue" pitchFamily="34" charset="0"/>
                <a:ea typeface="Helvetica Neue" pitchFamily="34" charset="-122"/>
                <a:cs typeface="Helvetica Neue" pitchFamily="34" charset="-120"/>
              </a:rPr>
              <a:t> My Digital Dice reads incipe.getButtonResponse() in loop() and rolls when the button is released. Suggest a way to debounce the button. Keep my release logic, explain each line for a beginner, and say what happens if the button returns -1.</a:t>
            </a:r>
            <a:endParaRPr lang="en-US" sz="14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A Typical Answer</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Trust a reading once it has been steady for 50 ms.</a:t>
            </a:r>
            <a:endParaRPr lang="en-US" sz="2800" dirty="0"/>
          </a:p>
        </p:txBody>
      </p:sp>
      <p:sp>
        <p:nvSpPr>
          <p:cNvPr id="5" name="Shape 3"/>
          <p:cNvSpPr/>
          <p:nvPr/>
        </p:nvSpPr>
        <p:spPr>
          <a:xfrm>
            <a:off x="685800" y="1905000"/>
            <a:ext cx="6096000" cy="3810000"/>
          </a:xfrm>
          <a:prstGeom prst="rect">
            <a:avLst/>
          </a:prstGeom>
          <a:solidFill>
            <a:srgbClr val="E1E1E1"/>
          </a:solidFill>
          <a:ln/>
        </p:spPr>
      </p:sp>
      <p:sp>
        <p:nvSpPr>
          <p:cNvPr id="6" name="Text 4"/>
          <p:cNvSpPr/>
          <p:nvPr/>
        </p:nvSpPr>
        <p:spPr>
          <a:xfrm>
            <a:off x="889000" y="2063750"/>
            <a:ext cx="5951855" cy="3395960"/>
          </a:xfrm>
          <a:prstGeom prst="rect">
            <a:avLst/>
          </a:prstGeom>
          <a:noFill/>
          <a:ln/>
        </p:spPr>
        <p:txBody>
          <a:bodyPr wrap="square" lIns="0" tIns="0" rIns="0" bIns="0" rtlCol="0" anchor="t">
            <a:normAutofit/>
          </a:bodyPr>
          <a:lstStyle/>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const unsigned long DEBOUNCE_MS = 50;</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unsigned long changedAt = 0;</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lastReading = 0;</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 4</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float reading = incipe.getButtonResponse();</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if (reading != lastReading) {</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changedAt = millis();</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lastReading = reading;</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if (millis() - changedAt &gt; DEBOUNCE_MS) {</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 steady for 50 ms: trust it here</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1896"/>
              </a:lnSpc>
              <a:buNone/>
            </a:pPr>
            <a:r>
              <a:rPr lang="en-US" sz="1200" dirty="0">
                <a:solidFill>
                  <a:srgbClr val="76706C"/>
                </a:solidFill>
                <a:latin typeface="Courier New" pitchFamily="49" charset="0"/>
                <a:ea typeface="Courier New" pitchFamily="49" charset="-122"/>
                <a:cs typeface="Courier New" pitchFamily="49" charset="-120"/>
              </a:rPr>
              <a:t>14</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048500" y="1917700"/>
          <a:ext cx="4457700" cy="2090043"/>
        </p:xfrm>
        <a:graphic>
          <a:graphicData uri="http://schemas.openxmlformats.org/drawingml/2006/table">
            <a:tbl>
              <a:tblPr/>
              <a:tblGrid>
                <a:gridCol w="802386"/>
                <a:gridCol w="3655314"/>
              </a:tblGrid>
              <a:tr h="332680">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Line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What it does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reading must stay the same for 50 ms.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46001">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2</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When it last changed. millis() counts ms since the board started; it needs an unsigned long.</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7–10</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If it changed, note the time and the new reading.</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46001">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11–13</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Only after 50 ms steady, act on it — put the release logic here.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8"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9"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0"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1</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What do showDice(3) and showDice(7) print?</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173221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switch (value)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case 1: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case 3: Serial.println("three"); break;</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case 6: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default: Serial.println("not a dice number");</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72390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B57946"/>
                </a:solidFill>
                <a:latin typeface="Courier New" pitchFamily="49" charset="0"/>
                <a:ea typeface="Courier New" pitchFamily="49" charset="-122"/>
                <a:cs typeface="Courier New" pitchFamily="49" charset="-120"/>
              </a:rPr>
              <a:t>three</a:t>
            </a:r>
            <a:endParaRPr lang="en-US" sz="2200" dirty="0"/>
          </a:p>
          <a:p>
            <a:pPr algn="l" indent="0" marL="0">
              <a:lnSpc>
                <a:spcPts val="2750"/>
              </a:lnSpc>
              <a:buNone/>
            </a:pPr>
            <a:r>
              <a:rPr lang="en-US" sz="2200" b="1" dirty="0">
                <a:solidFill>
                  <a:srgbClr val="B57946"/>
                </a:solidFill>
                <a:latin typeface="Courier New" pitchFamily="49" charset="0"/>
                <a:ea typeface="Courier New" pitchFamily="49" charset="-122"/>
                <a:cs typeface="Courier New" pitchFamily="49" charset="-120"/>
              </a:rPr>
              <a:t>not a dice number</a:t>
            </a:r>
            <a:endParaRPr lang="en-US" sz="2200" dirty="0"/>
          </a:p>
        </p:txBody>
      </p:sp>
      <p:sp>
        <p:nvSpPr>
          <p:cNvPr id="11" name="Text 9"/>
          <p:cNvSpPr/>
          <p:nvPr/>
        </p:nvSpPr>
        <p:spPr>
          <a:xfrm>
            <a:off x="6527800" y="312162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487341"/>
            <a:ext cx="51277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3 matches case 3. 7 matches no case, so default runs.</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2</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case 2 has no break. What does a value of 2 print?</a:t>
            </a:r>
            <a:endParaRPr lang="en-US" sz="2800" dirty="0"/>
          </a:p>
        </p:txBody>
      </p:sp>
      <p:sp>
        <p:nvSpPr>
          <p:cNvPr id="5" name="Shape 3"/>
          <p:cNvSpPr/>
          <p:nvPr/>
        </p:nvSpPr>
        <p:spPr>
          <a:xfrm>
            <a:off x="685800" y="2159000"/>
            <a:ext cx="5334000" cy="3302000"/>
          </a:xfrm>
          <a:prstGeom prst="rect">
            <a:avLst/>
          </a:prstGeom>
          <a:solidFill>
            <a:srgbClr val="E1E1E1"/>
          </a:solidFill>
          <a:ln/>
        </p:spPr>
      </p:sp>
      <p:sp>
        <p:nvSpPr>
          <p:cNvPr id="6" name="Text 4"/>
          <p:cNvSpPr/>
          <p:nvPr/>
        </p:nvSpPr>
        <p:spPr>
          <a:xfrm>
            <a:off x="939800" y="2413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778720"/>
            <a:ext cx="4970780" cy="14883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switch (value)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case 1: Serial.println("one"); break;</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case 2: Serial.println("two");</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case 3: Serial.println("three"); break;</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default: Serial.println("?");</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a:t>
            </a:r>
            <a:endParaRPr lang="en-US" sz="1200" dirty="0"/>
          </a:p>
        </p:txBody>
      </p:sp>
      <p:sp>
        <p:nvSpPr>
          <p:cNvPr id="8" name="Shape 6"/>
          <p:cNvSpPr/>
          <p:nvPr/>
        </p:nvSpPr>
        <p:spPr>
          <a:xfrm>
            <a:off x="6273800" y="2159000"/>
            <a:ext cx="6350" cy="3302000"/>
          </a:xfrm>
          <a:prstGeom prst="rect">
            <a:avLst/>
          </a:prstGeom>
          <a:solidFill>
            <a:srgbClr val="D4D4D4"/>
          </a:solidFill>
          <a:ln/>
        </p:spPr>
      </p:sp>
      <p:sp>
        <p:nvSpPr>
          <p:cNvPr id="9" name="Text 7"/>
          <p:cNvSpPr/>
          <p:nvPr/>
        </p:nvSpPr>
        <p:spPr>
          <a:xfrm>
            <a:off x="6527800" y="2159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524720"/>
            <a:ext cx="5127752" cy="72390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B57946"/>
                </a:solidFill>
                <a:latin typeface="Courier New" pitchFamily="49" charset="0"/>
                <a:ea typeface="Courier New" pitchFamily="49" charset="-122"/>
                <a:cs typeface="Courier New" pitchFamily="49" charset="-120"/>
              </a:rPr>
              <a:t>two</a:t>
            </a:r>
            <a:endParaRPr lang="en-US" sz="2200" dirty="0"/>
          </a:p>
          <a:p>
            <a:pPr algn="l" indent="0" marL="0">
              <a:lnSpc>
                <a:spcPts val="2750"/>
              </a:lnSpc>
              <a:buNone/>
            </a:pPr>
            <a:r>
              <a:rPr lang="en-US" sz="2200" b="1" dirty="0">
                <a:solidFill>
                  <a:srgbClr val="B57946"/>
                </a:solidFill>
                <a:latin typeface="Courier New" pitchFamily="49" charset="0"/>
                <a:ea typeface="Courier New" pitchFamily="49" charset="-122"/>
                <a:cs typeface="Courier New" pitchFamily="49" charset="-120"/>
              </a:rPr>
              <a:t>three</a:t>
            </a:r>
            <a:endParaRPr lang="en-US" sz="2200" dirty="0"/>
          </a:p>
        </p:txBody>
      </p:sp>
      <p:sp>
        <p:nvSpPr>
          <p:cNvPr id="11" name="Text 9"/>
          <p:cNvSpPr/>
          <p:nvPr/>
        </p:nvSpPr>
        <p:spPr>
          <a:xfrm>
            <a:off x="6527800" y="337562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741341"/>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Without a break, case 2 falls through into case 3 and stops at its break.</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3</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What does this while loop print?</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124455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int count = 3;</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while (count &gt; 0)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Serial.println(count);</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count = count - 1;</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10731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B57946"/>
                </a:solidFill>
                <a:latin typeface="Courier New" pitchFamily="49" charset="0"/>
                <a:ea typeface="Courier New" pitchFamily="49" charset="-122"/>
                <a:cs typeface="Courier New" pitchFamily="49" charset="-120"/>
              </a:rPr>
              <a:t>3</a:t>
            </a:r>
            <a:endParaRPr lang="en-US" sz="2200" dirty="0"/>
          </a:p>
          <a:p>
            <a:pPr algn="l" indent="0" marL="0">
              <a:lnSpc>
                <a:spcPts val="2750"/>
              </a:lnSpc>
              <a:buNone/>
            </a:pPr>
            <a:r>
              <a:rPr lang="en-US" sz="2200" b="1" dirty="0">
                <a:solidFill>
                  <a:srgbClr val="B57946"/>
                </a:solidFill>
                <a:latin typeface="Courier New" pitchFamily="49" charset="0"/>
                <a:ea typeface="Courier New" pitchFamily="49" charset="-122"/>
                <a:cs typeface="Courier New" pitchFamily="49" charset="-120"/>
              </a:rPr>
              <a:t>2</a:t>
            </a:r>
            <a:endParaRPr lang="en-US" sz="2200" dirty="0"/>
          </a:p>
          <a:p>
            <a:pPr algn="l" indent="0" marL="0">
              <a:lnSpc>
                <a:spcPts val="2750"/>
              </a:lnSpc>
              <a:buNone/>
            </a:pPr>
            <a:r>
              <a:rPr lang="en-US" sz="2200" b="1" dirty="0">
                <a:solidFill>
                  <a:srgbClr val="B57946"/>
                </a:solidFill>
                <a:latin typeface="Courier New" pitchFamily="49" charset="0"/>
                <a:ea typeface="Courier New" pitchFamily="49" charset="-122"/>
                <a:cs typeface="Courier New" pitchFamily="49" charset="-120"/>
              </a:rPr>
              <a:t>1</a:t>
            </a:r>
            <a:endParaRPr lang="en-US" sz="2200" dirty="0"/>
          </a:p>
        </p:txBody>
      </p:sp>
      <p:sp>
        <p:nvSpPr>
          <p:cNvPr id="11" name="Text 9"/>
          <p:cNvSpPr/>
          <p:nvPr/>
        </p:nvSpPr>
        <p:spPr>
          <a:xfrm>
            <a:off x="6527800" y="347087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836591"/>
            <a:ext cx="51277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When count reaches 0, 0 &gt; 0 is false and the loop stops.</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4</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What does this do-while loop print?</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124455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int n = 10;</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do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Serial.println(n);</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n = n + 1;</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while (n &lt; 5);</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Courier New" pitchFamily="49" charset="0"/>
                <a:ea typeface="Courier New" pitchFamily="49" charset="-122"/>
                <a:cs typeface="Courier New" pitchFamily="49" charset="-120"/>
              </a:rPr>
              <a:t>10</a:t>
            </a:r>
            <a:endParaRPr lang="en-US" sz="3200" dirty="0"/>
          </a:p>
        </p:txBody>
      </p:sp>
      <p:sp>
        <p:nvSpPr>
          <p:cNvPr id="11" name="Text 9"/>
          <p:cNvSpPr/>
          <p:nvPr/>
        </p:nvSpPr>
        <p:spPr>
          <a:xfrm>
            <a:off x="6527800" y="289044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256161"/>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Printed once. A do-while runs its body before it checks; then 11 &lt; 5 is false.</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5</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Which numbers can rollDice(6) return?</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int rollDice(int sides)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return random(1, sides + 1);</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B57946"/>
                </a:solidFill>
                <a:latin typeface="Helvetica Neue" pitchFamily="34" charset="0"/>
                <a:ea typeface="Helvetica Neue" pitchFamily="34" charset="-122"/>
                <a:cs typeface="Helvetica Neue" pitchFamily="34" charset="-120"/>
              </a:rPr>
              <a:t>1, 2, 3, 4, 5 or 6</a:t>
            </a:r>
            <a:endParaRPr lang="en-US" sz="2800" dirty="0"/>
          </a:p>
        </p:txBody>
      </p:sp>
      <p:sp>
        <p:nvSpPr>
          <p:cNvPr id="11" name="Text 9"/>
          <p:cNvSpPr/>
          <p:nvPr/>
        </p:nvSpPr>
        <p:spPr>
          <a:xfrm>
            <a:off x="6527800" y="283205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197771"/>
            <a:ext cx="51277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random(1, 7) includes 1 but stops before 7.</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Recap</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Three things to take away.</a:t>
            </a:r>
            <a:endParaRPr lang="en-US" sz="2800" dirty="0"/>
          </a:p>
        </p:txBody>
      </p:sp>
      <p:sp>
        <p:nvSpPr>
          <p:cNvPr id="5" name="Text 3"/>
          <p:cNvSpPr/>
          <p:nvPr/>
        </p:nvSpPr>
        <p:spPr>
          <a:xfrm>
            <a:off x="685800" y="1905000"/>
            <a:ext cx="3435909"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1</a:t>
            </a:r>
            <a:endParaRPr lang="en-US" sz="3200" dirty="0"/>
          </a:p>
        </p:txBody>
      </p:sp>
      <p:sp>
        <p:nvSpPr>
          <p:cNvPr id="6" name="Text 4"/>
          <p:cNvSpPr/>
          <p:nvPr/>
        </p:nvSpPr>
        <p:spPr>
          <a:xfrm>
            <a:off x="685800" y="2473920"/>
            <a:ext cx="343590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switch jumps to the case that equals a value. End every case with break, and add a default.</a:t>
            </a:r>
            <a:endParaRPr lang="en-US" sz="1500" dirty="0"/>
          </a:p>
        </p:txBody>
      </p:sp>
      <p:sp>
        <p:nvSpPr>
          <p:cNvPr id="7" name="Text 5"/>
          <p:cNvSpPr/>
          <p:nvPr/>
        </p:nvSpPr>
        <p:spPr>
          <a:xfrm>
            <a:off x="4428034" y="1905000"/>
            <a:ext cx="34359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2</a:t>
            </a:r>
            <a:endParaRPr lang="en-US" sz="3200" dirty="0"/>
          </a:p>
        </p:txBody>
      </p:sp>
      <p:sp>
        <p:nvSpPr>
          <p:cNvPr id="8" name="Text 6"/>
          <p:cNvSpPr/>
          <p:nvPr/>
        </p:nvSpPr>
        <p:spPr>
          <a:xfrm>
            <a:off x="4428034" y="2473920"/>
            <a:ext cx="34359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while checks first; do-while runs once, then checks; for counts.</a:t>
            </a:r>
            <a:endParaRPr lang="en-US" sz="1500" dirty="0"/>
          </a:p>
        </p:txBody>
      </p:sp>
      <p:sp>
        <p:nvSpPr>
          <p:cNvPr id="9" name="Text 7"/>
          <p:cNvSpPr/>
          <p:nvPr/>
        </p:nvSpPr>
        <p:spPr>
          <a:xfrm>
            <a:off x="8170317" y="1905000"/>
            <a:ext cx="34359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3</a:t>
            </a:r>
            <a:endParaRPr lang="en-US" sz="3200" dirty="0"/>
          </a:p>
        </p:txBody>
      </p:sp>
      <p:sp>
        <p:nvSpPr>
          <p:cNvPr id="10" name="Text 8"/>
          <p:cNvSpPr/>
          <p:nvPr/>
        </p:nvSpPr>
        <p:spPr>
          <a:xfrm>
            <a:off x="8170317" y="2473920"/>
            <a:ext cx="34359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A function has a name, parameters in and a return value out — so loop() can read showDice(rollDice(6)).</a:t>
            </a:r>
            <a:endParaRPr lang="en-US" sz="1500" dirty="0"/>
          </a:p>
        </p:txBody>
      </p:sp>
      <p:sp>
        <p:nvSpPr>
          <p:cNvPr id="11" name="Text 9"/>
          <p:cNvSpPr/>
          <p:nvPr/>
        </p:nvSpPr>
        <p:spPr>
          <a:xfrm>
            <a:off x="685800" y="4953000"/>
            <a:ext cx="10820400" cy="539105"/>
          </a:xfrm>
          <a:prstGeom prst="rect">
            <a:avLst/>
          </a:prstGeom>
          <a:solidFill>
            <a:srgbClr val="E1E1E1"/>
          </a:solidFill>
          <a:ln/>
        </p:spPr>
        <p:txBody>
          <a:bodyPr wrap="square" lIns="203200" tIns="152400" rIns="0" bIns="127000" rtlCol="0" anchor="t">
            <a:normAutofit/>
          </a:bodyPr>
          <a:lstStyle/>
          <a:p>
            <a:pPr algn="l" indent="0" marL="0">
              <a:lnSpc>
                <a:spcPts val="1820"/>
              </a:lnSpc>
              <a:buNone/>
            </a:pPr>
            <a:r>
              <a:rPr lang="en-US" sz="1300" b="1" dirty="0">
                <a:solidFill>
                  <a:srgbClr val="000000"/>
                </a:solidFill>
                <a:latin typeface="Helvetica Neue" pitchFamily="34" charset="0"/>
                <a:ea typeface="Helvetica Neue" pitchFamily="34" charset="-122"/>
                <a:cs typeface="Helvetica Neue" pitchFamily="34" charset="-120"/>
              </a:rPr>
              <a:t>Next — Session 3: Arrays, pointers &amp; bitwise operations.</a:t>
            </a:r>
            <a:r>
              <a:rPr lang="en-US" sz="1300" dirty="0">
                <a:solidFill>
                  <a:srgbClr val="000000"/>
                </a:solidFill>
                <a:latin typeface="Helvetica Neue" pitchFamily="34" charset="0"/>
                <a:ea typeface="Helvetica Neue" pitchFamily="34" charset="-122"/>
                <a:cs typeface="Helvetica Neue" pitchFamily="34" charset="-120"/>
              </a:rPr>
              <a:t> Store ten light readings, find a moving average, and look inside a byte.</a:t>
            </a:r>
            <a:endParaRPr lang="en-US" sz="1300" dirty="0"/>
          </a:p>
        </p:txBody>
      </p:sp>
      <p:pic>
        <p:nvPicPr>
          <p:cNvPr id="12"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3" name="Text 10"/>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4" name="Text 11"/>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52</a:t>
            </a:r>
            <a:endParaRPr lang="en-US" sz="1200" dirty="0"/>
          </a:p>
        </p:txBody>
      </p:sp>
    </p:spTree>
  </p:cSld>
  <p:clrMapOvr>
    <a:masterClrMapping/>
  </p:clrMapOvr>
</p:sld>
</file>

<file path=ppt/theme/theme1.xml><?xml version="1.0" encoding="utf-8"?>
<a:theme xmlns:a="http://schemas.openxmlformats.org/drawingml/2006/main" name="Session 2 · Control Structures &amp; Functions">
  <a:themeElements>
    <a:clrScheme name="Session 2 · Control Structures &amp; Functions">
      <a:dk1>
        <a:srgbClr val="1D1D1E"/>
      </a:dk1>
      <a:lt1>
        <a:srgbClr val="F5F5F5"/>
      </a:lt1>
      <a:dk2>
        <a:srgbClr val="535354"/>
      </a:dk2>
      <a:lt2>
        <a:srgbClr val="DFDFE0"/>
      </a:lt2>
      <a:accent1>
        <a:srgbClr val="B57946"/>
      </a:accent1>
      <a:accent2>
        <a:srgbClr val="8F5C33"/>
      </a:accent2>
      <a:accent3>
        <a:srgbClr val="76706C"/>
      </a:accent3>
      <a:accent4>
        <a:srgbClr val="D4D4D4"/>
      </a:accent4>
      <a:accent5>
        <a:srgbClr val="9AA0A6"/>
      </a:accent5>
      <a:accent6>
        <a:srgbClr val="737374"/>
      </a:accent6>
      <a:hlink>
        <a:srgbClr val="0563C1"/>
      </a:hlink>
      <a:folHlink>
        <a:srgbClr val="954F72"/>
      </a:folHlink>
    </a:clrScheme>
    <a:fontScheme name="Session 2 · Control Structures &amp; Functions">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 Control Structures &amp; Functions</dc:title>
  <dc:subject/>
  <dc:creator/>
  <cp:lastModifiedBy/>
  <cp:revision>1</cp:revision>
  <dcterms:created xsi:type="dcterms:W3CDTF">2026-10-09T05:11:02Z</dcterms:created>
  <dcterms:modified xsi:type="dcterms:W3CDTF">2026-10-09T05:11:02Z</dcterms:modified>
</cp:coreProperties>
</file>