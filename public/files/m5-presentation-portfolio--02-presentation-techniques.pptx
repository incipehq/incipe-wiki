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M5 Session 2: slides with diagrams and demos, body language and voice, nerves, live demos with a backup plan, and peer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5-minute script from Session 1, the project, and a phone for a backup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plan is the one students forget.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support the speaker; they never replace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the block diagram drawn.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Smart Garden as a block diagram: the same notice, decide, act idea from M4.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standing up, not sitting.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it: read your first 30 seconds twice to a partner — flat and fast, then with pace, pauses and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every speaker feels nervous; the difference is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backup is not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a real way INCIPE demos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it fails live: stay calm, say what should happen, then play the backup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task: present your product to a small group for peer feedback. Rotate until everyone has presented.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glow: your pause after the dead-plant story made me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 block diagram and a short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check every sensor in the Serial Monitor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stay calm, explain, switch to the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deliberate pauses.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glow and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fix your two most common grows and record your backup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M5: Presentation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2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Presentation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Techniques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Slides that help you, a voice that carries, a demo that survives.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Slides: diagrams and demos, not paragraphs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Body language, voice and nerves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Live demos — always have a backup plan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Practice: present to a small group for peer feedback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874566"/>
        </p:xfrm>
        <a:graphic>
          <a:graphicData uri="http://schemas.openxmlformats.org/drawingml/2006/table">
            <a:tbl>
              <a:tblPr/>
              <a:tblGrid>
                <a:gridCol w="2810002"/>
                <a:gridCol w="799769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Visual aid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Anything the audience looks at while you talk: slides, a diagram, the product.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Block diagram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Boxes joined by arrows that show how the parts of a system connect.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Body language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your posture, face, eyes and hands say without words.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Voice modulation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Changing speed, volume and tone so you never sound flat.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Filler words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“Um”, “like”, “so, yeah” — sounds that fill a pause.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Backup plan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you’ll do if the live demo fails.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Peer feedback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Comments from classmates, given to help you improve.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slide is a road sign, not a page.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Drivers read a sign in a second: one symbol, a few words. Your audience is “driving” too — they’re listening to you.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a slide is a paragraph, they read instead of listening, and lose both.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rules for slides that help.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2810002"/>
                <a:gridCol w="3890772"/>
                <a:gridCol w="410692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Rule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Instead of…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idea per slide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Five points on one slide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Five slides, one point each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Few words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paragraph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short phrase or a single number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Show, don’t list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“Uses a probe, a board and a pump”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block diagram: probe → board → pump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Big and readable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14-point text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Text the back row can read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Real pictures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Clip art of a plant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photo of your build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 Diagram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 → decide → act, in one glance.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3890" y="1905000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57090" y="1905000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70290" y="1905000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349500"/>
            <a:ext cx="2794000" cy="571500"/>
          </a:xfrm>
          <a:prstGeom prst="roundRect">
            <a:avLst>
              <a:gd name="adj" fmla="val 6667"/>
            </a:avLst>
          </a:prstGeom>
          <a:solidFill>
            <a:srgbClr val="E1E1E1"/>
          </a:solidFill>
          <a:ln/>
        </p:spPr>
      </p:sp>
      <p:sp>
        <p:nvSpPr>
          <p:cNvPr id="9" name="Text 7"/>
          <p:cNvSpPr/>
          <p:nvPr/>
        </p:nvSpPr>
        <p:spPr>
          <a:xfrm>
            <a:off x="643890" y="2520950"/>
            <a:ext cx="2877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Soil moisture probe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12200" y="2349500"/>
            <a:ext cx="2794000" cy="571500"/>
          </a:xfrm>
          <a:prstGeom prst="roundRect">
            <a:avLst>
              <a:gd name="adj" fmla="val 6667"/>
            </a:avLst>
          </a:prstGeom>
          <a:solidFill>
            <a:srgbClr val="E1E1E1"/>
          </a:solidFill>
          <a:ln/>
        </p:spPr>
      </p:sp>
      <p:sp>
        <p:nvSpPr>
          <p:cNvPr id="11" name="Text 9"/>
          <p:cNvSpPr/>
          <p:nvPr/>
        </p:nvSpPr>
        <p:spPr>
          <a:xfrm>
            <a:off x="8670290" y="2520950"/>
            <a:ext cx="2877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 pump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302000"/>
            <a:ext cx="2794000" cy="571500"/>
          </a:xfrm>
          <a:prstGeom prst="roundRect">
            <a:avLst>
              <a:gd name="adj" fmla="val 6667"/>
            </a:avLst>
          </a:prstGeom>
          <a:solidFill>
            <a:srgbClr val="E1E1E1"/>
          </a:solidFill>
          <a:ln/>
        </p:spPr>
      </p:sp>
      <p:sp>
        <p:nvSpPr>
          <p:cNvPr id="13" name="Text 11"/>
          <p:cNvSpPr/>
          <p:nvPr/>
        </p:nvSpPr>
        <p:spPr>
          <a:xfrm>
            <a:off x="643890" y="3473450"/>
            <a:ext cx="2877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 sensor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12200" y="3302000"/>
            <a:ext cx="2794000" cy="571500"/>
          </a:xfrm>
          <a:prstGeom prst="roundRect">
            <a:avLst>
              <a:gd name="adj" fmla="val 6667"/>
            </a:avLst>
          </a:prstGeom>
          <a:solidFill>
            <a:srgbClr val="E1E1E1"/>
          </a:solidFill>
          <a:ln/>
        </p:spPr>
      </p:sp>
      <p:sp>
        <p:nvSpPr>
          <p:cNvPr id="15" name="Text 13"/>
          <p:cNvSpPr/>
          <p:nvPr/>
        </p:nvSpPr>
        <p:spPr>
          <a:xfrm>
            <a:off x="8670290" y="3473450"/>
            <a:ext cx="2877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LED strip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54500"/>
            <a:ext cx="2794000" cy="571500"/>
          </a:xfrm>
          <a:prstGeom prst="roundRect">
            <a:avLst>
              <a:gd name="adj" fmla="val 6667"/>
            </a:avLst>
          </a:prstGeom>
          <a:solidFill>
            <a:srgbClr val="E1E1E1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90" y="4425950"/>
            <a:ext cx="2877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Temperature sensor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12200" y="4254500"/>
            <a:ext cx="2794000" cy="571500"/>
          </a:xfrm>
          <a:prstGeom prst="roundRect">
            <a:avLst>
              <a:gd name="adj" fmla="val 6667"/>
            </a:avLst>
          </a:prstGeom>
          <a:solidFill>
            <a:srgbClr val="E1E1E1"/>
          </a:solidFill>
          <a:ln/>
        </p:spPr>
      </p:sp>
      <p:sp>
        <p:nvSpPr>
          <p:cNvPr id="19" name="Text 17"/>
          <p:cNvSpPr/>
          <p:nvPr/>
        </p:nvSpPr>
        <p:spPr>
          <a:xfrm>
            <a:off x="8670290" y="4425950"/>
            <a:ext cx="2877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99000" y="3143250"/>
            <a:ext cx="2794000" cy="889000"/>
          </a:xfrm>
          <a:prstGeom prst="roundRect">
            <a:avLst>
              <a:gd name="adj" fmla="val 4286"/>
            </a:avLst>
          </a:prstGeom>
          <a:solidFill>
            <a:srgbClr val="2F2F32"/>
          </a:solidFill>
          <a:ln/>
        </p:spPr>
      </p:sp>
      <p:sp>
        <p:nvSpPr>
          <p:cNvPr id="21" name="Text 19"/>
          <p:cNvSpPr/>
          <p:nvPr/>
        </p:nvSpPr>
        <p:spPr>
          <a:xfrm>
            <a:off x="4657090" y="3473450"/>
            <a:ext cx="2877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57090" y="4159250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thresholds and logic</a:t>
            </a:r>
            <a:endParaRPr lang="en-US" sz="1200" dirty="0"/>
          </a:p>
        </p:txBody>
      </p:sp>
      <p:pic>
        <p:nvPicPr>
          <p:cNvPr id="23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2584450"/>
            <a:ext cx="1320800" cy="1054100"/>
          </a:xfrm>
          <a:prstGeom prst="rect">
            <a:avLst/>
          </a:prstGeom>
        </p:spPr>
      </p:pic>
      <p:pic>
        <p:nvPicPr>
          <p:cNvPr id="2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42200" y="2584450"/>
            <a:ext cx="1320800" cy="1054100"/>
          </a:xfrm>
          <a:prstGeom prst="rect">
            <a:avLst/>
          </a:prstGeom>
        </p:spPr>
      </p:pic>
      <p:pic>
        <p:nvPicPr>
          <p:cNvPr id="2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29000" y="3536950"/>
            <a:ext cx="1320800" cy="101600"/>
          </a:xfrm>
          <a:prstGeom prst="rect">
            <a:avLst/>
          </a:prstGeom>
        </p:spPr>
      </p:pic>
      <p:pic>
        <p:nvPicPr>
          <p:cNvPr id="2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42200" y="3536950"/>
            <a:ext cx="1320800" cy="101600"/>
          </a:xfrm>
          <a:prstGeom prst="rect">
            <a:avLst/>
          </a:prstGeom>
        </p:spPr>
      </p:pic>
      <p:pic>
        <p:nvPicPr>
          <p:cNvPr id="27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29000" y="3536950"/>
            <a:ext cx="1320800" cy="1054100"/>
          </a:xfrm>
          <a:prstGeom prst="rect">
            <a:avLst/>
          </a:prstGeom>
        </p:spPr>
      </p:pic>
      <p:pic>
        <p:nvPicPr>
          <p:cNvPr id="2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42200" y="3536950"/>
            <a:ext cx="1320800" cy="10541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5800" y="5334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 a “Live demo” slide — and a copy right after it with a photo or video of the demo, in case you need it.</a:t>
            </a:r>
            <a:endParaRPr lang="en-US" sz="1300" dirty="0"/>
          </a:p>
        </p:txBody>
      </p:sp>
      <p:pic>
        <p:nvPicPr>
          <p:cNvPr id="30" name="Image 6" descr="Incipe Academy">    </p:cNvPr>
          <p:cNvPicPr>
            <a:picLocks noChangeAspect="1"/>
          </p:cNvPicPr>
          <p:nvPr/>
        </p:nvPicPr>
        <p:blipFill>
          <a:blip r:embed="rId7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Body Language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habits.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796604"/>
        </p:xfrm>
        <a:graphic>
          <a:graphicData uri="http://schemas.openxmlformats.org/drawingml/2006/table">
            <a:tbl>
              <a:tblPr/>
              <a:tblGrid>
                <a:gridCol w="5403850"/>
                <a:gridCol w="540385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Stand still, weight on both feet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Swaying or pacing looks nervous and distracts.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Look at three people in different parts of the room, and rotate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Eye contact makes each listener feel spoken to.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Keep your hands visible; point at the slide or product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Hidden hands look unsure; open hands look confident.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Face the audience, not the screen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Read nothing from the slide — you already know it.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Speak like a song, not a single note.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2161540"/>
                <a:gridCol w="864616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Tool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to use it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Pace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Slow down for the important parts — the problem and the impact.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Pause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Stop for two seconds after a key sentence. Silence makes people listen.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Volume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Speak to the back row — a little louder than feels natural.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Variety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Let your voice rise with a question and fall at the end of a statement.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Fillers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Replace “um” with a pause. Nobody notices a pause; everybody notices “um”.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826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 (2 min): read your first 30 seconds to a partner twice — flat and fast, then with pace, pauses and volume. Which would they remember?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Handling Nerves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Nerves are energy. Make them work for you.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027734"/>
        </p:xfrm>
        <a:graphic>
          <a:graphicData uri="http://schemas.openxmlformats.org/drawingml/2006/table">
            <a:tbl>
              <a:tblPr/>
              <a:tblGrid>
                <a:gridCol w="5403850"/>
                <a:gridCol w="540385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Before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During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Rehearse out loud at least three times — once standing, once in front of someone.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Know your first 30 seconds by heart; the nerves usually settle after.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Breathe slowly, with a longer breath out than in, for a minute.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Lost your place? Pause, look at your notes, carry on.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Check the room and equipment early.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Speak to a friendly face first.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Call it excitement, not fear.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Slow down — nerves make everyone speed up.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perform a trick for the first time on stage.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magician practises a hundred times — and always has another trick ready.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demo needs both: rehearsal on the real setup, and a backup.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can go wrong — and how to prevent it.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996083"/>
        </p:xfrm>
        <a:graphic>
          <a:graphicData uri="http://schemas.openxmlformats.org/drawingml/2006/table">
            <a:tbl>
              <a:tblPr/>
              <a:tblGrid>
                <a:gridCol w="4971542"/>
                <a:gridCol w="583615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can go wrong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Prevent it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sensor reads −1 (“not detected” on the Wiki)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Plug everything in and check the Serial Monitor before you start.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board isn’t connected, or the Wi-Fi is different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Test on the same setup, in the same room. Bring a USB cable.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board runs an old version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Upload the final, tested sketch the day before. Don’t change it on the day.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demo needs exact conditions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Bring dry soil and a cup of water; a cloth to cover the light sensor.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Something just breaks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Have a backup.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demo checklist.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864616"/>
                <a:gridCol w="9943084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#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Before you present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Record a 30–60 second video of the demo working. That’s your backup.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Put it on the slide right after “Live demo”.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Plan the main path only: the one thing that proves your idea — dry soil → PUMP ON.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Start from a known state: board powered, Serial Monitor open, soil dry.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Practise the demo out loud, including what you say while it runs.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826000"/>
            <a:ext cx="1114501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it fails live: stay calm, say what should happen (“When the soil is dry, the pump switches on”), then switch to the backup. Audiences remember how you handled it.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 to a small group. Groups of 3–4.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544042"/>
        </p:xfrm>
        <a:graphic>
          <a:graphicData uri="http://schemas.openxmlformats.org/drawingml/2006/table">
            <a:tbl>
              <a:tblPr/>
              <a:tblGrid>
                <a:gridCol w="2593848"/>
                <a:gridCol w="8213852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Job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Presenter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Gives the 5-minute pitch from Session 1, with slides and a demo (or its backup).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Timekeeper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Shows a sign at 4 minutes and stops the presenter at 5:30.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Listeners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Fill in the glow-and-grow form while listening.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Peer Feedback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Glow and grow: one thing that worked, one to improve.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4323080"/>
                <a:gridCol w="3242310"/>
                <a:gridCol w="324231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Area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Glow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Story: was the user the hero?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Slides: one idea each, readable?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Voice: pace, pauses, volume?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Body: eye contact, stance, hands?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Demo: did it prove the idea? A backup?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826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“It was good” helps nobody. Be specific. Then fix your two most common grows before Session 3.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slide has 80 words about how the Smart Garden works. How do you fix it?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[ 80-word paragraph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Diagram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Replace the paragraph with a block diagram (probe → board → pump) and a short title — and say the explanation.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a demo, what do you check so a −1 reading doesn’t surprise you?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Serial Monitor: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soil = -1.00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Sensors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That every sensor is plugged in and gives a real value. On the Wiki, −1 means “not detected”.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demo fails in front of the class. What do you do first?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 ... ?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(nothing happens)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Stay calm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 what should have happened, then switch to your backup video or photos.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speak too fast when nervous. Name one technique.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“So-um-basically-it-waters-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the-plant-and-um…”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Pause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 pauses in your script after key sentences; breathe out slowly before you start.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 says only “It was good.” How do you make it useful?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Feedback: It was good.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Glow &amp; grow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specific thing that worked and one specific thing to improve.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Slides support you: one idea each, few words, diagrams instead of paragraphs, a demo slide with a backup after 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Body and voice carry the story: steady stance, eye contact, pauses, variety — and rehearsal turns nerves into energy.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Rehearse the demo on the real setup, show the main path only, keep a backup video, and improve with glow-and-grow feedback.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53910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Session 3: Technical presentation skills.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Explaining your sensors, code and system design to people who’ve never seen a circuit.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2 · Presentation Techniques">
  <a:themeElements>
    <a:clrScheme name="Session 2 · Presentation Techniques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2 · Presentation Techniques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· Presentation Techniques</dc:title>
  <dc:subject/>
  <dc:creator/>
  <cp:lastModifiedBy/>
  <cp:revision>1</cp:revision>
  <dcterms:created xsi:type="dcterms:W3CDTF">2026-10-09T05:31:30Z</dcterms:created>
  <dcterms:modified xsi:type="dcterms:W3CDTF">2026-10-09T05:31:30Z</dcterms:modified>
</cp:coreProperties>
</file>