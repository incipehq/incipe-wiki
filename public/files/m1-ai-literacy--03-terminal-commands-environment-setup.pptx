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of M1 AI Literacy. Students learn to move around their Mac in the terminal, make and change files and folders, keep a tidy project folder, and save versions of their work with Git and GitHub. No board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in thirty minutes. Everyone needs a Mac with the Terminal app; no board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aloud once. Folder and directory mean the same thing; the terminal says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Finder is like tapping icons on a phone; the terminal is like sending the computer a text message. You type after the percent sign. The notes show commands without the prompt so they can be copied.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building analogy: rooms inside rooms. pwd tells you which room you are in; ls looks around; cd walks.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Terminal session. Your name will be different from alex, so your paths will be too; everything after your name is the same. The site's notes have this as a step-by-step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difference: cp leaves the original, mv does not. mv with a new name in the same folder is how you rename.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session, run inside the climate-reader folder. Ask the class to predict each ls before revealing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rule to remember from Part 3. Finder moves deleted files to the Bin; the terminal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messages from a Mac's Terminal. Read the error before asking for help; it is usually exact.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layout is a suggestion that makes Git and the terminal easy. Lesson 1 recommended keeping one prompts file per project next to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has lost work because they changed something that was working. Git is the fix for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writes your name on every save point, so this is set once per computer. Alex Chan and alex@example.com are placeholders; students use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session, with git status shortened (its help lines are left out). The code 68f8b60 is made from the commit's contents, so every student's will differ, and their first branch may be called master instead of main. Both are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frequent save points beat one big one: when something breaks, you only lose a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lets students work from another computer, share with their team, and show projects in their portfolio in M5. Sign-in for the first push depends on the school's setup, so it is left to the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ties back to Session 2: trust the AI to explain, check before you act. Deleting commands are where a wrong guess costs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ten minutes. Students who finish early can make a second commit after editing prompts.md.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curriculum lists no separate practice item for Session 3, so this task checks the session's three skills: navigating, managing files, and saving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/Users/alex/incipe-projects/climate-reader, printed on one line in the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/Users/alex/incipe-projects. The second line in the box is what the first pwd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notes.txt and old-notes.txt. There is no backup.txt any more because mv does not leave a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rm refuses with "is a directory" and deletes nothing. This is a safety net; rm -r removes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no. git status first would have shown the file under "Changes not staged for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to remember. Homework: the practice screenshot with at least two commits.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5F5"/>
        </a:solidFill>
      </p:bgPr>
    </p:bg>
    <p:spTree>
      <p:nvGrpSpPr>
        <p:cNvPr id="1" name=""/>
        <p:cNvGrpSpPr/>
        <p:nvPr/>
      </p:nvGrpSpPr>
      <p:grpSpPr>
        <a:xfrm>
          <a:off x="0" y="0"/>
          <a:ext cx="0" cy="0"/>
          <a:chOff x="0" y="0"/>
          <a:chExt cx="0" cy="0"/>
        </a:xfrm>
      </p:grpSpPr>
      <p:sp>
        <p:nvSpPr>
          <p:cNvPr id="2" name="Title Placeholder 1"/>
          <p:cNvSpPr/>
          <p:nvPr>
            <p:ph type="title"/>
          </p:nvPr>
        </p:nvSpPr>
        <p:spPr>
          <a:xfrm>
            <a:off x="685800" y="726430"/>
            <a:ext cx="9220200" cy="408930"/>
          </a:xfrm>
          <a:prstGeom prst="rect">
            <a:avLst/>
          </a:prstGeom>
          <a:noFill/>
          <a:ln/>
        </p:spPr>
        <p:txBody>
          <a:bodyPr wrap="square" lIns="0" tIns="0" rIns="0" bIns="0" rtlCol="0" anchor="t"/>
          <a:lstStyle>
            <a:lvl1pPr algn="l" indent="0" marL="0">
              <a:lnSpc>
                <a:spcPct val="115000"/>
              </a:lnSpc>
              <a:buNone/>
              <a:defRPr lang="en-US" sz="2800" dirty="0">
                <a:solidFill>
                  <a:srgbClr val="1D1D1E"/>
                </a:solidFill>
                <a:latin typeface="Helvetica Neue" pitchFamily="34" charset="0"/>
                <a:ea typeface="Helvetica Neue" pitchFamily="34" charset="-122"/>
                <a:cs typeface="Helvetica Neu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685800" y="1440160"/>
            <a:ext cx="10693400" cy="4605040"/>
          </a:xfrm>
          <a:prstGeom prst="rect">
            <a:avLst/>
          </a:prstGeom>
          <a:noFill/>
          <a:ln/>
        </p:spPr>
        <p:txBody>
          <a:bodyPr wrap="square" lIns="0" tIns="0" rIns="0" bIns="0" rtlCol="0" anchor="t"/>
          <a:lstStyle>
            <a:lvl1pPr algn="l" indent="0" marL="0">
              <a:lnSpc>
                <a:spcPct val="140000"/>
              </a:lnSpc>
              <a:buNone/>
              <a:defRPr lang="en-US" sz="1600" dirty="0">
                <a:solidFill>
                  <a:srgbClr val="1D1D1E"/>
                </a:solidFill>
                <a:latin typeface="Helvetica Neue" pitchFamily="34" charset="0"/>
                <a:ea typeface="Helvetica Neue" pitchFamily="34" charset="-122"/>
                <a:cs typeface="Helvetica Neue"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5F5"/>
        </a:solidFill>
      </p:bgPr>
    </p:bg>
    <p:spTree>
      <p:nvGrpSpPr>
        <p:cNvPr id="1" name=""/>
        <p:cNvGrpSpPr/>
        <p:nvPr/>
      </p:nvGrpSpPr>
      <p:grpSpPr>
        <a:xfrm>
          <a:off x="0" y="0"/>
          <a:ext cx="0" cy="0"/>
          <a:chOff x="0" y="0"/>
          <a:chExt cx="0" cy="0"/>
        </a:xfrm>
      </p:grpSpPr>
      <p:sp>
        <p:nvSpPr>
          <p:cNvPr id="2" name="Title Placeholder 1"/>
          <p:cNvSpPr/>
          <p:nvPr>
            <p:ph type="title"/>
          </p:nvPr>
        </p:nvSpPr>
        <p:spPr>
          <a:xfrm>
            <a:off x="685800" y="726430"/>
            <a:ext cx="9220200" cy="408930"/>
          </a:xfrm>
          <a:prstGeom prst="rect">
            <a:avLst/>
          </a:prstGeom>
          <a:noFill/>
          <a:ln/>
        </p:spPr>
        <p:txBody>
          <a:bodyPr wrap="square" lIns="0" tIns="0" rIns="0" bIns="0" rtlCol="0" anchor="t"/>
          <a:lstStyle>
            <a:lvl1pPr algn="l" indent="0" marL="0">
              <a:lnSpc>
                <a:spcPct val="115000"/>
              </a:lnSpc>
              <a:buNone/>
              <a:defRPr lang="en-US" sz="2800" dirty="0">
                <a:solidFill>
                  <a:srgbClr val="1D1D1E"/>
                </a:solidFill>
                <a:latin typeface="Helvetica Neue" pitchFamily="34" charset="0"/>
                <a:ea typeface="Helvetica Neue" pitchFamily="34" charset="-122"/>
                <a:cs typeface="Helvetica Neu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685800" y="1440160"/>
            <a:ext cx="10693400" cy="4605040"/>
          </a:xfrm>
          <a:prstGeom prst="rect">
            <a:avLst/>
          </a:prstGeom>
          <a:noFill/>
          <a:ln/>
        </p:spPr>
        <p:txBody>
          <a:bodyPr wrap="square" lIns="0" tIns="0" rIns="0" bIns="0" rtlCol="0" anchor="t"/>
          <a:lstStyle>
            <a:lvl1pPr algn="l" indent="0" marL="0">
              <a:lnSpc>
                <a:spcPct val="140000"/>
              </a:lnSpc>
              <a:buNone/>
              <a:defRPr lang="en-US" sz="1600" dirty="0">
                <a:solidFill>
                  <a:srgbClr val="1D1D1E"/>
                </a:solidFill>
                <a:latin typeface="Helvetica Neue" pitchFamily="34" charset="0"/>
                <a:ea typeface="Helvetica Neue" pitchFamily="34" charset="-122"/>
                <a:cs typeface="Helvetica Neue"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39462" b="39462"/>
          <a:stretch/>
        </p:blipFill>
        <p:spPr>
          <a:xfrm>
            <a:off x="0" y="3003550"/>
            <a:ext cx="12192000" cy="3854450"/>
          </a:xfrm>
          <a:prstGeom prst="rect">
            <a:avLst/>
          </a:prstGeom>
        </p:spPr>
      </p:pic>
      <p:sp>
        <p:nvSpPr>
          <p:cNvPr id="3" name="Text 0"/>
          <p:cNvSpPr/>
          <p:nvPr/>
        </p:nvSpPr>
        <p:spPr>
          <a:xfrm>
            <a:off x="381000" y="381000"/>
            <a:ext cx="3401060" cy="375841"/>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B57946"/>
                </a:solidFill>
                <a:latin typeface="Helvetica Neue" pitchFamily="34" charset="0"/>
                <a:ea typeface="Helvetica Neue" pitchFamily="34" charset="-122"/>
                <a:cs typeface="Helvetica Neue" pitchFamily="34" charset="-120"/>
              </a:rPr>
              <a:t>© 2026 Incipe Academy Limited.</a:t>
            </a:r>
            <a:endParaRPr lang="en-US" sz="1200" dirty="0"/>
          </a:p>
          <a:p>
            <a:pPr algn="l" indent="0" marL="0">
              <a:lnSpc>
                <a:spcPts val="1380"/>
              </a:lnSpc>
              <a:buNone/>
            </a:pPr>
            <a:r>
              <a:rPr lang="en-US" sz="1200" dirty="0">
                <a:solidFill>
                  <a:srgbClr val="B57946"/>
                </a:solidFill>
                <a:latin typeface="Helvetica Neue" pitchFamily="34" charset="0"/>
                <a:ea typeface="Helvetica Neue" pitchFamily="34" charset="-122"/>
                <a:cs typeface="Helvetica Neue" pitchFamily="34" charset="-120"/>
              </a:rPr>
              <a:t>All rights reserved.</a:t>
            </a:r>
            <a:endParaRPr lang="en-US" sz="1200" dirty="0"/>
          </a:p>
        </p:txBody>
      </p:sp>
      <p:sp>
        <p:nvSpPr>
          <p:cNvPr id="4" name="Text 1"/>
          <p:cNvSpPr/>
          <p:nvPr/>
        </p:nvSpPr>
        <p:spPr>
          <a:xfrm>
            <a:off x="4133850" y="406400"/>
            <a:ext cx="39243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B57946"/>
                </a:solidFill>
                <a:latin typeface="Helvetica Neue" pitchFamily="34" charset="0"/>
                <a:ea typeface="Helvetica Neue" pitchFamily="34" charset="-122"/>
                <a:cs typeface="Helvetica Neue" pitchFamily="34" charset="-120"/>
              </a:rPr>
              <a:t>Incipe 101</a:t>
            </a:r>
            <a:endParaRPr lang="en-US" sz="1600" dirty="0"/>
          </a:p>
        </p:txBody>
      </p:sp>
      <p:sp>
        <p:nvSpPr>
          <p:cNvPr id="5" name="Text 2"/>
          <p:cNvSpPr/>
          <p:nvPr/>
        </p:nvSpPr>
        <p:spPr>
          <a:xfrm>
            <a:off x="8409940" y="406400"/>
            <a:ext cx="340106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B57946"/>
                </a:solidFill>
                <a:latin typeface="Helvetica Neue" pitchFamily="34" charset="0"/>
                <a:ea typeface="Helvetica Neue" pitchFamily="34" charset="-122"/>
                <a:cs typeface="Helvetica Neue" pitchFamily="34" charset="-120"/>
              </a:rPr>
              <a:t>M1: AI Literacy</a:t>
            </a:r>
            <a:endParaRPr lang="en-US" sz="1600" dirty="0"/>
          </a:p>
        </p:txBody>
      </p:sp>
      <p:sp>
        <p:nvSpPr>
          <p:cNvPr id="6" name="Text 3"/>
          <p:cNvSpPr/>
          <p:nvPr>
            <p:ph type="title"/>
          </p:nvPr>
        </p:nvSpPr>
        <p:spPr>
          <a:xfrm>
            <a:off x="863600" y="1085850"/>
            <a:ext cx="10464800" cy="1454150"/>
          </a:xfrm>
          <a:prstGeom prst="rect">
            <a:avLst/>
          </a:prstGeom>
          <a:noFill/>
          <a:ln/>
        </p:spPr>
        <p:txBody>
          <a:bodyPr wrap="square" lIns="0" tIns="0" rIns="0" bIns="0" rtlCol="0" anchor="t">
            <a:normAutofit/>
          </a:bodyPr>
          <a:lstStyle/>
          <a:p>
            <a:pPr algn="ctr" indent="0" marL="0">
              <a:lnSpc>
                <a:spcPts val="3750"/>
              </a:lnSpc>
              <a:buNone/>
            </a:pPr>
            <a:r>
              <a:rPr lang="en-US" sz="3750" b="1" i="0" dirty="0">
                <a:solidFill>
                  <a:srgbClr val="B57946"/>
                </a:solidFill>
                <a:latin typeface="Helvetica Neue" pitchFamily="34" charset="0"/>
                <a:ea typeface="Helvetica Neue" pitchFamily="34" charset="-122"/>
                <a:cs typeface="Helvetica Neue" pitchFamily="34" charset="-120"/>
              </a:rPr>
              <a:t>Session 3</a:t>
            </a:r>
            <a:endParaRPr lang="en-US" sz="3750" dirty="0"/>
          </a:p>
          <a:p>
            <a:pPr algn="ctr" indent="0" marL="0">
              <a:lnSpc>
                <a:spcPts val="3750"/>
              </a:lnSpc>
              <a:buNone/>
            </a:pPr>
            <a:r>
              <a:rPr lang="en-US" sz="3750" b="1" i="0" dirty="0">
                <a:solidFill>
                  <a:srgbClr val="B57946"/>
                </a:solidFill>
                <a:latin typeface="Helvetica Neue" pitchFamily="34" charset="0"/>
                <a:ea typeface="Helvetica Neue" pitchFamily="34" charset="-122"/>
                <a:cs typeface="Helvetica Neue" pitchFamily="34" charset="-120"/>
              </a:rPr>
              <a:t>Terminal Commands &amp;</a:t>
            </a:r>
            <a:endParaRPr lang="en-US" sz="3750" dirty="0"/>
          </a:p>
          <a:p>
            <a:pPr algn="ctr" indent="0" marL="0">
              <a:lnSpc>
                <a:spcPts val="3750"/>
              </a:lnSpc>
              <a:buNone/>
            </a:pPr>
            <a:r>
              <a:rPr lang="en-US" sz="3750" b="1" i="0" dirty="0">
                <a:solidFill>
                  <a:srgbClr val="B57946"/>
                </a:solidFill>
                <a:latin typeface="Helvetica Neue" pitchFamily="34" charset="0"/>
                <a:ea typeface="Helvetica Neue" pitchFamily="34" charset="-122"/>
                <a:cs typeface="Helvetica Neue" pitchFamily="34" charset="-120"/>
              </a:rPr>
              <a:t>Environment Setup</a:t>
            </a:r>
            <a:endParaRPr lang="en-US" sz="3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116329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Lesson Overview</a:t>
            </a:r>
            <a:endParaRPr lang="en-US" sz="1600" dirty="0"/>
          </a:p>
        </p:txBody>
      </p:sp>
      <p:sp>
        <p:nvSpPr>
          <p:cNvPr id="4" name="Text 2"/>
          <p:cNvSpPr/>
          <p:nvPr>
            <p:ph type="title"/>
          </p:nvPr>
        </p:nvSpPr>
        <p:spPr>
          <a:xfrm>
            <a:off x="685800" y="726430"/>
            <a:ext cx="9496806"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Talk to your computer in words, and save every working version.</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2171700"/>
          <a:ext cx="10807700" cy="2316063"/>
        </p:xfrm>
        <a:graphic>
          <a:graphicData uri="http://schemas.openxmlformats.org/drawingml/2006/table">
            <a:tbl>
              <a:tblPr/>
              <a:tblGrid>
                <a:gridCol w="1080770"/>
                <a:gridCol w="7781544"/>
                <a:gridCol w="1945386"/>
              </a:tblGrid>
              <a:tr h="386011">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Part</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Topic</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Time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01</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What the terminal is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4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02</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Moving around: pwd, ls, cd</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7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03</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Making and changing things: mkdir, cp, mv, rm</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7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04</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A tidy project folder</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3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05</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Git and GitHub: save points for your code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9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Key Words</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Ten words you will hear today.</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1663700"/>
          <a:ext cx="10807700" cy="3659485"/>
        </p:xfrm>
        <a:graphic>
          <a:graphicData uri="http://schemas.openxmlformats.org/drawingml/2006/table">
            <a:tbl>
              <a:tblPr/>
              <a:tblGrid>
                <a:gridCol w="2593848"/>
                <a:gridCol w="8213852"/>
              </a:tblGrid>
              <a:tr h="332680">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Word</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Plain meaning</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Terminal</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An app where you type commands instead of clicking.</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Command</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One instruction, like ls. Press Return to run it.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Folder (directory)</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A box that holds files and other folders. Same thing, two names.</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Path</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The directions to a file or folder, like /Users/alex/incipe-projects.</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Home folder</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Your own folder on the Mac. Written ~ for short.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Current folder</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The folder the terminal is "standing in" right now.</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Git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A tool that saves versions of your project so you can go back.</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Repository (repo)</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A project folder that Git is looking after.</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Commit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One saved version, with a short message saying what changed.</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GitHub</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A website that keeps a copy of your repository online.</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What the Terminal Is</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Texting your computer instead of tapping it.</a:t>
            </a:r>
            <a:endParaRPr lang="en-US" sz="2800" dirty="0"/>
          </a:p>
        </p:txBody>
      </p:sp>
      <p:sp>
        <p:nvSpPr>
          <p:cNvPr id="5" name="Text 3"/>
          <p:cNvSpPr/>
          <p:nvPr/>
        </p:nvSpPr>
        <p:spPr>
          <a:xfrm>
            <a:off x="685800" y="1841500"/>
            <a:ext cx="111450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Type exactly what you want, press Return, and it answers. Open it: press ⌘ Space, type Terminal, press Return.</a:t>
            </a:r>
            <a:endParaRPr lang="en-US" sz="1400" dirty="0"/>
          </a:p>
        </p:txBody>
      </p:sp>
      <p:sp>
        <p:nvSpPr>
          <p:cNvPr id="6" name="Text 4"/>
          <p:cNvSpPr/>
          <p:nvPr/>
        </p:nvSpPr>
        <p:spPr>
          <a:xfrm>
            <a:off x="685800" y="2540000"/>
            <a:ext cx="5080000" cy="850900"/>
          </a:xfrm>
          <a:prstGeom prst="rect">
            <a:avLst/>
          </a:prstGeom>
          <a:solidFill>
            <a:srgbClr val="2F2F32"/>
          </a:solidFill>
          <a:ln/>
        </p:spPr>
        <p:txBody>
          <a:bodyPr wrap="square" lIns="304800" tIns="254000" rIns="170688" bIns="228600" rtlCol="0" anchor="t">
            <a:normAutofit/>
          </a:bodyPr>
          <a:lstStyle/>
          <a:p>
            <a:pPr algn="l" indent="0" marL="0">
              <a:lnSpc>
                <a:spcPts val="2700"/>
              </a:lnSpc>
              <a:buNone/>
            </a:pPr>
            <a:r>
              <a:rPr lang="en-US" sz="1800" dirty="0">
                <a:solidFill>
                  <a:srgbClr val="F5F5F5"/>
                </a:solidFill>
                <a:latin typeface="Courier New" pitchFamily="49" charset="0"/>
                <a:ea typeface="Courier New" pitchFamily="49" charset="-122"/>
                <a:cs typeface="Courier New" pitchFamily="49" charset="-120"/>
              </a:rPr>
              <a:t>alex@MacBook ~ %</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86500" y="2552700"/>
          <a:ext cx="5219700" cy="2027734"/>
        </p:xfrm>
        <a:graphic>
          <a:graphicData uri="http://schemas.openxmlformats.org/drawingml/2006/table">
            <a:tbl>
              <a:tblPr/>
              <a:tblGrid>
                <a:gridCol w="1565910"/>
                <a:gridCol w="3653790"/>
              </a:tblGrid>
              <a:tr h="359321">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Part</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Meaning</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alex</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Who is signed in</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MacBook</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The computer's name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59045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The current folder — ~ means your home folder</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"Ready. Type a command."</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8"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9" name="Text 5"/>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0" name="Text 6"/>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Moving Around</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Folders are rooms. A path is the directions.</a:t>
            </a:r>
            <a:endParaRPr lang="en-US" sz="2800" dirty="0"/>
          </a:p>
        </p:txBody>
      </p:sp>
      <p:sp>
        <p:nvSpPr>
          <p:cNvPr id="5" name="Text 3"/>
          <p:cNvSpPr/>
          <p:nvPr/>
        </p:nvSpPr>
        <p:spPr>
          <a:xfrm>
            <a:off x="685800" y="1841500"/>
            <a:ext cx="111450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/Users/alex/incipe-projects means: start at the front door, go into Users, then alex, then incipe-projects.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98500" y="2552700"/>
          <a:ext cx="10807700" cy="2155924"/>
        </p:xfrm>
        <a:graphic>
          <a:graphicData uri="http://schemas.openxmlformats.org/drawingml/2006/table">
            <a:tbl>
              <a:tblPr/>
              <a:tblGrid>
                <a:gridCol w="1945386"/>
                <a:gridCol w="3026156"/>
                <a:gridCol w="5836158"/>
              </a:tblGrid>
              <a:tr h="359321">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Command</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Say it as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What it does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pwd</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"print working directory"</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Shows the full path of the room you are in</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ls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"list"</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Shows what is in this room</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cd name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"change directory"</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Walks into the room called name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cd ..</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"go up"</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Walks back out to the room around this one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cd ~ or cd</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"go home"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Jumps straight back to your home folder</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Moving Around</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Alex makes a home for their projects.</a:t>
            </a:r>
            <a:endParaRPr lang="en-US" sz="2800" dirty="0"/>
          </a:p>
        </p:txBody>
      </p:sp>
      <p:sp>
        <p:nvSpPr>
          <p:cNvPr id="5" name="Shape 3"/>
          <p:cNvSpPr/>
          <p:nvPr/>
        </p:nvSpPr>
        <p:spPr>
          <a:xfrm>
            <a:off x="685800" y="1778000"/>
            <a:ext cx="6604000" cy="3810000"/>
          </a:xfrm>
          <a:prstGeom prst="rect">
            <a:avLst/>
          </a:prstGeom>
          <a:solidFill>
            <a:srgbClr val="2F2F32"/>
          </a:solidFill>
          <a:ln/>
        </p:spPr>
      </p:sp>
      <p:sp>
        <p:nvSpPr>
          <p:cNvPr id="6" name="Text 4"/>
          <p:cNvSpPr/>
          <p:nvPr/>
        </p:nvSpPr>
        <p:spPr>
          <a:xfrm>
            <a:off x="939800" y="1968500"/>
            <a:ext cx="6409690" cy="2930723"/>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C19066"/>
                </a:solidFill>
                <a:latin typeface="Courier New" pitchFamily="49" charset="0"/>
                <a:ea typeface="Courier New" pitchFamily="49" charset="-122"/>
                <a:cs typeface="Courier New" pitchFamily="49" charset="-120"/>
              </a:rPr>
              <a:t>%</a:t>
            </a:r>
            <a:r>
              <a:rPr lang="en-US" sz="1300" dirty="0">
                <a:solidFill>
                  <a:srgbClr val="F5F5F5"/>
                </a:solidFill>
                <a:latin typeface="Courier New" pitchFamily="49" charset="0"/>
                <a:ea typeface="Courier New" pitchFamily="49" charset="-122"/>
                <a:cs typeface="Courier New" pitchFamily="49" charset="-120"/>
              </a:rPr>
              <a:t> pwd</a:t>
            </a:r>
            <a:endParaRPr lang="en-US" sz="1300" dirty="0"/>
          </a:p>
          <a:p>
            <a:pPr algn="l" indent="0" marL="0">
              <a:lnSpc>
                <a:spcPts val="2080"/>
              </a:lnSpc>
              <a:buNone/>
            </a:pPr>
            <a:r>
              <a:rPr lang="en-US" sz="1300" dirty="0">
                <a:solidFill>
                  <a:srgbClr val="F5F5F5"/>
                </a:solidFill>
                <a:latin typeface="Courier New" pitchFamily="49" charset="0"/>
                <a:ea typeface="Courier New" pitchFamily="49" charset="-122"/>
                <a:cs typeface="Courier New" pitchFamily="49" charset="-120"/>
              </a:rPr>
              <a:t>/Users/alex</a:t>
            </a:r>
            <a:endParaRPr lang="en-US" sz="1300" dirty="0"/>
          </a:p>
          <a:p>
            <a:pPr algn="l" indent="0" marL="0">
              <a:lnSpc>
                <a:spcPts val="2080"/>
              </a:lnSpc>
              <a:buNone/>
            </a:pPr>
            <a:r>
              <a:rPr lang="en-US" sz="1300" dirty="0">
                <a:solidFill>
                  <a:srgbClr val="C19066"/>
                </a:solidFill>
                <a:latin typeface="Courier New" pitchFamily="49" charset="0"/>
                <a:ea typeface="Courier New" pitchFamily="49" charset="-122"/>
                <a:cs typeface="Courier New" pitchFamily="49" charset="-120"/>
              </a:rPr>
              <a:t>%</a:t>
            </a:r>
            <a:r>
              <a:rPr lang="en-US" sz="1300" dirty="0">
                <a:solidFill>
                  <a:srgbClr val="F5F5F5"/>
                </a:solidFill>
                <a:latin typeface="Courier New" pitchFamily="49" charset="0"/>
                <a:ea typeface="Courier New" pitchFamily="49" charset="-122"/>
                <a:cs typeface="Courier New" pitchFamily="49" charset="-120"/>
              </a:rPr>
              <a:t> mkdir incipe-projects</a:t>
            </a:r>
            <a:endParaRPr lang="en-US" sz="1300" dirty="0"/>
          </a:p>
          <a:p>
            <a:pPr algn="l" indent="0" marL="0">
              <a:lnSpc>
                <a:spcPts val="2080"/>
              </a:lnSpc>
              <a:buNone/>
            </a:pPr>
            <a:r>
              <a:rPr lang="en-US" sz="1300" dirty="0">
                <a:solidFill>
                  <a:srgbClr val="C19066"/>
                </a:solidFill>
                <a:latin typeface="Courier New" pitchFamily="49" charset="0"/>
                <a:ea typeface="Courier New" pitchFamily="49" charset="-122"/>
                <a:cs typeface="Courier New" pitchFamily="49" charset="-120"/>
              </a:rPr>
              <a:t>%</a:t>
            </a:r>
            <a:r>
              <a:rPr lang="en-US" sz="1300" dirty="0">
                <a:solidFill>
                  <a:srgbClr val="F5F5F5"/>
                </a:solidFill>
                <a:latin typeface="Courier New" pitchFamily="49" charset="0"/>
                <a:ea typeface="Courier New" pitchFamily="49" charset="-122"/>
                <a:cs typeface="Courier New" pitchFamily="49" charset="-120"/>
              </a:rPr>
              <a:t> cd incipe-projects</a:t>
            </a:r>
            <a:endParaRPr lang="en-US" sz="1300" dirty="0"/>
          </a:p>
          <a:p>
            <a:pPr algn="l" indent="0" marL="0">
              <a:lnSpc>
                <a:spcPts val="2080"/>
              </a:lnSpc>
              <a:buNone/>
            </a:pPr>
            <a:r>
              <a:rPr lang="en-US" sz="1300" dirty="0">
                <a:solidFill>
                  <a:srgbClr val="C19066"/>
                </a:solidFill>
                <a:latin typeface="Courier New" pitchFamily="49" charset="0"/>
                <a:ea typeface="Courier New" pitchFamily="49" charset="-122"/>
                <a:cs typeface="Courier New" pitchFamily="49" charset="-120"/>
              </a:rPr>
              <a:t>%</a:t>
            </a:r>
            <a:r>
              <a:rPr lang="en-US" sz="1300" dirty="0">
                <a:solidFill>
                  <a:srgbClr val="F5F5F5"/>
                </a:solidFill>
                <a:latin typeface="Courier New" pitchFamily="49" charset="0"/>
                <a:ea typeface="Courier New" pitchFamily="49" charset="-122"/>
                <a:cs typeface="Courier New" pitchFamily="49" charset="-120"/>
              </a:rPr>
              <a:t> mkdir climate-reader</a:t>
            </a:r>
            <a:endParaRPr lang="en-US" sz="1300" dirty="0"/>
          </a:p>
          <a:p>
            <a:pPr algn="l" indent="0" marL="0">
              <a:lnSpc>
                <a:spcPts val="2080"/>
              </a:lnSpc>
              <a:buNone/>
            </a:pPr>
            <a:r>
              <a:rPr lang="en-US" sz="1300" dirty="0">
                <a:solidFill>
                  <a:srgbClr val="C19066"/>
                </a:solidFill>
                <a:latin typeface="Courier New" pitchFamily="49" charset="0"/>
                <a:ea typeface="Courier New" pitchFamily="49" charset="-122"/>
                <a:cs typeface="Courier New" pitchFamily="49" charset="-120"/>
              </a:rPr>
              <a:t>%</a:t>
            </a:r>
            <a:r>
              <a:rPr lang="en-US" sz="1300" dirty="0">
                <a:solidFill>
                  <a:srgbClr val="F5F5F5"/>
                </a:solidFill>
                <a:latin typeface="Courier New" pitchFamily="49" charset="0"/>
                <a:ea typeface="Courier New" pitchFamily="49" charset="-122"/>
                <a:cs typeface="Courier New" pitchFamily="49" charset="-120"/>
              </a:rPr>
              <a:t> ls</a:t>
            </a:r>
            <a:endParaRPr lang="en-US" sz="1300" dirty="0"/>
          </a:p>
          <a:p>
            <a:pPr algn="l" indent="0" marL="0">
              <a:lnSpc>
                <a:spcPts val="2080"/>
              </a:lnSpc>
              <a:buNone/>
            </a:pPr>
            <a:r>
              <a:rPr lang="en-US" sz="1300" dirty="0">
                <a:solidFill>
                  <a:srgbClr val="F5F5F5"/>
                </a:solidFill>
                <a:latin typeface="Courier New" pitchFamily="49" charset="0"/>
                <a:ea typeface="Courier New" pitchFamily="49" charset="-122"/>
                <a:cs typeface="Courier New" pitchFamily="49" charset="-120"/>
              </a:rPr>
              <a:t>climate-reader</a:t>
            </a:r>
            <a:endParaRPr lang="en-US" sz="1300" dirty="0"/>
          </a:p>
          <a:p>
            <a:pPr algn="l" indent="0" marL="0">
              <a:lnSpc>
                <a:spcPts val="2080"/>
              </a:lnSpc>
              <a:buNone/>
            </a:pPr>
            <a:r>
              <a:rPr lang="en-US" sz="1300" dirty="0">
                <a:solidFill>
                  <a:srgbClr val="C19066"/>
                </a:solidFill>
                <a:latin typeface="Courier New" pitchFamily="49" charset="0"/>
                <a:ea typeface="Courier New" pitchFamily="49" charset="-122"/>
                <a:cs typeface="Courier New" pitchFamily="49" charset="-120"/>
              </a:rPr>
              <a:t>%</a:t>
            </a:r>
            <a:r>
              <a:rPr lang="en-US" sz="1300" dirty="0">
                <a:solidFill>
                  <a:srgbClr val="F5F5F5"/>
                </a:solidFill>
                <a:latin typeface="Courier New" pitchFamily="49" charset="0"/>
                <a:ea typeface="Courier New" pitchFamily="49" charset="-122"/>
                <a:cs typeface="Courier New" pitchFamily="49" charset="-120"/>
              </a:rPr>
              <a:t> cd climate-reader</a:t>
            </a:r>
            <a:endParaRPr lang="en-US" sz="1300" dirty="0"/>
          </a:p>
          <a:p>
            <a:pPr algn="l" indent="0" marL="0">
              <a:lnSpc>
                <a:spcPts val="2080"/>
              </a:lnSpc>
              <a:buNone/>
            </a:pPr>
            <a:r>
              <a:rPr lang="en-US" sz="1300" dirty="0">
                <a:solidFill>
                  <a:srgbClr val="C19066"/>
                </a:solidFill>
                <a:latin typeface="Courier New" pitchFamily="49" charset="0"/>
                <a:ea typeface="Courier New" pitchFamily="49" charset="-122"/>
                <a:cs typeface="Courier New" pitchFamily="49" charset="-120"/>
              </a:rPr>
              <a:t>%</a:t>
            </a:r>
            <a:r>
              <a:rPr lang="en-US" sz="1300" dirty="0">
                <a:solidFill>
                  <a:srgbClr val="F5F5F5"/>
                </a:solidFill>
                <a:latin typeface="Courier New" pitchFamily="49" charset="0"/>
                <a:ea typeface="Courier New" pitchFamily="49" charset="-122"/>
                <a:cs typeface="Courier New" pitchFamily="49" charset="-120"/>
              </a:rPr>
              <a:t> pwd</a:t>
            </a:r>
            <a:endParaRPr lang="en-US" sz="1300" dirty="0"/>
          </a:p>
          <a:p>
            <a:pPr algn="l" indent="0" marL="0">
              <a:lnSpc>
                <a:spcPts val="2080"/>
              </a:lnSpc>
              <a:buNone/>
            </a:pPr>
            <a:r>
              <a:rPr lang="en-US" sz="1300" dirty="0">
                <a:solidFill>
                  <a:srgbClr val="F5F5F5"/>
                </a:solidFill>
                <a:latin typeface="Courier New" pitchFamily="49" charset="0"/>
                <a:ea typeface="Courier New" pitchFamily="49" charset="-122"/>
                <a:cs typeface="Courier New" pitchFamily="49" charset="-120"/>
              </a:rPr>
              <a:t>/Users/alex/incipe-projects/climate-reader</a:t>
            </a:r>
            <a:endParaRPr lang="en-US" sz="1300" dirty="0"/>
          </a:p>
          <a:p>
            <a:pPr algn="l" indent="0" marL="0">
              <a:lnSpc>
                <a:spcPts val="2080"/>
              </a:lnSpc>
              <a:buNone/>
            </a:pPr>
            <a:r>
              <a:rPr lang="en-US" sz="1300" dirty="0">
                <a:solidFill>
                  <a:srgbClr val="C19066"/>
                </a:solidFill>
                <a:latin typeface="Courier New" pitchFamily="49" charset="0"/>
                <a:ea typeface="Courier New" pitchFamily="49" charset="-122"/>
                <a:cs typeface="Courier New" pitchFamily="49" charset="-120"/>
              </a:rPr>
              <a:t>%</a:t>
            </a:r>
            <a:r>
              <a:rPr lang="en-US" sz="1300" dirty="0">
                <a:solidFill>
                  <a:srgbClr val="F5F5F5"/>
                </a:solidFill>
                <a:latin typeface="Courier New" pitchFamily="49" charset="0"/>
                <a:ea typeface="Courier New" pitchFamily="49" charset="-122"/>
                <a:cs typeface="Courier New" pitchFamily="49" charset="-120"/>
              </a:rPr>
              <a:t> cd ..</a:t>
            </a:r>
            <a:endParaRPr lang="en-US" sz="1300" dirty="0"/>
          </a:p>
        </p:txBody>
      </p:sp>
      <p:sp>
        <p:nvSpPr>
          <p:cNvPr id="7" name="Text 5"/>
          <p:cNvSpPr/>
          <p:nvPr/>
        </p:nvSpPr>
        <p:spPr>
          <a:xfrm>
            <a:off x="7670800" y="17780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WHAT HAPPENED</a:t>
            </a:r>
            <a:endParaRPr lang="en-US" sz="1200" dirty="0"/>
          </a:p>
        </p:txBody>
      </p:sp>
      <p:sp>
        <p:nvSpPr>
          <p:cNvPr id="8" name="Text 6"/>
          <p:cNvSpPr/>
          <p:nvPr/>
        </p:nvSpPr>
        <p:spPr>
          <a:xfrm>
            <a:off x="7670800" y="2118320"/>
            <a:ext cx="395046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A new window starts in your home folder.</a:t>
            </a:r>
            <a:endParaRPr lang="en-US" sz="1400" dirty="0"/>
          </a:p>
        </p:txBody>
      </p:sp>
      <p:sp>
        <p:nvSpPr>
          <p:cNvPr id="9" name="Text 7"/>
          <p:cNvSpPr/>
          <p:nvPr/>
        </p:nvSpPr>
        <p:spPr>
          <a:xfrm>
            <a:off x="7670800" y="2494211"/>
            <a:ext cx="395046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mkdir makes a folder and prints nothing when it works.</a:t>
            </a:r>
            <a:endParaRPr lang="en-US" sz="1400" dirty="0"/>
          </a:p>
        </p:txBody>
      </p:sp>
      <p:sp>
        <p:nvSpPr>
          <p:cNvPr id="10" name="Text 8"/>
          <p:cNvSpPr/>
          <p:nvPr/>
        </p:nvSpPr>
        <p:spPr>
          <a:xfrm>
            <a:off x="7670800" y="3118991"/>
            <a:ext cx="395046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cd walks in; pwd checks where you are.</a:t>
            </a:r>
            <a:endParaRPr lang="en-US" sz="1400" dirty="0"/>
          </a:p>
        </p:txBody>
      </p:sp>
      <p:sp>
        <p:nvSpPr>
          <p:cNvPr id="11" name="Text 9"/>
          <p:cNvSpPr/>
          <p:nvPr/>
        </p:nvSpPr>
        <p:spPr>
          <a:xfrm>
            <a:off x="7670800" y="3494881"/>
            <a:ext cx="395046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cd .. walks back out to /Users/alex/incipe-projects.</a:t>
            </a:r>
            <a:endParaRPr lang="en-US" sz="1400" dirty="0"/>
          </a:p>
        </p:txBody>
      </p:sp>
      <p:pic>
        <p:nvPicPr>
          <p:cNvPr id="12"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3" name="Text 10"/>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4" name="Text 11"/>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Making &amp; Changing Things</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Make, copy, move, remove.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1854200"/>
          <a:ext cx="10807700" cy="2316063"/>
        </p:xfrm>
        <a:graphic>
          <a:graphicData uri="http://schemas.openxmlformats.org/drawingml/2006/table">
            <a:tbl>
              <a:tblPr/>
              <a:tblGrid>
                <a:gridCol w="2161540"/>
                <a:gridCol w="5187696"/>
                <a:gridCol w="3458464"/>
              </a:tblGrid>
              <a:tr h="386011">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Command</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What it does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Example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mkdir name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Makes a new folder</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mkdir sketches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touch name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Makes a new, empty file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touch notes.txt</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cp from to</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Copies a file — the original stays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cp notes.txt backup.txt</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mv from to</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Moves or renames — the original is gone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mv backup.txt old-notes.txt</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rm name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Removes (deletes) a file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rm old-notes.txt</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Making &amp; Changing Things</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Copy, rename, delete — and check with ls.</a:t>
            </a:r>
            <a:endParaRPr lang="en-US" sz="2800" dirty="0"/>
          </a:p>
        </p:txBody>
      </p:sp>
      <p:sp>
        <p:nvSpPr>
          <p:cNvPr id="5" name="Shape 3"/>
          <p:cNvSpPr/>
          <p:nvPr/>
        </p:nvSpPr>
        <p:spPr>
          <a:xfrm>
            <a:off x="685800" y="1778000"/>
            <a:ext cx="6604000" cy="3429000"/>
          </a:xfrm>
          <a:prstGeom prst="rect">
            <a:avLst/>
          </a:prstGeom>
          <a:solidFill>
            <a:srgbClr val="2F2F32"/>
          </a:solidFill>
          <a:ln/>
        </p:spPr>
      </p:sp>
      <p:sp>
        <p:nvSpPr>
          <p:cNvPr id="6" name="Text 4"/>
          <p:cNvSpPr/>
          <p:nvPr/>
        </p:nvSpPr>
        <p:spPr>
          <a:xfrm>
            <a:off x="939800" y="1968500"/>
            <a:ext cx="6409690" cy="2666603"/>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C19066"/>
                </a:solidFill>
                <a:latin typeface="Courier New" pitchFamily="49" charset="0"/>
                <a:ea typeface="Courier New" pitchFamily="49" charset="-122"/>
                <a:cs typeface="Courier New" pitchFamily="49" charset="-120"/>
              </a:rPr>
              <a:t>%</a:t>
            </a:r>
            <a:r>
              <a:rPr lang="en-US" sz="1300" dirty="0">
                <a:solidFill>
                  <a:srgbClr val="F5F5F5"/>
                </a:solidFill>
                <a:latin typeface="Courier New" pitchFamily="49" charset="0"/>
                <a:ea typeface="Courier New" pitchFamily="49" charset="-122"/>
                <a:cs typeface="Courier New" pitchFamily="49" charset="-120"/>
              </a:rPr>
              <a:t> touch notes.txt</a:t>
            </a:r>
            <a:endParaRPr lang="en-US" sz="1300" dirty="0"/>
          </a:p>
          <a:p>
            <a:pPr algn="l" indent="0" marL="0">
              <a:lnSpc>
                <a:spcPts val="2080"/>
              </a:lnSpc>
              <a:buNone/>
            </a:pPr>
            <a:r>
              <a:rPr lang="en-US" sz="1300" dirty="0">
                <a:solidFill>
                  <a:srgbClr val="C19066"/>
                </a:solidFill>
                <a:latin typeface="Courier New" pitchFamily="49" charset="0"/>
                <a:ea typeface="Courier New" pitchFamily="49" charset="-122"/>
                <a:cs typeface="Courier New" pitchFamily="49" charset="-120"/>
              </a:rPr>
              <a:t>%</a:t>
            </a:r>
            <a:r>
              <a:rPr lang="en-US" sz="1300" dirty="0">
                <a:solidFill>
                  <a:srgbClr val="F5F5F5"/>
                </a:solidFill>
                <a:latin typeface="Courier New" pitchFamily="49" charset="0"/>
                <a:ea typeface="Courier New" pitchFamily="49" charset="-122"/>
                <a:cs typeface="Courier New" pitchFamily="49" charset="-120"/>
              </a:rPr>
              <a:t> cp notes.txt backup.txt</a:t>
            </a:r>
            <a:endParaRPr lang="en-US" sz="1300" dirty="0"/>
          </a:p>
          <a:p>
            <a:pPr algn="l" indent="0" marL="0">
              <a:lnSpc>
                <a:spcPts val="2080"/>
              </a:lnSpc>
              <a:buNone/>
            </a:pPr>
            <a:r>
              <a:rPr lang="en-US" sz="1300" dirty="0">
                <a:solidFill>
                  <a:srgbClr val="C19066"/>
                </a:solidFill>
                <a:latin typeface="Courier New" pitchFamily="49" charset="0"/>
                <a:ea typeface="Courier New" pitchFamily="49" charset="-122"/>
                <a:cs typeface="Courier New" pitchFamily="49" charset="-120"/>
              </a:rPr>
              <a:t>%</a:t>
            </a:r>
            <a:r>
              <a:rPr lang="en-US" sz="1300" dirty="0">
                <a:solidFill>
                  <a:srgbClr val="F5F5F5"/>
                </a:solidFill>
                <a:latin typeface="Courier New" pitchFamily="49" charset="0"/>
                <a:ea typeface="Courier New" pitchFamily="49" charset="-122"/>
                <a:cs typeface="Courier New" pitchFamily="49" charset="-120"/>
              </a:rPr>
              <a:t> ls</a:t>
            </a:r>
            <a:endParaRPr lang="en-US" sz="1300" dirty="0"/>
          </a:p>
          <a:p>
            <a:pPr algn="l" indent="0" marL="0">
              <a:lnSpc>
                <a:spcPts val="2080"/>
              </a:lnSpc>
              <a:buNone/>
            </a:pPr>
            <a:r>
              <a:rPr lang="en-US" sz="1300" dirty="0">
                <a:solidFill>
                  <a:srgbClr val="F5F5F5"/>
                </a:solidFill>
                <a:latin typeface="Courier New" pitchFamily="49" charset="0"/>
                <a:ea typeface="Courier New" pitchFamily="49" charset="-122"/>
                <a:cs typeface="Courier New" pitchFamily="49" charset="-120"/>
              </a:rPr>
              <a:t>backup.txt  notes.txt</a:t>
            </a:r>
            <a:endParaRPr lang="en-US" sz="1300" dirty="0"/>
          </a:p>
          <a:p>
            <a:pPr algn="l" indent="0" marL="0">
              <a:lnSpc>
                <a:spcPts val="2080"/>
              </a:lnSpc>
              <a:buNone/>
            </a:pPr>
            <a:r>
              <a:rPr lang="en-US" sz="1300" dirty="0">
                <a:solidFill>
                  <a:srgbClr val="C19066"/>
                </a:solidFill>
                <a:latin typeface="Courier New" pitchFamily="49" charset="0"/>
                <a:ea typeface="Courier New" pitchFamily="49" charset="-122"/>
                <a:cs typeface="Courier New" pitchFamily="49" charset="-120"/>
              </a:rPr>
              <a:t>%</a:t>
            </a:r>
            <a:r>
              <a:rPr lang="en-US" sz="1300" dirty="0">
                <a:solidFill>
                  <a:srgbClr val="F5F5F5"/>
                </a:solidFill>
                <a:latin typeface="Courier New" pitchFamily="49" charset="0"/>
                <a:ea typeface="Courier New" pitchFamily="49" charset="-122"/>
                <a:cs typeface="Courier New" pitchFamily="49" charset="-120"/>
              </a:rPr>
              <a:t> mv backup.txt old-notes.txt</a:t>
            </a:r>
            <a:endParaRPr lang="en-US" sz="1300" dirty="0"/>
          </a:p>
          <a:p>
            <a:pPr algn="l" indent="0" marL="0">
              <a:lnSpc>
                <a:spcPts val="2080"/>
              </a:lnSpc>
              <a:buNone/>
            </a:pPr>
            <a:r>
              <a:rPr lang="en-US" sz="1300" dirty="0">
                <a:solidFill>
                  <a:srgbClr val="C19066"/>
                </a:solidFill>
                <a:latin typeface="Courier New" pitchFamily="49" charset="0"/>
                <a:ea typeface="Courier New" pitchFamily="49" charset="-122"/>
                <a:cs typeface="Courier New" pitchFamily="49" charset="-120"/>
              </a:rPr>
              <a:t>%</a:t>
            </a:r>
            <a:r>
              <a:rPr lang="en-US" sz="1300" dirty="0">
                <a:solidFill>
                  <a:srgbClr val="F5F5F5"/>
                </a:solidFill>
                <a:latin typeface="Courier New" pitchFamily="49" charset="0"/>
                <a:ea typeface="Courier New" pitchFamily="49" charset="-122"/>
                <a:cs typeface="Courier New" pitchFamily="49" charset="-120"/>
              </a:rPr>
              <a:t> ls</a:t>
            </a:r>
            <a:endParaRPr lang="en-US" sz="1300" dirty="0"/>
          </a:p>
          <a:p>
            <a:pPr algn="l" indent="0" marL="0">
              <a:lnSpc>
                <a:spcPts val="2080"/>
              </a:lnSpc>
              <a:buNone/>
            </a:pPr>
            <a:r>
              <a:rPr lang="en-US" sz="1300" dirty="0">
                <a:solidFill>
                  <a:srgbClr val="F5F5F5"/>
                </a:solidFill>
                <a:latin typeface="Courier New" pitchFamily="49" charset="0"/>
                <a:ea typeface="Courier New" pitchFamily="49" charset="-122"/>
                <a:cs typeface="Courier New" pitchFamily="49" charset="-120"/>
              </a:rPr>
              <a:t>notes.txt  old-notes.txt</a:t>
            </a:r>
            <a:endParaRPr lang="en-US" sz="1300" dirty="0"/>
          </a:p>
          <a:p>
            <a:pPr algn="l" indent="0" marL="0">
              <a:lnSpc>
                <a:spcPts val="2080"/>
              </a:lnSpc>
              <a:buNone/>
            </a:pPr>
            <a:r>
              <a:rPr lang="en-US" sz="1300" dirty="0">
                <a:solidFill>
                  <a:srgbClr val="C19066"/>
                </a:solidFill>
                <a:latin typeface="Courier New" pitchFamily="49" charset="0"/>
                <a:ea typeface="Courier New" pitchFamily="49" charset="-122"/>
                <a:cs typeface="Courier New" pitchFamily="49" charset="-120"/>
              </a:rPr>
              <a:t>%</a:t>
            </a:r>
            <a:r>
              <a:rPr lang="en-US" sz="1300" dirty="0">
                <a:solidFill>
                  <a:srgbClr val="F5F5F5"/>
                </a:solidFill>
                <a:latin typeface="Courier New" pitchFamily="49" charset="0"/>
                <a:ea typeface="Courier New" pitchFamily="49" charset="-122"/>
                <a:cs typeface="Courier New" pitchFamily="49" charset="-120"/>
              </a:rPr>
              <a:t> rm old-notes.txt</a:t>
            </a:r>
            <a:endParaRPr lang="en-US" sz="1300" dirty="0"/>
          </a:p>
          <a:p>
            <a:pPr algn="l" indent="0" marL="0">
              <a:lnSpc>
                <a:spcPts val="2080"/>
              </a:lnSpc>
              <a:buNone/>
            </a:pPr>
            <a:r>
              <a:rPr lang="en-US" sz="1300" dirty="0">
                <a:solidFill>
                  <a:srgbClr val="C19066"/>
                </a:solidFill>
                <a:latin typeface="Courier New" pitchFamily="49" charset="0"/>
                <a:ea typeface="Courier New" pitchFamily="49" charset="-122"/>
                <a:cs typeface="Courier New" pitchFamily="49" charset="-120"/>
              </a:rPr>
              <a:t>%</a:t>
            </a:r>
            <a:r>
              <a:rPr lang="en-US" sz="1300" dirty="0">
                <a:solidFill>
                  <a:srgbClr val="F5F5F5"/>
                </a:solidFill>
                <a:latin typeface="Courier New" pitchFamily="49" charset="0"/>
                <a:ea typeface="Courier New" pitchFamily="49" charset="-122"/>
                <a:cs typeface="Courier New" pitchFamily="49" charset="-120"/>
              </a:rPr>
              <a:t> ls</a:t>
            </a:r>
            <a:endParaRPr lang="en-US" sz="1300" dirty="0"/>
          </a:p>
          <a:p>
            <a:pPr algn="l" indent="0" marL="0">
              <a:lnSpc>
                <a:spcPts val="2080"/>
              </a:lnSpc>
              <a:buNone/>
            </a:pPr>
            <a:r>
              <a:rPr lang="en-US" sz="1300" dirty="0">
                <a:solidFill>
                  <a:srgbClr val="F5F5F5"/>
                </a:solidFill>
                <a:latin typeface="Courier New" pitchFamily="49" charset="0"/>
                <a:ea typeface="Courier New" pitchFamily="49" charset="-122"/>
                <a:cs typeface="Courier New" pitchFamily="49" charset="-120"/>
              </a:rPr>
              <a:t>notes.txt</a:t>
            </a:r>
            <a:endParaRPr lang="en-US" sz="1300" dirty="0"/>
          </a:p>
        </p:txBody>
      </p:sp>
      <p:sp>
        <p:nvSpPr>
          <p:cNvPr id="7" name="Text 5"/>
          <p:cNvSpPr/>
          <p:nvPr/>
        </p:nvSpPr>
        <p:spPr>
          <a:xfrm>
            <a:off x="7670800" y="17780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WHAT HAPPENED</a:t>
            </a:r>
            <a:endParaRPr lang="en-US" sz="1200" dirty="0"/>
          </a:p>
        </p:txBody>
      </p:sp>
      <p:sp>
        <p:nvSpPr>
          <p:cNvPr id="8" name="Text 6"/>
          <p:cNvSpPr/>
          <p:nvPr/>
        </p:nvSpPr>
        <p:spPr>
          <a:xfrm>
            <a:off x="7670800" y="2118320"/>
            <a:ext cx="395046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cp made a second file; the original stayed.</a:t>
            </a:r>
            <a:endParaRPr lang="en-US" sz="1400" dirty="0"/>
          </a:p>
        </p:txBody>
      </p:sp>
      <p:sp>
        <p:nvSpPr>
          <p:cNvPr id="9" name="Text 7"/>
          <p:cNvSpPr/>
          <p:nvPr/>
        </p:nvSpPr>
        <p:spPr>
          <a:xfrm>
            <a:off x="7670800" y="2494211"/>
            <a:ext cx="395046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mv renamed backup.txt. No copy was left behind.</a:t>
            </a:r>
            <a:endParaRPr lang="en-US" sz="1400" dirty="0"/>
          </a:p>
        </p:txBody>
      </p:sp>
      <p:sp>
        <p:nvSpPr>
          <p:cNvPr id="10" name="Text 8"/>
          <p:cNvSpPr/>
          <p:nvPr/>
        </p:nvSpPr>
        <p:spPr>
          <a:xfrm>
            <a:off x="7670800" y="3118991"/>
            <a:ext cx="395046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rm deleted old-notes.txt. Only notes.txt is left.</a:t>
            </a:r>
            <a:endParaRPr lang="en-US" sz="1400" dirty="0"/>
          </a:p>
        </p:txBody>
      </p:sp>
      <p:sp>
        <p:nvSpPr>
          <p:cNvPr id="11" name="Text 9"/>
          <p:cNvSpPr/>
          <p:nvPr/>
        </p:nvSpPr>
        <p:spPr>
          <a:xfrm>
            <a:off x="7670800" y="3494881"/>
            <a:ext cx="395046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ls lists in alphabetical order.</a:t>
            </a:r>
            <a:endParaRPr lang="en-US" sz="1400" dirty="0"/>
          </a:p>
        </p:txBody>
      </p:sp>
      <p:pic>
        <p:nvPicPr>
          <p:cNvPr id="12"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3" name="Text 10"/>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4" name="Text 11"/>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24383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Be Careful</a:t>
            </a:r>
            <a:endParaRPr lang="en-US" sz="1600" dirty="0"/>
          </a:p>
        </p:txBody>
      </p:sp>
      <p:sp>
        <p:nvSpPr>
          <p:cNvPr id="4" name="Text 2"/>
          <p:cNvSpPr/>
          <p:nvPr>
            <p:ph type="title"/>
          </p:nvPr>
        </p:nvSpPr>
        <p:spPr>
          <a:xfrm>
            <a:off x="685800" y="2095500"/>
            <a:ext cx="9810750"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D1D1E"/>
                </a:solidFill>
                <a:latin typeface="Helvetica Neue" pitchFamily="34" charset="0"/>
                <a:ea typeface="Helvetica Neue" pitchFamily="34" charset="-122"/>
                <a:cs typeface="Helvetica Neue" pitchFamily="34" charset="-120"/>
              </a:rPr>
              <a:t>rm does not use the Bin.</a:t>
            </a:r>
            <a:endParaRPr lang="en-US" sz="4800" dirty="0"/>
          </a:p>
        </p:txBody>
      </p:sp>
      <p:sp>
        <p:nvSpPr>
          <p:cNvPr id="5" name="Text 3"/>
          <p:cNvSpPr/>
          <p:nvPr/>
        </p:nvSpPr>
        <p:spPr>
          <a:xfrm>
            <a:off x="685800" y="3302000"/>
            <a:ext cx="78486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00000"/>
                </a:solidFill>
                <a:latin typeface="Helvetica Neue" pitchFamily="34" charset="0"/>
                <a:ea typeface="Helvetica Neue" pitchFamily="34" charset="-122"/>
                <a:cs typeface="Helvetica Neue" pitchFamily="34" charset="-120"/>
              </a:rPr>
              <a:t>A file you rm is gone for good — there is no undo. Check the name twice before you press Return.</a:t>
            </a:r>
            <a:endParaRPr lang="en-US" sz="1600" dirty="0"/>
          </a:p>
        </p:txBody>
      </p:sp>
      <p:sp>
        <p:nvSpPr>
          <p:cNvPr id="6" name="Text 4"/>
          <p:cNvSpPr/>
          <p:nvPr/>
        </p:nvSpPr>
        <p:spPr>
          <a:xfrm>
            <a:off x="685800" y="4318000"/>
            <a:ext cx="78486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00000"/>
                </a:solidFill>
                <a:latin typeface="Helvetica Neue" pitchFamily="34" charset="0"/>
                <a:ea typeface="Helvetica Neue" pitchFamily="34" charset="-122"/>
                <a:cs typeface="Helvetica Neue" pitchFamily="34" charset="-120"/>
              </a:rPr>
              <a:t>To delete a folder you need rm -r name: the folder and everything in it. Be even more careful with that one.</a:t>
            </a:r>
            <a:endParaRPr lang="en-US" sz="1600" dirty="0"/>
          </a:p>
        </p:txBody>
      </p:sp>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5"/>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6"/>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When It Goes Wrong</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terminal tells you what went wrong in one line.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2171700"/>
          <a:ext cx="10807700" cy="1668413"/>
        </p:xfrm>
        <a:graphic>
          <a:graphicData uri="http://schemas.openxmlformats.org/drawingml/2006/table">
            <a:tbl>
              <a:tblPr/>
              <a:tblGrid>
                <a:gridCol w="2593848"/>
                <a:gridCol w="4106926"/>
                <a:gridCol w="4106926"/>
              </a:tblGrid>
              <a:tr h="359321">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You typed</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It said</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Why</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cd blink</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cd: no such file or directory: blink</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There is no folder called blink here. Check with ls.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mkdir climate-reader</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mkdir: climate-reader: File exists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That folder is already there.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59045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rm climate-reader</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rm: climate-reader: is a directory</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It is a folder, so plain rm refuses. Nothing was deleted.</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A Tidy Project Folder</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One folder for everything, one folder per project.</a:t>
            </a:r>
            <a:endParaRPr lang="en-US" sz="2800" dirty="0"/>
          </a:p>
        </p:txBody>
      </p:sp>
      <p:sp>
        <p:nvSpPr>
          <p:cNvPr id="5" name="Text 3"/>
          <p:cNvSpPr/>
          <p:nvPr/>
        </p:nvSpPr>
        <p:spPr>
          <a:xfrm>
            <a:off x="685800" y="1905000"/>
            <a:ext cx="4445000" cy="1930301"/>
          </a:xfrm>
          <a:prstGeom prst="rect">
            <a:avLst/>
          </a:prstGeom>
          <a:solidFill>
            <a:srgbClr val="E1E1E1"/>
          </a:solidFill>
          <a:ln/>
        </p:spPr>
        <p:txBody>
          <a:bodyPr wrap="square" lIns="254000" tIns="254000" rIns="135890" bIns="228600" rtlCol="0" anchor="t">
            <a:normAutofit/>
          </a:bodyPr>
          <a:lstStyle/>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incipe-projects/</a:t>
            </a:r>
            <a:endParaRPr lang="en-US" sz="1400" dirty="0"/>
          </a:p>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  climate-reader/</a:t>
            </a:r>
            <a:endParaRPr lang="en-US" sz="1400" dirty="0"/>
          </a:p>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    climate-reader.ino</a:t>
            </a:r>
            <a:endParaRPr lang="en-US" sz="1400" dirty="0"/>
          </a:p>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    notes.md</a:t>
            </a:r>
            <a:endParaRPr lang="en-US" sz="1400" dirty="0"/>
          </a:p>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    prompts.md</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778500" y="1917700"/>
          <a:ext cx="5727700" cy="1899543"/>
        </p:xfrm>
        <a:graphic>
          <a:graphicData uri="http://schemas.openxmlformats.org/drawingml/2006/table">
            <a:tbl>
              <a:tblPr/>
              <a:tblGrid>
                <a:gridCol w="2405634"/>
                <a:gridCol w="3322066"/>
              </a:tblGrid>
              <a:tr h="359321">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Rule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Why</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59045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Lowercase words joined with -</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A name with spaces needs quotes in the terminal: cd "climate reader"</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One project per folder</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Git looks after one folder at a time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59045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Keep a prompts.md beside the code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The prompts that worked are worth reusing (Lesson 1)</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24383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Git &amp; GitHub</a:t>
            </a:r>
            <a:endParaRPr lang="en-US" sz="1600" dirty="0"/>
          </a:p>
        </p:txBody>
      </p:sp>
      <p:sp>
        <p:nvSpPr>
          <p:cNvPr id="4" name="Text 2"/>
          <p:cNvSpPr/>
          <p:nvPr>
            <p:ph type="title"/>
          </p:nvPr>
        </p:nvSpPr>
        <p:spPr>
          <a:xfrm>
            <a:off x="685800" y="2095500"/>
            <a:ext cx="11430000"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D1D1E"/>
                </a:solidFill>
                <a:latin typeface="Helvetica Neue" pitchFamily="34" charset="0"/>
                <a:ea typeface="Helvetica Neue" pitchFamily="34" charset="-122"/>
                <a:cs typeface="Helvetica Neue" pitchFamily="34" charset="-120"/>
              </a:rPr>
              <a:t>Git gives your code save points.</a:t>
            </a:r>
            <a:endParaRPr lang="en-US" sz="4800" dirty="0"/>
          </a:p>
        </p:txBody>
      </p:sp>
      <p:sp>
        <p:nvSpPr>
          <p:cNvPr id="5" name="Text 3"/>
          <p:cNvSpPr/>
          <p:nvPr/>
        </p:nvSpPr>
        <p:spPr>
          <a:xfrm>
            <a:off x="685800" y="3683000"/>
            <a:ext cx="78486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00000"/>
                </a:solidFill>
                <a:latin typeface="Helvetica Neue" pitchFamily="34" charset="0"/>
                <a:ea typeface="Helvetica Neue" pitchFamily="34" charset="-122"/>
                <a:cs typeface="Helvetica Neue" pitchFamily="34" charset="-120"/>
              </a:rPr>
              <a:t>Like a video game: save before the hard level, and if it goes wrong, load the save and try again. Each save point is a commit, with a label saying what changed.</a:t>
            </a:r>
            <a:endParaRPr lang="en-US" sz="1600" dirty="0"/>
          </a:p>
        </p:txBody>
      </p:sp>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Once per Computer</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Tell Git who you are.</a:t>
            </a:r>
            <a:endParaRPr lang="en-US" sz="2800" dirty="0"/>
          </a:p>
        </p:txBody>
      </p:sp>
      <p:sp>
        <p:nvSpPr>
          <p:cNvPr id="5" name="Text 3"/>
          <p:cNvSpPr/>
          <p:nvPr/>
        </p:nvSpPr>
        <p:spPr>
          <a:xfrm>
            <a:off x="685800" y="1841500"/>
            <a:ext cx="10820400" cy="1117600"/>
          </a:xfrm>
          <a:prstGeom prst="rect">
            <a:avLst/>
          </a:prstGeom>
          <a:solidFill>
            <a:srgbClr val="2F2F32"/>
          </a:solidFill>
          <a:ln/>
        </p:spPr>
        <p:txBody>
          <a:bodyPr wrap="square" lIns="304800" tIns="254000" rIns="0" bIns="228600" rtlCol="0" anchor="t">
            <a:normAutofit/>
          </a:bodyPr>
          <a:lstStyle/>
          <a:p>
            <a:pPr algn="l" indent="0" marL="0">
              <a:lnSpc>
                <a:spcPts val="2400"/>
              </a:lnSpc>
              <a:buNone/>
            </a:pPr>
            <a:r>
              <a:rPr lang="en-US" sz="1500" dirty="0">
                <a:solidFill>
                  <a:srgbClr val="C19066"/>
                </a:solidFill>
                <a:latin typeface="Courier New" pitchFamily="49" charset="0"/>
                <a:ea typeface="Courier New" pitchFamily="49" charset="-122"/>
                <a:cs typeface="Courier New" pitchFamily="49" charset="-120"/>
              </a:rPr>
              <a:t>%</a:t>
            </a:r>
            <a:r>
              <a:rPr lang="en-US" sz="1500" dirty="0">
                <a:solidFill>
                  <a:srgbClr val="F5F5F5"/>
                </a:solidFill>
                <a:latin typeface="Courier New" pitchFamily="49" charset="0"/>
                <a:ea typeface="Courier New" pitchFamily="49" charset="-122"/>
                <a:cs typeface="Courier New" pitchFamily="49" charset="-120"/>
              </a:rPr>
              <a:t> git config --global user.name "Alex Chan"</a:t>
            </a:r>
            <a:endParaRPr lang="en-US" sz="1500" dirty="0"/>
          </a:p>
          <a:p>
            <a:pPr algn="l" indent="0" marL="0">
              <a:lnSpc>
                <a:spcPts val="2400"/>
              </a:lnSpc>
              <a:buNone/>
            </a:pPr>
            <a:r>
              <a:rPr lang="en-US" sz="1500" dirty="0">
                <a:solidFill>
                  <a:srgbClr val="C19066"/>
                </a:solidFill>
                <a:latin typeface="Courier New" pitchFamily="49" charset="0"/>
                <a:ea typeface="Courier New" pitchFamily="49" charset="-122"/>
                <a:cs typeface="Courier New" pitchFamily="49" charset="-120"/>
              </a:rPr>
              <a:t>%</a:t>
            </a:r>
            <a:r>
              <a:rPr lang="en-US" sz="1500" dirty="0">
                <a:solidFill>
                  <a:srgbClr val="F5F5F5"/>
                </a:solidFill>
                <a:latin typeface="Courier New" pitchFamily="49" charset="0"/>
                <a:ea typeface="Courier New" pitchFamily="49" charset="-122"/>
                <a:cs typeface="Courier New" pitchFamily="49" charset="-120"/>
              </a:rPr>
              <a:t> git config --global user.email "alex@example.com"</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98500" y="3441700"/>
          <a:ext cx="10807700" cy="1158032"/>
        </p:xfrm>
        <a:graphic>
          <a:graphicData uri="http://schemas.openxmlformats.org/drawingml/2006/table">
            <a:tbl>
              <a:tblPr/>
              <a:tblGrid>
                <a:gridCol w="1296924"/>
                <a:gridCol w="9510776"/>
              </a:tblGrid>
              <a:tr h="386011">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Line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What it does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1</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Sets the name shown on your commits. Use your own.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2</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Sets the email shown on your commits. Use the one you will use for GitHub.</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Your First Save Point</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Init once. Then add and commit.</a:t>
            </a:r>
            <a:endParaRPr lang="en-US" sz="2800" dirty="0"/>
          </a:p>
        </p:txBody>
      </p:sp>
      <p:sp>
        <p:nvSpPr>
          <p:cNvPr id="5" name="Shape 3"/>
          <p:cNvSpPr/>
          <p:nvPr/>
        </p:nvSpPr>
        <p:spPr>
          <a:xfrm>
            <a:off x="685800" y="1778000"/>
            <a:ext cx="10820400" cy="3810000"/>
          </a:xfrm>
          <a:prstGeom prst="rect">
            <a:avLst/>
          </a:prstGeom>
          <a:solidFill>
            <a:srgbClr val="2F2F32"/>
          </a:solidFill>
          <a:ln/>
        </p:spPr>
      </p:sp>
      <p:sp>
        <p:nvSpPr>
          <p:cNvPr id="6" name="Text 4"/>
          <p:cNvSpPr/>
          <p:nvPr/>
        </p:nvSpPr>
        <p:spPr>
          <a:xfrm>
            <a:off x="939800" y="1936750"/>
            <a:ext cx="10621772" cy="3225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19066"/>
                </a:solidFill>
                <a:latin typeface="Courier New" pitchFamily="49" charset="0"/>
                <a:ea typeface="Courier New" pitchFamily="49" charset="-122"/>
                <a:cs typeface="Courier New" pitchFamily="49" charset="-120"/>
              </a:rPr>
              <a:t>%</a:t>
            </a:r>
            <a:r>
              <a:rPr lang="en-US" sz="1200" dirty="0">
                <a:solidFill>
                  <a:srgbClr val="F5F5F5"/>
                </a:solidFill>
                <a:latin typeface="Courier New" pitchFamily="49" charset="0"/>
                <a:ea typeface="Courier New" pitchFamily="49" charset="-122"/>
                <a:cs typeface="Courier New" pitchFamily="49" charset="-120"/>
              </a:rPr>
              <a:t> git init</a:t>
            </a:r>
            <a:endParaRPr lang="en-US" sz="1200" dirty="0"/>
          </a:p>
          <a:p>
            <a:pPr algn="l" indent="0" marL="0">
              <a:lnSpc>
                <a:spcPts val="1800"/>
              </a:lnSpc>
              <a:buNone/>
            </a:pPr>
            <a:r>
              <a:rPr lang="en-US" sz="1200" dirty="0">
                <a:solidFill>
                  <a:srgbClr val="F5F5F5"/>
                </a:solidFill>
                <a:latin typeface="Courier New" pitchFamily="49" charset="0"/>
                <a:ea typeface="Courier New" pitchFamily="49" charset="-122"/>
                <a:cs typeface="Courier New" pitchFamily="49" charset="-120"/>
              </a:rPr>
              <a:t>Initialized empty Git repository in /Users/alex/incipe-projects/climate-reader/.git/</a:t>
            </a:r>
            <a:endParaRPr lang="en-US" sz="1200" dirty="0"/>
          </a:p>
          <a:p>
            <a:pPr algn="l" indent="0" marL="0">
              <a:lnSpc>
                <a:spcPts val="1800"/>
              </a:lnSpc>
              <a:buNone/>
            </a:pPr>
            <a:r>
              <a:rPr lang="en-US" sz="1200" dirty="0">
                <a:solidFill>
                  <a:srgbClr val="C19066"/>
                </a:solidFill>
                <a:latin typeface="Courier New" pitchFamily="49" charset="0"/>
                <a:ea typeface="Courier New" pitchFamily="49" charset="-122"/>
                <a:cs typeface="Courier New" pitchFamily="49" charset="-120"/>
              </a:rPr>
              <a:t>%</a:t>
            </a:r>
            <a:r>
              <a:rPr lang="en-US" sz="1200" dirty="0">
                <a:solidFill>
                  <a:srgbClr val="F5F5F5"/>
                </a:solidFill>
                <a:latin typeface="Courier New" pitchFamily="49" charset="0"/>
                <a:ea typeface="Courier New" pitchFamily="49" charset="-122"/>
                <a:cs typeface="Courier New" pitchFamily="49" charset="-120"/>
              </a:rPr>
              <a:t> git status</a:t>
            </a:r>
            <a:endParaRPr lang="en-US" sz="1200" dirty="0"/>
          </a:p>
          <a:p>
            <a:pPr algn="l" indent="0" marL="0">
              <a:lnSpc>
                <a:spcPts val="1800"/>
              </a:lnSpc>
              <a:buNone/>
            </a:pPr>
            <a:r>
              <a:rPr lang="en-US" sz="1200" dirty="0">
                <a:solidFill>
                  <a:srgbClr val="F5F5F5"/>
                </a:solidFill>
                <a:latin typeface="Courier New" pitchFamily="49" charset="0"/>
                <a:ea typeface="Courier New" pitchFamily="49" charset="-122"/>
                <a:cs typeface="Courier New" pitchFamily="49" charset="-120"/>
              </a:rPr>
              <a:t>On branch main</a:t>
            </a:r>
            <a:endParaRPr lang="en-US" sz="1200" dirty="0"/>
          </a:p>
          <a:p>
            <a:pPr algn="l" indent="0" marL="0">
              <a:lnSpc>
                <a:spcPts val="1800"/>
              </a:lnSpc>
              <a:buNone/>
            </a:pPr>
            <a:r>
              <a:rPr lang="en-US" sz="1200" dirty="0">
                <a:solidFill>
                  <a:srgbClr val="F5F5F5"/>
                </a:solidFill>
                <a:latin typeface="Courier New" pitchFamily="49" charset="0"/>
                <a:ea typeface="Courier New" pitchFamily="49" charset="-122"/>
                <a:cs typeface="Courier New" pitchFamily="49" charset="-120"/>
              </a:rPr>
              <a:t>No commits yet</a:t>
            </a:r>
            <a:endParaRPr lang="en-US" sz="1200" dirty="0"/>
          </a:p>
          <a:p>
            <a:pPr algn="l" indent="0" marL="0">
              <a:lnSpc>
                <a:spcPts val="1800"/>
              </a:lnSpc>
              <a:buNone/>
            </a:pPr>
            <a:r>
              <a:rPr lang="en-US" sz="1200" dirty="0">
                <a:solidFill>
                  <a:srgbClr val="F5F5F5"/>
                </a:solidFill>
                <a:latin typeface="Courier New" pitchFamily="49" charset="0"/>
                <a:ea typeface="Courier New" pitchFamily="49" charset="-122"/>
                <a:cs typeface="Courier New" pitchFamily="49" charset="-120"/>
              </a:rPr>
              <a:t>Untracked files:</a:t>
            </a:r>
            <a:endParaRPr lang="en-US" sz="1200" dirty="0"/>
          </a:p>
          <a:p>
            <a:pPr algn="l" indent="0" marL="0">
              <a:lnSpc>
                <a:spcPts val="1800"/>
              </a:lnSpc>
              <a:buNone/>
            </a:pPr>
            <a:r>
              <a:rPr lang="en-US" sz="1200" dirty="0">
                <a:solidFill>
                  <a:srgbClr val="F5F5F5"/>
                </a:solidFill>
                <a:latin typeface="Courier New" pitchFamily="49" charset="0"/>
                <a:ea typeface="Courier New" pitchFamily="49" charset="-122"/>
                <a:cs typeface="Courier New" pitchFamily="49" charset="-120"/>
              </a:rPr>
              <a:t>    climate-reader.ino</a:t>
            </a:r>
            <a:endParaRPr lang="en-US" sz="1200" dirty="0"/>
          </a:p>
          <a:p>
            <a:pPr algn="l" indent="0" marL="0">
              <a:lnSpc>
                <a:spcPts val="1800"/>
              </a:lnSpc>
              <a:buNone/>
            </a:pPr>
            <a:r>
              <a:rPr lang="en-US" sz="1200" dirty="0">
                <a:solidFill>
                  <a:srgbClr val="F5F5F5"/>
                </a:solidFill>
                <a:latin typeface="Courier New" pitchFamily="49" charset="0"/>
                <a:ea typeface="Courier New" pitchFamily="49" charset="-122"/>
                <a:cs typeface="Courier New" pitchFamily="49" charset="-120"/>
              </a:rPr>
              <a:t>    notes.txt</a:t>
            </a:r>
            <a:endParaRPr lang="en-US" sz="1200" dirty="0"/>
          </a:p>
          <a:p>
            <a:pPr algn="l" indent="0" marL="0">
              <a:lnSpc>
                <a:spcPts val="1800"/>
              </a:lnSpc>
              <a:buNone/>
            </a:pPr>
            <a:r>
              <a:rPr lang="en-US" sz="1200" dirty="0">
                <a:solidFill>
                  <a:srgbClr val="C19066"/>
                </a:solidFill>
                <a:latin typeface="Courier New" pitchFamily="49" charset="0"/>
                <a:ea typeface="Courier New" pitchFamily="49" charset="-122"/>
                <a:cs typeface="Courier New" pitchFamily="49" charset="-120"/>
              </a:rPr>
              <a:t>%</a:t>
            </a:r>
            <a:r>
              <a:rPr lang="en-US" sz="1200" dirty="0">
                <a:solidFill>
                  <a:srgbClr val="F5F5F5"/>
                </a:solidFill>
                <a:latin typeface="Courier New" pitchFamily="49" charset="0"/>
                <a:ea typeface="Courier New" pitchFamily="49" charset="-122"/>
                <a:cs typeface="Courier New" pitchFamily="49" charset="-120"/>
              </a:rPr>
              <a:t> git add climate-reader.ino</a:t>
            </a:r>
            <a:endParaRPr lang="en-US" sz="1200" dirty="0"/>
          </a:p>
          <a:p>
            <a:pPr algn="l" indent="0" marL="0">
              <a:lnSpc>
                <a:spcPts val="1800"/>
              </a:lnSpc>
              <a:buNone/>
            </a:pPr>
            <a:r>
              <a:rPr lang="en-US" sz="1200" dirty="0">
                <a:solidFill>
                  <a:srgbClr val="C19066"/>
                </a:solidFill>
                <a:latin typeface="Courier New" pitchFamily="49" charset="0"/>
                <a:ea typeface="Courier New" pitchFamily="49" charset="-122"/>
                <a:cs typeface="Courier New" pitchFamily="49" charset="-120"/>
              </a:rPr>
              <a:t>%</a:t>
            </a:r>
            <a:r>
              <a:rPr lang="en-US" sz="1200" dirty="0">
                <a:solidFill>
                  <a:srgbClr val="F5F5F5"/>
                </a:solidFill>
                <a:latin typeface="Courier New" pitchFamily="49" charset="0"/>
                <a:ea typeface="Courier New" pitchFamily="49" charset="-122"/>
                <a:cs typeface="Courier New" pitchFamily="49" charset="-120"/>
              </a:rPr>
              <a:t> git commit -m "First version of the climate reader"</a:t>
            </a:r>
            <a:endParaRPr lang="en-US" sz="1200" dirty="0"/>
          </a:p>
          <a:p>
            <a:pPr algn="l" indent="0" marL="0">
              <a:lnSpc>
                <a:spcPts val="1800"/>
              </a:lnSpc>
              <a:buNone/>
            </a:pPr>
            <a:r>
              <a:rPr lang="en-US" sz="1200" dirty="0">
                <a:solidFill>
                  <a:srgbClr val="F5F5F5"/>
                </a:solidFill>
                <a:latin typeface="Courier New" pitchFamily="49" charset="0"/>
                <a:ea typeface="Courier New" pitchFamily="49" charset="-122"/>
                <a:cs typeface="Courier New" pitchFamily="49" charset="-120"/>
              </a:rPr>
              <a:t>[main (root-commit) 68f8b60] First version of the climate reader</a:t>
            </a:r>
            <a:endParaRPr lang="en-US" sz="1200" dirty="0"/>
          </a:p>
          <a:p>
            <a:pPr algn="l" indent="0" marL="0">
              <a:lnSpc>
                <a:spcPts val="1800"/>
              </a:lnSpc>
              <a:buNone/>
            </a:pPr>
            <a:r>
              <a:rPr lang="en-US" sz="1200" dirty="0">
                <a:solidFill>
                  <a:srgbClr val="F5F5F5"/>
                </a:solidFill>
                <a:latin typeface="Courier New" pitchFamily="49" charset="0"/>
                <a:ea typeface="Courier New" pitchFamily="49" charset="-122"/>
                <a:cs typeface="Courier New" pitchFamily="49" charset="-120"/>
              </a:rPr>
              <a:t> 1 file changed, 2 insertions(+)</a:t>
            </a:r>
            <a:endParaRPr lang="en-US" sz="1200" dirty="0"/>
          </a:p>
          <a:p>
            <a:pPr algn="l" indent="0" marL="0">
              <a:lnSpc>
                <a:spcPts val="1800"/>
              </a:lnSpc>
              <a:buNone/>
            </a:pPr>
            <a:r>
              <a:rPr lang="en-US" sz="1200" dirty="0">
                <a:solidFill>
                  <a:srgbClr val="C19066"/>
                </a:solidFill>
                <a:latin typeface="Courier New" pitchFamily="49" charset="0"/>
                <a:ea typeface="Courier New" pitchFamily="49" charset="-122"/>
                <a:cs typeface="Courier New" pitchFamily="49" charset="-120"/>
              </a:rPr>
              <a:t>%</a:t>
            </a:r>
            <a:r>
              <a:rPr lang="en-US" sz="1200" dirty="0">
                <a:solidFill>
                  <a:srgbClr val="F5F5F5"/>
                </a:solidFill>
                <a:latin typeface="Courier New" pitchFamily="49" charset="0"/>
                <a:ea typeface="Courier New" pitchFamily="49" charset="-122"/>
                <a:cs typeface="Courier New" pitchFamily="49" charset="-120"/>
              </a:rPr>
              <a:t> git log --oneline</a:t>
            </a:r>
            <a:endParaRPr lang="en-US" sz="1200" dirty="0"/>
          </a:p>
          <a:p>
            <a:pPr algn="l" indent="0" marL="0">
              <a:lnSpc>
                <a:spcPts val="1800"/>
              </a:lnSpc>
              <a:buNone/>
            </a:pPr>
            <a:r>
              <a:rPr lang="en-US" sz="1200" dirty="0">
                <a:solidFill>
                  <a:srgbClr val="F5F5F5"/>
                </a:solidFill>
                <a:latin typeface="Courier New" pitchFamily="49" charset="0"/>
                <a:ea typeface="Courier New" pitchFamily="49" charset="-122"/>
                <a:cs typeface="Courier New" pitchFamily="49" charset="-120"/>
              </a:rPr>
              <a:t>68f8b60 First version of the climate reader</a:t>
            </a:r>
            <a:endParaRPr lang="en-US" sz="1200" dirty="0"/>
          </a:p>
        </p:txBody>
      </p:sp>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5"/>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6"/>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Five Git Commands</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Change, add, commit — small and often.</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1854200"/>
          <a:ext cx="10807700" cy="2316063"/>
        </p:xfrm>
        <a:graphic>
          <a:graphicData uri="http://schemas.openxmlformats.org/drawingml/2006/table">
            <a:tbl>
              <a:tblPr/>
              <a:tblGrid>
                <a:gridCol w="3890772"/>
                <a:gridCol w="6916928"/>
              </a:tblGrid>
              <a:tr h="386011">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Command</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What it does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git init</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Starts Git in this folder. Once per project.</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git status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Shows what changed and what is ready to save. Run it often.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git add file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Puts a file into the next save point.</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git commit -m "message"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Makes the save point. The message says what changed.</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git log --oneline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Lists save points, one per line, newest first.</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sp>
        <p:nvSpPr>
          <p:cNvPr id="6" name="Text 3"/>
          <p:cNvSpPr/>
          <p:nvPr/>
        </p:nvSpPr>
        <p:spPr>
          <a:xfrm>
            <a:off x="685800" y="4826000"/>
            <a:ext cx="111450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Every time after the first: change your code → git add the files → git commit -m "what changed".</a:t>
            </a:r>
            <a:endParaRPr lang="en-US" sz="1400" dirty="0"/>
          </a:p>
        </p:txBody>
      </p:sp>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116329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GitHub</a:t>
            </a:r>
            <a:endParaRPr lang="en-US" sz="1600" dirty="0"/>
          </a:p>
        </p:txBody>
      </p:sp>
      <p:sp>
        <p:nvSpPr>
          <p:cNvPr id="4" name="Text 2"/>
          <p:cNvSpPr/>
          <p:nvPr>
            <p:ph type="title"/>
          </p:nvPr>
        </p:nvSpPr>
        <p:spPr>
          <a:xfrm>
            <a:off x="685800" y="726430"/>
            <a:ext cx="9496806"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Git saves on your computer. GitHub keeps a copy online.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2171700"/>
          <a:ext cx="10807700" cy="1663402"/>
        </p:xfrm>
        <a:graphic>
          <a:graphicData uri="http://schemas.openxmlformats.org/drawingml/2006/table">
            <a:tbl>
              <a:tblPr/>
              <a:tblGrid>
                <a:gridCol w="864616"/>
                <a:gridCol w="9943084"/>
              </a:tblGrid>
              <a:tr h="332680">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Step</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Do this</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1</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Make a GitHub account at github.com. Accounts are for ages 13 and up — check with your teacher first.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2</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On GitHub, create a new, empty repository called climate-reader.</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3</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Connect your folder to it, once: git remote add origin https://github.com/your-name/climate-reader.git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4</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Send your save points up: git push -u origin main (use master if that is your branch).</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sp>
        <p:nvSpPr>
          <p:cNvPr id="6" name="Text 3"/>
          <p:cNvSpPr/>
          <p:nvPr/>
        </p:nvSpPr>
        <p:spPr>
          <a:xfrm>
            <a:off x="685800" y="4826000"/>
            <a:ext cx="1114501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The first push asks you to sign in to GitHub — your teacher will show you how your school does it. After that, git push on its own sends new commits.</a:t>
            </a:r>
            <a:endParaRPr lang="en-US" sz="1400" dirty="0"/>
          </a:p>
        </p:txBody>
      </p:sp>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AI &amp; the Terminal</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Never run a command you cannot explain.</a:t>
            </a:r>
            <a:endParaRPr lang="en-US" sz="2800" dirty="0"/>
          </a:p>
        </p:txBody>
      </p:sp>
      <p:sp>
        <p:nvSpPr>
          <p:cNvPr id="5" name="Text 3"/>
          <p:cNvSpPr/>
          <p:nvPr/>
        </p:nvSpPr>
        <p:spPr>
          <a:xfrm>
            <a:off x="685800" y="1905000"/>
            <a:ext cx="536321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Helvetica Neue" pitchFamily="34" charset="0"/>
                <a:ea typeface="Helvetica Neue" pitchFamily="34" charset="-122"/>
                <a:cs typeface="Helvetica Neue" pitchFamily="34" charset="-120"/>
              </a:rPr>
              <a:t>1</a:t>
            </a:r>
            <a:endParaRPr lang="en-US" sz="3200" dirty="0"/>
          </a:p>
        </p:txBody>
      </p:sp>
      <p:sp>
        <p:nvSpPr>
          <p:cNvPr id="6" name="Text 4"/>
          <p:cNvSpPr/>
          <p:nvPr/>
        </p:nvSpPr>
        <p:spPr>
          <a:xfrm>
            <a:off x="685800" y="2473920"/>
            <a:ext cx="536321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1D1E"/>
                </a:solidFill>
                <a:latin typeface="Helvetica Neue" pitchFamily="34" charset="0"/>
                <a:ea typeface="Helvetica Neue" pitchFamily="34" charset="-122"/>
                <a:cs typeface="Helvetica Neue" pitchFamily="34" charset="-120"/>
              </a:rPr>
              <a:t>AI is good at explaining commands. Ask before you run one: "Explain each part of this command in one line, for a beginner. Do not suggest anything else."</a:t>
            </a:r>
            <a:endParaRPr lang="en-US" sz="1500" dirty="0"/>
          </a:p>
        </p:txBody>
      </p:sp>
      <p:sp>
        <p:nvSpPr>
          <p:cNvPr id="7" name="Text 5"/>
          <p:cNvSpPr/>
          <p:nvPr/>
        </p:nvSpPr>
        <p:spPr>
          <a:xfrm>
            <a:off x="6299200" y="1905000"/>
            <a:ext cx="536321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Helvetica Neue" pitchFamily="34" charset="0"/>
                <a:ea typeface="Helvetica Neue" pitchFamily="34" charset="-122"/>
                <a:cs typeface="Helvetica Neue" pitchFamily="34" charset="-120"/>
              </a:rPr>
              <a:t>2</a:t>
            </a:r>
            <a:endParaRPr lang="en-US" sz="3200" dirty="0"/>
          </a:p>
        </p:txBody>
      </p:sp>
      <p:sp>
        <p:nvSpPr>
          <p:cNvPr id="8" name="Text 6"/>
          <p:cNvSpPr/>
          <p:nvPr/>
        </p:nvSpPr>
        <p:spPr>
          <a:xfrm>
            <a:off x="6299200" y="2473920"/>
            <a:ext cx="536321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1D1E"/>
                </a:solidFill>
                <a:latin typeface="Helvetica Neue" pitchFamily="34" charset="0"/>
                <a:ea typeface="Helvetica Neue" pitchFamily="34" charset="-122"/>
                <a:cs typeface="Helvetica Neue" pitchFamily="34" charset="-120"/>
              </a:rPr>
              <a:t>AI can also suggest commands that delete things. If it suggests rm -r or rm -rf, stop and ask your teacher.</a:t>
            </a:r>
            <a:endParaRPr lang="en-US" sz="1500" dirty="0"/>
          </a:p>
        </p:txBody>
      </p:sp>
      <p:pic>
        <p:nvPicPr>
          <p:cNvPr id="9"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0" name="Text 7"/>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1" name="Text 8"/>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Try It</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Build your project home, then save it.</a:t>
            </a:r>
            <a:endParaRPr lang="en-US" sz="2800" dirty="0"/>
          </a:p>
        </p:txBody>
      </p:sp>
      <p:sp>
        <p:nvSpPr>
          <p:cNvPr id="5" name="Text 3"/>
          <p:cNvSpPr/>
          <p:nvPr/>
        </p:nvSpPr>
        <p:spPr>
          <a:xfrm>
            <a:off x="727869" y="1841500"/>
            <a:ext cx="10415111" cy="1739900"/>
          </a:xfrm>
          <a:prstGeom prst="rect">
            <a:avLst/>
          </a:prstGeom>
          <a:noFill/>
          <a:ln/>
        </p:spPr>
        <p:txBody>
          <a:bodyPr wrap="square" lIns="0" tIns="0" rIns="0" bIns="0" rtlCol="0" anchor="t">
            <a:normAutofit/>
          </a:bodyPr>
          <a:lstStyle/>
          <a:p>
            <a:pPr algn="l" marL="211931" indent="-211931">
              <a:lnSpc>
                <a:spcPts val="2250"/>
              </a:lnSpc>
              <a:buSzPct val="100000"/>
              <a:buFontTx/>
              <a:buAutoNum type="arabicPeriod" startAt="1"/>
            </a:pPr>
            <a:r>
              <a:rPr lang="en-US" sz="1500" dirty="0">
                <a:solidFill>
                  <a:srgbClr val="1D1D1E"/>
                </a:solidFill>
                <a:latin typeface="Helvetica Neue" pitchFamily="34" charset="0"/>
                <a:ea typeface="Helvetica Neue" pitchFamily="34" charset="-122"/>
                <a:cs typeface="Helvetica Neue" pitchFamily="34" charset="-120"/>
              </a:rPr>
              <a:t>Open Terminal. Run pwd and write down your home folder's path.</a:t>
            </a:r>
            <a:endParaRPr lang="en-US" sz="1500" dirty="0"/>
          </a:p>
          <a:p>
            <a:pPr algn="l" marL="211931" indent="-211931">
              <a:lnSpc>
                <a:spcPts val="2250"/>
              </a:lnSpc>
              <a:buSzPct val="100000"/>
              <a:buFontTx/>
              <a:buAutoNum type="arabicPeriod" startAt="1"/>
            </a:pPr>
            <a:r>
              <a:rPr lang="en-US" sz="1500" dirty="0">
                <a:solidFill>
                  <a:srgbClr val="1D1D1E"/>
                </a:solidFill>
                <a:latin typeface="Helvetica Neue" pitchFamily="34" charset="0"/>
                <a:ea typeface="Helvetica Neue" pitchFamily="34" charset="-122"/>
                <a:cs typeface="Helvetica Neue" pitchFamily="34" charset="-120"/>
              </a:rPr>
              <a:t>Make incipe-projects, and climate-reader inside it, with mkdir and cd.</a:t>
            </a:r>
            <a:endParaRPr lang="en-US" sz="1500" dirty="0"/>
          </a:p>
          <a:p>
            <a:pPr algn="l" marL="211931" indent="-211931">
              <a:lnSpc>
                <a:spcPts val="2250"/>
              </a:lnSpc>
              <a:buSzPct val="100000"/>
              <a:buFontTx/>
              <a:buAutoNum type="arabicPeriod" startAt="1"/>
            </a:pPr>
            <a:r>
              <a:rPr lang="en-US" sz="1500" dirty="0">
                <a:solidFill>
                  <a:srgbClr val="1D1D1E"/>
                </a:solidFill>
                <a:latin typeface="Helvetica Neue" pitchFamily="34" charset="0"/>
                <a:ea typeface="Helvetica Neue" pitchFamily="34" charset="-122"/>
                <a:cs typeface="Helvetica Neue" pitchFamily="34" charset="-120"/>
              </a:rPr>
              <a:t>Inside climate-reader, make notes.md and prompts.md with touch. Check with ls.</a:t>
            </a:r>
            <a:endParaRPr lang="en-US" sz="1500" dirty="0"/>
          </a:p>
          <a:p>
            <a:pPr algn="l" marL="211931" indent="-211931">
              <a:lnSpc>
                <a:spcPts val="2250"/>
              </a:lnSpc>
              <a:buSzPct val="100000"/>
              <a:buFontTx/>
              <a:buAutoNum type="arabicPeriod" startAt="1"/>
            </a:pPr>
            <a:r>
              <a:rPr lang="en-US" sz="1500" dirty="0">
                <a:solidFill>
                  <a:srgbClr val="1D1D1E"/>
                </a:solidFill>
                <a:latin typeface="Helvetica Neue" pitchFamily="34" charset="0"/>
                <a:ea typeface="Helvetica Neue" pitchFamily="34" charset="-122"/>
                <a:cs typeface="Helvetica Neue" pitchFamily="34" charset="-120"/>
              </a:rPr>
              <a:t>Copy notes.md to notes-backup.md, rename the copy to old-notes.md, then delete it. Run ls after each step.</a:t>
            </a:r>
            <a:endParaRPr lang="en-US" sz="1500" dirty="0"/>
          </a:p>
          <a:p>
            <a:pPr algn="l" marL="211931" indent="-211931">
              <a:lnSpc>
                <a:spcPts val="2250"/>
              </a:lnSpc>
              <a:buSzPct val="100000"/>
              <a:buFontTx/>
              <a:buAutoNum type="arabicPeriod" startAt="1"/>
            </a:pPr>
            <a:r>
              <a:rPr lang="en-US" sz="1500" dirty="0">
                <a:solidFill>
                  <a:srgbClr val="1D1D1E"/>
                </a:solidFill>
                <a:latin typeface="Helvetica Neue" pitchFamily="34" charset="0"/>
                <a:ea typeface="Helvetica Neue" pitchFamily="34" charset="-122"/>
                <a:cs typeface="Helvetica Neue" pitchFamily="34" charset="-120"/>
              </a:rPr>
              <a:t>Set your Git name and email, then git init, git add notes.md prompts.md, and make your first commit. Check it with git log --oneline.</a:t>
            </a:r>
            <a:endParaRPr lang="en-US" sz="1500" dirty="0"/>
          </a:p>
        </p:txBody>
      </p:sp>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Practice: Set Up Your Project Home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Hand in one screenshot of your Terminal.</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1854200"/>
          <a:ext cx="10807700" cy="1930053"/>
        </p:xfrm>
        <a:graphic>
          <a:graphicData uri="http://schemas.openxmlformats.org/drawingml/2006/table">
            <a:tbl>
              <a:tblPr/>
              <a:tblGrid>
                <a:gridCol w="648462"/>
                <a:gridCol w="5620004"/>
                <a:gridCol w="4539234"/>
              </a:tblGrid>
              <a:tr h="386011">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Show</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It proves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1</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pwd inside climate-reader</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You can find where you are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2</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ls with notes.md and prompts.md</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You can make files and folders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3</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git log --oneline with at least two commits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You can save versions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4</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Your prompts.md holding one prompt from Lesson 1 or Session 2</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You keep what works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1</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You are in /Users/alex/incipe-projects. What prints?</a:t>
            </a:r>
            <a:endParaRPr lang="en-US" sz="2800" dirty="0"/>
          </a:p>
        </p:txBody>
      </p:sp>
      <p:sp>
        <p:nvSpPr>
          <p:cNvPr id="5" name="Shape 3"/>
          <p:cNvSpPr/>
          <p:nvPr/>
        </p:nvSpPr>
        <p:spPr>
          <a:xfrm>
            <a:off x="685800" y="2159000"/>
            <a:ext cx="5334000" cy="3302000"/>
          </a:xfrm>
          <a:prstGeom prst="rect">
            <a:avLst/>
          </a:prstGeom>
          <a:solidFill>
            <a:srgbClr val="E1E1E1"/>
          </a:solidFill>
          <a:ln/>
        </p:spPr>
      </p:sp>
      <p:sp>
        <p:nvSpPr>
          <p:cNvPr id="6" name="Text 4"/>
          <p:cNvSpPr/>
          <p:nvPr/>
        </p:nvSpPr>
        <p:spPr>
          <a:xfrm>
            <a:off x="939800" y="2413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COMMANDS</a:t>
            </a:r>
            <a:endParaRPr lang="en-US" sz="1200" dirty="0"/>
          </a:p>
        </p:txBody>
      </p:sp>
      <p:sp>
        <p:nvSpPr>
          <p:cNvPr id="7" name="Text 5"/>
          <p:cNvSpPr/>
          <p:nvPr/>
        </p:nvSpPr>
        <p:spPr>
          <a:xfrm>
            <a:off x="939800" y="2778720"/>
            <a:ext cx="4970780"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cd climate-reader</a:t>
            </a:r>
            <a:endParaRPr lang="en-US" sz="1400" dirty="0"/>
          </a:p>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pwd</a:t>
            </a:r>
            <a:endParaRPr lang="en-US" sz="1400" dirty="0"/>
          </a:p>
        </p:txBody>
      </p:sp>
      <p:sp>
        <p:nvSpPr>
          <p:cNvPr id="8" name="Shape 6"/>
          <p:cNvSpPr/>
          <p:nvPr/>
        </p:nvSpPr>
        <p:spPr>
          <a:xfrm>
            <a:off x="6273800" y="2159000"/>
            <a:ext cx="6350" cy="3302000"/>
          </a:xfrm>
          <a:prstGeom prst="rect">
            <a:avLst/>
          </a:prstGeom>
          <a:solidFill>
            <a:srgbClr val="D4D4D4"/>
          </a:solidFill>
          <a:ln/>
        </p:spPr>
      </p:sp>
      <p:sp>
        <p:nvSpPr>
          <p:cNvPr id="9" name="Text 7"/>
          <p:cNvSpPr/>
          <p:nvPr/>
        </p:nvSpPr>
        <p:spPr>
          <a:xfrm>
            <a:off x="6527800" y="2159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524720"/>
            <a:ext cx="5127752" cy="6604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B57946"/>
                </a:solidFill>
                <a:latin typeface="Courier New" pitchFamily="49" charset="0"/>
                <a:ea typeface="Courier New" pitchFamily="49" charset="-122"/>
                <a:cs typeface="Courier New" pitchFamily="49" charset="-120"/>
              </a:rPr>
              <a:t>/Users/alex/incipe-projects/</a:t>
            </a:r>
            <a:endParaRPr lang="en-US" sz="2000" dirty="0"/>
          </a:p>
          <a:p>
            <a:pPr algn="l" indent="0" marL="0">
              <a:lnSpc>
                <a:spcPts val="2500"/>
              </a:lnSpc>
              <a:buNone/>
            </a:pPr>
            <a:r>
              <a:rPr lang="en-US" sz="2000" b="1" dirty="0">
                <a:solidFill>
                  <a:srgbClr val="B57946"/>
                </a:solidFill>
                <a:latin typeface="Courier New" pitchFamily="49" charset="0"/>
                <a:ea typeface="Courier New" pitchFamily="49" charset="-122"/>
                <a:cs typeface="Courier New" pitchFamily="49" charset="-120"/>
              </a:rPr>
              <a:t>climate-reader</a:t>
            </a:r>
            <a:endParaRPr lang="en-US" sz="2000" dirty="0"/>
          </a:p>
        </p:txBody>
      </p:sp>
      <p:sp>
        <p:nvSpPr>
          <p:cNvPr id="11" name="Text 9"/>
          <p:cNvSpPr/>
          <p:nvPr/>
        </p:nvSpPr>
        <p:spPr>
          <a:xfrm>
            <a:off x="6527800" y="331212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677841"/>
            <a:ext cx="512775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cd walked one folder deeper, and pwd prints the full path.</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2</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You are in the climate-reader folder. What prints?</a:t>
            </a:r>
            <a:endParaRPr lang="en-US" sz="2800" dirty="0"/>
          </a:p>
        </p:txBody>
      </p:sp>
      <p:sp>
        <p:nvSpPr>
          <p:cNvPr id="5" name="Shape 3"/>
          <p:cNvSpPr/>
          <p:nvPr/>
        </p:nvSpPr>
        <p:spPr>
          <a:xfrm>
            <a:off x="685800" y="2159000"/>
            <a:ext cx="5334000" cy="3302000"/>
          </a:xfrm>
          <a:prstGeom prst="rect">
            <a:avLst/>
          </a:prstGeom>
          <a:solidFill>
            <a:srgbClr val="E1E1E1"/>
          </a:solidFill>
          <a:ln/>
        </p:spPr>
      </p:sp>
      <p:sp>
        <p:nvSpPr>
          <p:cNvPr id="6" name="Text 4"/>
          <p:cNvSpPr/>
          <p:nvPr/>
        </p:nvSpPr>
        <p:spPr>
          <a:xfrm>
            <a:off x="939800" y="2413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COMMANDS</a:t>
            </a:r>
            <a:endParaRPr lang="en-US" sz="1200" dirty="0"/>
          </a:p>
        </p:txBody>
      </p:sp>
      <p:sp>
        <p:nvSpPr>
          <p:cNvPr id="7" name="Text 5"/>
          <p:cNvSpPr/>
          <p:nvPr/>
        </p:nvSpPr>
        <p:spPr>
          <a:xfrm>
            <a:off x="939800" y="2778720"/>
            <a:ext cx="4970780" cy="1163241"/>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pwd</a:t>
            </a:r>
            <a:endParaRPr lang="en-US" sz="1400" dirty="0"/>
          </a:p>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/Users/alex/incipe-projects/climate-reader</a:t>
            </a:r>
            <a:endParaRPr lang="en-US" sz="1400" dirty="0"/>
          </a:p>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cd ..</a:t>
            </a:r>
            <a:endParaRPr lang="en-US" sz="1400" dirty="0"/>
          </a:p>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pwd</a:t>
            </a:r>
            <a:endParaRPr lang="en-US" sz="1400" dirty="0"/>
          </a:p>
        </p:txBody>
      </p:sp>
      <p:sp>
        <p:nvSpPr>
          <p:cNvPr id="8" name="Shape 6"/>
          <p:cNvSpPr/>
          <p:nvPr/>
        </p:nvSpPr>
        <p:spPr>
          <a:xfrm>
            <a:off x="6273800" y="2159000"/>
            <a:ext cx="6350" cy="3302000"/>
          </a:xfrm>
          <a:prstGeom prst="rect">
            <a:avLst/>
          </a:prstGeom>
          <a:solidFill>
            <a:srgbClr val="D4D4D4"/>
          </a:solidFill>
          <a:ln/>
        </p:spPr>
      </p:sp>
      <p:sp>
        <p:nvSpPr>
          <p:cNvPr id="9" name="Text 7"/>
          <p:cNvSpPr/>
          <p:nvPr/>
        </p:nvSpPr>
        <p:spPr>
          <a:xfrm>
            <a:off x="6527800" y="2159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524720"/>
            <a:ext cx="5127752"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B57946"/>
                </a:solidFill>
                <a:latin typeface="Courier New" pitchFamily="49" charset="0"/>
                <a:ea typeface="Courier New" pitchFamily="49" charset="-122"/>
                <a:cs typeface="Courier New" pitchFamily="49" charset="-120"/>
              </a:rPr>
              <a:t>/Users/alex/incipe-projects</a:t>
            </a:r>
            <a:endParaRPr lang="en-US" sz="2000" dirty="0"/>
          </a:p>
        </p:txBody>
      </p:sp>
      <p:sp>
        <p:nvSpPr>
          <p:cNvPr id="11" name="Text 9"/>
          <p:cNvSpPr/>
          <p:nvPr/>
        </p:nvSpPr>
        <p:spPr>
          <a:xfrm>
            <a:off x="6527800" y="299462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360341"/>
            <a:ext cx="512775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 is the folder around this one — one level up.</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3</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folder holds only notes.txt. What does ls print?</a:t>
            </a:r>
            <a:endParaRPr lang="en-US" sz="2800" dirty="0"/>
          </a:p>
        </p:txBody>
      </p:sp>
      <p:sp>
        <p:nvSpPr>
          <p:cNvPr id="5" name="Shape 3"/>
          <p:cNvSpPr/>
          <p:nvPr/>
        </p:nvSpPr>
        <p:spPr>
          <a:xfrm>
            <a:off x="685800" y="2159000"/>
            <a:ext cx="5334000" cy="3302000"/>
          </a:xfrm>
          <a:prstGeom prst="rect">
            <a:avLst/>
          </a:prstGeom>
          <a:solidFill>
            <a:srgbClr val="E1E1E1"/>
          </a:solidFill>
          <a:ln/>
        </p:spPr>
      </p:sp>
      <p:sp>
        <p:nvSpPr>
          <p:cNvPr id="6" name="Text 4"/>
          <p:cNvSpPr/>
          <p:nvPr/>
        </p:nvSpPr>
        <p:spPr>
          <a:xfrm>
            <a:off x="939800" y="2413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COMMANDS</a:t>
            </a:r>
            <a:endParaRPr lang="en-US" sz="1200" dirty="0"/>
          </a:p>
        </p:txBody>
      </p:sp>
      <p:sp>
        <p:nvSpPr>
          <p:cNvPr id="7" name="Text 5"/>
          <p:cNvSpPr/>
          <p:nvPr/>
        </p:nvSpPr>
        <p:spPr>
          <a:xfrm>
            <a:off x="939800" y="2778720"/>
            <a:ext cx="4970780"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cp notes.txt backup.txt</a:t>
            </a:r>
            <a:endParaRPr lang="en-US" sz="1400" dirty="0"/>
          </a:p>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mv backup.txt old-notes.txt</a:t>
            </a:r>
            <a:endParaRPr lang="en-US" sz="1400" dirty="0"/>
          </a:p>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ls</a:t>
            </a:r>
            <a:endParaRPr lang="en-US" sz="1400" dirty="0"/>
          </a:p>
        </p:txBody>
      </p:sp>
      <p:sp>
        <p:nvSpPr>
          <p:cNvPr id="8" name="Shape 6"/>
          <p:cNvSpPr/>
          <p:nvPr/>
        </p:nvSpPr>
        <p:spPr>
          <a:xfrm>
            <a:off x="6273800" y="2159000"/>
            <a:ext cx="6350" cy="3302000"/>
          </a:xfrm>
          <a:prstGeom prst="rect">
            <a:avLst/>
          </a:prstGeom>
          <a:solidFill>
            <a:srgbClr val="D4D4D4"/>
          </a:solidFill>
          <a:ln/>
        </p:spPr>
      </p:sp>
      <p:sp>
        <p:nvSpPr>
          <p:cNvPr id="9" name="Text 7"/>
          <p:cNvSpPr/>
          <p:nvPr/>
        </p:nvSpPr>
        <p:spPr>
          <a:xfrm>
            <a:off x="6527800" y="2159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524720"/>
            <a:ext cx="5127752"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B57946"/>
                </a:solidFill>
                <a:latin typeface="Courier New" pitchFamily="49" charset="0"/>
                <a:ea typeface="Courier New" pitchFamily="49" charset="-122"/>
                <a:cs typeface="Courier New" pitchFamily="49" charset="-120"/>
              </a:rPr>
              <a:t>notes.txt  old-notes.txt</a:t>
            </a:r>
            <a:endParaRPr lang="en-US" sz="2000" dirty="0"/>
          </a:p>
        </p:txBody>
      </p:sp>
      <p:sp>
        <p:nvSpPr>
          <p:cNvPr id="11" name="Text 9"/>
          <p:cNvSpPr/>
          <p:nvPr/>
        </p:nvSpPr>
        <p:spPr>
          <a:xfrm>
            <a:off x="6527800" y="299462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360341"/>
            <a:ext cx="51277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cp made backup.txt, then mv renamed it. ls lists in alphabetical order.</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4</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climate-reader is a folder. What happens?</a:t>
            </a:r>
            <a:endParaRPr lang="en-US" sz="2800" dirty="0"/>
          </a:p>
        </p:txBody>
      </p:sp>
      <p:sp>
        <p:nvSpPr>
          <p:cNvPr id="5" name="Shape 3"/>
          <p:cNvSpPr/>
          <p:nvPr/>
        </p:nvSpPr>
        <p:spPr>
          <a:xfrm>
            <a:off x="685800" y="2159000"/>
            <a:ext cx="5334000" cy="3302000"/>
          </a:xfrm>
          <a:prstGeom prst="rect">
            <a:avLst/>
          </a:prstGeom>
          <a:solidFill>
            <a:srgbClr val="E1E1E1"/>
          </a:solidFill>
          <a:ln/>
        </p:spPr>
      </p:sp>
      <p:sp>
        <p:nvSpPr>
          <p:cNvPr id="6" name="Text 4"/>
          <p:cNvSpPr/>
          <p:nvPr/>
        </p:nvSpPr>
        <p:spPr>
          <a:xfrm>
            <a:off x="939800" y="2413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COMMAND</a:t>
            </a:r>
            <a:endParaRPr lang="en-US" sz="1200" dirty="0"/>
          </a:p>
        </p:txBody>
      </p:sp>
      <p:sp>
        <p:nvSpPr>
          <p:cNvPr id="7" name="Text 5"/>
          <p:cNvSpPr/>
          <p:nvPr/>
        </p:nvSpPr>
        <p:spPr>
          <a:xfrm>
            <a:off x="939800" y="2778720"/>
            <a:ext cx="4970780"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rm climate-reader</a:t>
            </a:r>
            <a:endParaRPr lang="en-US" sz="1400" dirty="0"/>
          </a:p>
        </p:txBody>
      </p:sp>
      <p:sp>
        <p:nvSpPr>
          <p:cNvPr id="8" name="Shape 6"/>
          <p:cNvSpPr/>
          <p:nvPr/>
        </p:nvSpPr>
        <p:spPr>
          <a:xfrm>
            <a:off x="6273800" y="2159000"/>
            <a:ext cx="6350" cy="3302000"/>
          </a:xfrm>
          <a:prstGeom prst="rect">
            <a:avLst/>
          </a:prstGeom>
          <a:solidFill>
            <a:srgbClr val="D4D4D4"/>
          </a:solidFill>
          <a:ln/>
        </p:spPr>
      </p:sp>
      <p:sp>
        <p:nvSpPr>
          <p:cNvPr id="9" name="Text 7"/>
          <p:cNvSpPr/>
          <p:nvPr/>
        </p:nvSpPr>
        <p:spPr>
          <a:xfrm>
            <a:off x="6527800" y="2159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524720"/>
            <a:ext cx="512775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B57946"/>
                </a:solidFill>
                <a:latin typeface="Helvetica Neue" pitchFamily="34" charset="0"/>
                <a:ea typeface="Helvetica Neue" pitchFamily="34" charset="-122"/>
                <a:cs typeface="Helvetica Neue" pitchFamily="34" charset="-120"/>
              </a:rPr>
              <a:t>Nothing is deleted</a:t>
            </a:r>
            <a:endParaRPr lang="en-US" sz="2800" dirty="0"/>
          </a:p>
        </p:txBody>
      </p:sp>
      <p:sp>
        <p:nvSpPr>
          <p:cNvPr id="11" name="Text 9"/>
          <p:cNvSpPr/>
          <p:nvPr/>
        </p:nvSpPr>
        <p:spPr>
          <a:xfrm>
            <a:off x="6527800" y="308605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451771"/>
            <a:ext cx="51277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It prints rm: climate-reader: is a directory. Plain rm only removes files; a folder needs rm -r.</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116329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5</a:t>
            </a:r>
            <a:endParaRPr lang="en-US" sz="1600" dirty="0"/>
          </a:p>
        </p:txBody>
      </p:sp>
      <p:sp>
        <p:nvSpPr>
          <p:cNvPr id="4" name="Text 2"/>
          <p:cNvSpPr/>
          <p:nvPr>
            <p:ph type="title"/>
          </p:nvPr>
        </p:nvSpPr>
        <p:spPr>
          <a:xfrm>
            <a:off x="685800" y="726430"/>
            <a:ext cx="9496806"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You changed the sketch and skipped git add. Is a save point made?</a:t>
            </a:r>
            <a:endParaRPr lang="en-US" sz="2800" dirty="0"/>
          </a:p>
        </p:txBody>
      </p:sp>
      <p:sp>
        <p:nvSpPr>
          <p:cNvPr id="5" name="Shape 3"/>
          <p:cNvSpPr/>
          <p:nvPr/>
        </p:nvSpPr>
        <p:spPr>
          <a:xfrm>
            <a:off x="685800" y="2159000"/>
            <a:ext cx="5334000" cy="3302000"/>
          </a:xfrm>
          <a:prstGeom prst="rect">
            <a:avLst/>
          </a:prstGeom>
          <a:solidFill>
            <a:srgbClr val="E1E1E1"/>
          </a:solidFill>
          <a:ln/>
        </p:spPr>
      </p:sp>
      <p:sp>
        <p:nvSpPr>
          <p:cNvPr id="6" name="Text 4"/>
          <p:cNvSpPr/>
          <p:nvPr/>
        </p:nvSpPr>
        <p:spPr>
          <a:xfrm>
            <a:off x="939800" y="2413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COMMAND</a:t>
            </a:r>
            <a:endParaRPr lang="en-US" sz="1200" dirty="0"/>
          </a:p>
        </p:txBody>
      </p:sp>
      <p:sp>
        <p:nvSpPr>
          <p:cNvPr id="7" name="Text 5"/>
          <p:cNvSpPr/>
          <p:nvPr/>
        </p:nvSpPr>
        <p:spPr>
          <a:xfrm>
            <a:off x="939800" y="2778720"/>
            <a:ext cx="4970780"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git commit -m "Add loop"</a:t>
            </a:r>
            <a:endParaRPr lang="en-US" sz="1400" dirty="0"/>
          </a:p>
        </p:txBody>
      </p:sp>
      <p:sp>
        <p:nvSpPr>
          <p:cNvPr id="8" name="Shape 6"/>
          <p:cNvSpPr/>
          <p:nvPr/>
        </p:nvSpPr>
        <p:spPr>
          <a:xfrm>
            <a:off x="6273800" y="2159000"/>
            <a:ext cx="6350" cy="3302000"/>
          </a:xfrm>
          <a:prstGeom prst="rect">
            <a:avLst/>
          </a:prstGeom>
          <a:solidFill>
            <a:srgbClr val="D4D4D4"/>
          </a:solidFill>
          <a:ln/>
        </p:spPr>
      </p:sp>
      <p:sp>
        <p:nvSpPr>
          <p:cNvPr id="9" name="Text 7"/>
          <p:cNvSpPr/>
          <p:nvPr/>
        </p:nvSpPr>
        <p:spPr>
          <a:xfrm>
            <a:off x="6527800" y="2159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524720"/>
            <a:ext cx="512775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B57946"/>
                </a:solidFill>
                <a:latin typeface="Helvetica Neue" pitchFamily="34" charset="0"/>
                <a:ea typeface="Helvetica Neue" pitchFamily="34" charset="-122"/>
                <a:cs typeface="Helvetica Neue" pitchFamily="34" charset="-120"/>
              </a:rPr>
              <a:t>No</a:t>
            </a:r>
            <a:endParaRPr lang="en-US" sz="2800" dirty="0"/>
          </a:p>
        </p:txBody>
      </p:sp>
      <p:sp>
        <p:nvSpPr>
          <p:cNvPr id="11" name="Text 9"/>
          <p:cNvSpPr/>
          <p:nvPr/>
        </p:nvSpPr>
        <p:spPr>
          <a:xfrm>
            <a:off x="6527800" y="308605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451771"/>
            <a:ext cx="512775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Git prints no changes added to commit (use "git add" and/or "git commit -a"). Nothing goes into a commit until you git add it.</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Recap</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Three things to take away.</a:t>
            </a:r>
            <a:endParaRPr lang="en-US" sz="2800" dirty="0"/>
          </a:p>
        </p:txBody>
      </p:sp>
      <p:sp>
        <p:nvSpPr>
          <p:cNvPr id="5" name="Text 3"/>
          <p:cNvSpPr/>
          <p:nvPr/>
        </p:nvSpPr>
        <p:spPr>
          <a:xfrm>
            <a:off x="685800" y="1905000"/>
            <a:ext cx="3435909"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Helvetica Neue" pitchFamily="34" charset="0"/>
                <a:ea typeface="Helvetica Neue" pitchFamily="34" charset="-122"/>
                <a:cs typeface="Helvetica Neue" pitchFamily="34" charset="-120"/>
              </a:rPr>
              <a:t>1</a:t>
            </a:r>
            <a:endParaRPr lang="en-US" sz="3200" dirty="0"/>
          </a:p>
        </p:txBody>
      </p:sp>
      <p:sp>
        <p:nvSpPr>
          <p:cNvPr id="6" name="Text 4"/>
          <p:cNvSpPr/>
          <p:nvPr/>
        </p:nvSpPr>
        <p:spPr>
          <a:xfrm>
            <a:off x="685800" y="2473920"/>
            <a:ext cx="343590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1D1E"/>
                </a:solidFill>
                <a:latin typeface="Helvetica Neue" pitchFamily="34" charset="0"/>
                <a:ea typeface="Helvetica Neue" pitchFamily="34" charset="-122"/>
                <a:cs typeface="Helvetica Neue" pitchFamily="34" charset="-120"/>
              </a:rPr>
              <a:t>pwd says where you are, ls what is here, cd moves you. .. is one level up and ~ is home.</a:t>
            </a:r>
            <a:endParaRPr lang="en-US" sz="1500" dirty="0"/>
          </a:p>
        </p:txBody>
      </p:sp>
      <p:sp>
        <p:nvSpPr>
          <p:cNvPr id="7" name="Text 5"/>
          <p:cNvSpPr/>
          <p:nvPr/>
        </p:nvSpPr>
        <p:spPr>
          <a:xfrm>
            <a:off x="4428034" y="1905000"/>
            <a:ext cx="34359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Helvetica Neue" pitchFamily="34" charset="0"/>
                <a:ea typeface="Helvetica Neue" pitchFamily="34" charset="-122"/>
                <a:cs typeface="Helvetica Neue" pitchFamily="34" charset="-120"/>
              </a:rPr>
              <a:t>2</a:t>
            </a:r>
            <a:endParaRPr lang="en-US" sz="3200" dirty="0"/>
          </a:p>
        </p:txBody>
      </p:sp>
      <p:sp>
        <p:nvSpPr>
          <p:cNvPr id="8" name="Text 6"/>
          <p:cNvSpPr/>
          <p:nvPr/>
        </p:nvSpPr>
        <p:spPr>
          <a:xfrm>
            <a:off x="4428034" y="2473920"/>
            <a:ext cx="34359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1D1E"/>
                </a:solidFill>
                <a:latin typeface="Helvetica Neue" pitchFamily="34" charset="0"/>
                <a:ea typeface="Helvetica Neue" pitchFamily="34" charset="-122"/>
                <a:cs typeface="Helvetica Neue" pitchFamily="34" charset="-120"/>
              </a:rPr>
              <a:t>mkdir, cp, mv and rm make, copy, move and delete — and rm has no undo.</a:t>
            </a:r>
            <a:endParaRPr lang="en-US" sz="1500" dirty="0"/>
          </a:p>
        </p:txBody>
      </p:sp>
      <p:sp>
        <p:nvSpPr>
          <p:cNvPr id="9" name="Text 7"/>
          <p:cNvSpPr/>
          <p:nvPr/>
        </p:nvSpPr>
        <p:spPr>
          <a:xfrm>
            <a:off x="8170317" y="1905000"/>
            <a:ext cx="34359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Helvetica Neue" pitchFamily="34" charset="0"/>
                <a:ea typeface="Helvetica Neue" pitchFamily="34" charset="-122"/>
                <a:cs typeface="Helvetica Neue" pitchFamily="34" charset="-120"/>
              </a:rPr>
              <a:t>3</a:t>
            </a:r>
            <a:endParaRPr lang="en-US" sz="3200" dirty="0"/>
          </a:p>
        </p:txBody>
      </p:sp>
      <p:sp>
        <p:nvSpPr>
          <p:cNvPr id="10" name="Text 8"/>
          <p:cNvSpPr/>
          <p:nvPr/>
        </p:nvSpPr>
        <p:spPr>
          <a:xfrm>
            <a:off x="8170317" y="2473920"/>
            <a:ext cx="34359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1D1E"/>
                </a:solidFill>
                <a:latin typeface="Helvetica Neue" pitchFamily="34" charset="0"/>
                <a:ea typeface="Helvetica Neue" pitchFamily="34" charset="-122"/>
                <a:cs typeface="Helvetica Neue" pitchFamily="34" charset="-120"/>
              </a:rPr>
              <a:t>Git saves versions: git init once, then add and commit every time. GitHub keeps a copy online.</a:t>
            </a:r>
            <a:endParaRPr lang="en-US" sz="1500" dirty="0"/>
          </a:p>
        </p:txBody>
      </p:sp>
      <p:sp>
        <p:nvSpPr>
          <p:cNvPr id="11" name="Text 9"/>
          <p:cNvSpPr/>
          <p:nvPr/>
        </p:nvSpPr>
        <p:spPr>
          <a:xfrm>
            <a:off x="685800" y="4953000"/>
            <a:ext cx="10820400" cy="539105"/>
          </a:xfrm>
          <a:prstGeom prst="rect">
            <a:avLst/>
          </a:prstGeom>
          <a:solidFill>
            <a:srgbClr val="E1E1E1"/>
          </a:solidFill>
          <a:ln/>
        </p:spPr>
        <p:txBody>
          <a:bodyPr wrap="square" lIns="203200" tIns="152400" rIns="0" bIns="127000" rtlCol="0" anchor="t">
            <a:normAutofit/>
          </a:bodyPr>
          <a:lstStyle/>
          <a:p>
            <a:pPr algn="l" indent="0" marL="0">
              <a:lnSpc>
                <a:spcPts val="1820"/>
              </a:lnSpc>
              <a:buNone/>
            </a:pPr>
            <a:r>
              <a:rPr lang="en-US" sz="1300" b="1" dirty="0">
                <a:solidFill>
                  <a:srgbClr val="000000"/>
                </a:solidFill>
                <a:latin typeface="Helvetica Neue" pitchFamily="34" charset="0"/>
                <a:ea typeface="Helvetica Neue" pitchFamily="34" charset="-122"/>
                <a:cs typeface="Helvetica Neue" pitchFamily="34" charset="-120"/>
              </a:rPr>
              <a:t>Next — Session 4: Command line for embedded development.</a:t>
            </a:r>
            <a:r>
              <a:rPr lang="en-US" sz="1300" dirty="0">
                <a:solidFill>
                  <a:srgbClr val="000000"/>
                </a:solidFill>
                <a:latin typeface="Helvetica Neue" pitchFamily="34" charset="0"/>
                <a:ea typeface="Helvetica Neue" pitchFamily="34" charset="-122"/>
                <a:cs typeface="Helvetica Neue" pitchFamily="34" charset="-120"/>
              </a:rPr>
              <a:t> Using the terminal to compile and upload firmware.</a:t>
            </a:r>
            <a:endParaRPr lang="en-US" sz="1300" dirty="0"/>
          </a:p>
        </p:txBody>
      </p:sp>
      <p:pic>
        <p:nvPicPr>
          <p:cNvPr id="12"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3" name="Text 10"/>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4" name="Text 11"/>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25</a:t>
            </a:r>
            <a:endParaRPr lang="en-US" sz="1200" dirty="0"/>
          </a:p>
        </p:txBody>
      </p:sp>
    </p:spTree>
  </p:cSld>
  <p:clrMapOvr>
    <a:masterClrMapping/>
  </p:clrMapOvr>
</p:sld>
</file>

<file path=ppt/theme/theme1.xml><?xml version="1.0" encoding="utf-8"?>
<a:theme xmlns:a="http://schemas.openxmlformats.org/drawingml/2006/main" name="Session 3 · Terminal Commands &amp; Environment Setup">
  <a:themeElements>
    <a:clrScheme name="Session 3 · Terminal Commands &amp; Environment Setup">
      <a:dk1>
        <a:srgbClr val="1D1D1E"/>
      </a:dk1>
      <a:lt1>
        <a:srgbClr val="F5F5F5"/>
      </a:lt1>
      <a:dk2>
        <a:srgbClr val="535354"/>
      </a:dk2>
      <a:lt2>
        <a:srgbClr val="DFDFE0"/>
      </a:lt2>
      <a:accent1>
        <a:srgbClr val="B57946"/>
      </a:accent1>
      <a:accent2>
        <a:srgbClr val="76706C"/>
      </a:accent2>
      <a:accent3>
        <a:srgbClr val="D4D4D4"/>
      </a:accent3>
      <a:accent4>
        <a:srgbClr val="9AA0A6"/>
      </a:accent4>
      <a:accent5>
        <a:srgbClr val="737374"/>
      </a:accent5>
      <a:accent6>
        <a:srgbClr val="949494"/>
      </a:accent6>
      <a:hlink>
        <a:srgbClr val="0563C1"/>
      </a:hlink>
      <a:folHlink>
        <a:srgbClr val="954F72"/>
      </a:folHlink>
    </a:clrScheme>
    <a:fontScheme name="Session 3 · Terminal Commands &amp; Environment Setup">
      <a:majorFont>
        <a:latin typeface="Helvetica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3 · Terminal Commands &amp; Environment Setup</dc:title>
  <dc:subject/>
  <dc:creator/>
  <cp:lastModifiedBy/>
  <cp:revision>1</cp:revision>
  <dcterms:created xsi:type="dcterms:W3CDTF">2026-10-08T18:06:58Z</dcterms:created>
  <dcterms:modified xsi:type="dcterms:W3CDTF">2026-10-08T18:06:58Z</dcterms:modified>
</cp:coreProperties>
</file>