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M4 Session 2: product-market fit, a narrow target audience checked with real people, paper prototypes, a Lean Canvas and a 3-minute problem-statement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code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before building saves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reviewers ask: who is it for, and how do you know?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is “they said they like it”.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examples are the curriculum’s three audiences, narrowed.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most of the five don’t recognise the problem, that’s a cheap lesson — go back to another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takes about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slide: the Smart Garden watering logic as a flowchart.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code from M3 Session 8, drawn. Try it: sketch your own idea and draw its flowchart; can a classmate follow it without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boxes roughly in this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left blank on purpose: never invent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create a Lean Canvas for your chosen product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assignment: select your final project concept and prepare a 3-minute problem-statement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is a rehearsal partner, not the speaker.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no, too broad.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 diamond.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unique value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the problem and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the Lean Canvas, three interviews and the 3-minute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M4: Ideation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2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Product-Market Fit &amp;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 Validation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out who really wants your idea — before you build it.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Product-market fit: why it matters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target audience, and how to check you’re right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Prototype on paper: sketches and flowcharts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Practice: a Lean Canvas, and your 3-minute pitch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Bring your five ideas from Session 1, paper and a pen — and line up five people to ask questions this week.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874566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Market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All the people who might want your product.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Product-market fit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When a clear group wants your product enough to use it, keep using it and tell others.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 audience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specific group you build for first.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Validation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Checking with real people that the problem is real and your idea helps.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Prototype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quick, cheap version made to learn something: a sketch, a flowchart, a cardboard model.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Lean Canvas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one-page plan with nine boxes that describes a product idea.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Pitch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short talk that convinces listeners your problem matters.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Product-Market Fit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Fit is when the key turns in the lock.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beautifully made key is useless if it fits no lock. Your product is the key; people with a real problem are the lock.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an interview, “I built it for these people, and I asked five of them” beats “I built a cool thing”.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Product-Market Fit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signs you’re getting close.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544042"/>
        </p:xfrm>
        <a:graphic>
          <a:graphicData uri="http://schemas.openxmlformats.org/drawingml/2006/table">
            <a:tbl>
              <a:tblPr/>
              <a:tblGrid>
                <a:gridCol w="4323080"/>
                <a:gridCol w="648462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Signal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They use it without being reminded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classmate checks the plant app every morning on their own.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They’d be disappointed if it disappeared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“Wait — you’re taking the pot back? I need that!”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They tell others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“My sister wants one too.”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narrow enough to picture one person.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544042"/>
        </p:xfrm>
        <a:graphic>
          <a:graphicData uri="http://schemas.openxmlformats.org/drawingml/2006/table">
            <a:tbl>
              <a:tblPr/>
              <a:tblGrid>
                <a:gridCol w="3242310"/>
                <a:gridCol w="756539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Too broad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Narrow enough to build for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People with plants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Urban gardeners with a balcony and no time on weekdays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Old people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Grandparents who live alone and can’t hear the doorbell from the back room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Kids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Kids aged 10–12 learning to code who get bored with screens-only lessons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3180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a user profile: name, age, where they live, a typical day, and their pain point from Session 1.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what they did, not what they would do.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668413"/>
        </p:xfrm>
        <a:graphic>
          <a:graphicData uri="http://schemas.openxmlformats.org/drawingml/2006/table">
            <a:tbl>
              <a:tblPr/>
              <a:tblGrid>
                <a:gridCol w="3242310"/>
                <a:gridCol w="3890772"/>
                <a:gridCol w="367461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Weak question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Better question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Would you buy a self-watering pot?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Tell me about the last time one of your plants died.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 past events, not polite guesses.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you like my idea?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do you deal with this today?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idea must beat what they already do.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Would you use this every day?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When did this last cause you a problem?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year ago means a small pain.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Talk to five people from your target audience. Write down what they say, in their words.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Prototype on Paper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it before you build it.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Film directors draw a storyboard first: changing a drawing costs nothing; reshooting costs a lot.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quick prototypes: a labelled sketch of what it looks like, and a flowchart of how it behaves.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Flowcharts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shapes are enough.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930053"/>
        </p:xfrm>
        <a:graphic>
          <a:graphicData uri="http://schemas.openxmlformats.org/drawingml/2006/table">
            <a:tbl>
              <a:tblPr/>
              <a:tblGrid>
                <a:gridCol w="3242310"/>
                <a:gridCol w="756539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Shape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Oval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Start or end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Rectangle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something: read a sensor, switch something on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Diamond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yes/no question — two arrows leave it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Arrow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happens next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0640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flowchart is also the best thing to show an AI chat when you ask for code later.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Flowchart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Smart Garden’s watering logic.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40000" y="1778000"/>
            <a:ext cx="2540000" cy="444500"/>
          </a:xfrm>
          <a:prstGeom prst="roundRect">
            <a:avLst>
              <a:gd name="adj" fmla="val 50000"/>
            </a:avLst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2501900" y="1892300"/>
            <a:ext cx="26162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soil probe</a:t>
            </a:r>
            <a:endParaRPr lang="en-US" sz="1300" dirty="0"/>
          </a:p>
        </p:txBody>
      </p:sp>
      <p:pic>
        <p:nvPicPr>
          <p:cNvPr id="7" name="Image 0" descr="diamo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95500" y="2476500"/>
            <a:ext cx="3429000" cy="952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32710" y="2736850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Pump off and below 30 % wet?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13500" y="2730500"/>
            <a:ext cx="1905000" cy="444500"/>
          </a:xfrm>
          <a:prstGeom prst="roundRect">
            <a:avLst>
              <a:gd name="adj" fmla="val 8571"/>
            </a:avLst>
          </a:prstGeom>
          <a:solidFill>
            <a:srgbClr val="E1E1E1"/>
          </a:solidFill>
          <a:ln/>
        </p:spPr>
      </p:sp>
      <p:sp>
        <p:nvSpPr>
          <p:cNvPr id="10" name="Text 7"/>
          <p:cNvSpPr/>
          <p:nvPr/>
        </p:nvSpPr>
        <p:spPr>
          <a:xfrm>
            <a:off x="6384925" y="2844800"/>
            <a:ext cx="196215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Pump on</a:t>
            </a:r>
            <a:endParaRPr lang="en-US" sz="1300" dirty="0"/>
          </a:p>
        </p:txBody>
      </p:sp>
      <p:pic>
        <p:nvPicPr>
          <p:cNvPr id="11" name="Image 1" descr="diamo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5500" y="3683000"/>
            <a:ext cx="3429000" cy="952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2710" y="3943350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Pump on and above 60 % wet?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13500" y="3937000"/>
            <a:ext cx="1905000" cy="444500"/>
          </a:xfrm>
          <a:prstGeom prst="roundRect">
            <a:avLst>
              <a:gd name="adj" fmla="val 8571"/>
            </a:avLst>
          </a:prstGeom>
          <a:solidFill>
            <a:srgbClr val="E1E1E1"/>
          </a:solidFill>
          <a:ln/>
        </p:spPr>
      </p:sp>
      <p:sp>
        <p:nvSpPr>
          <p:cNvPr id="14" name="Text 10"/>
          <p:cNvSpPr/>
          <p:nvPr/>
        </p:nvSpPr>
        <p:spPr>
          <a:xfrm>
            <a:off x="6384925" y="4051300"/>
            <a:ext cx="196215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Pump off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540000" y="4953000"/>
            <a:ext cx="2540000" cy="444500"/>
          </a:xfrm>
          <a:prstGeom prst="roundRect">
            <a:avLst>
              <a:gd name="adj" fmla="val 8571"/>
            </a:avLst>
          </a:prstGeom>
          <a:solidFill>
            <a:srgbClr val="E1E1E1"/>
          </a:solidFill>
          <a:ln/>
        </p:spPr>
      </p:sp>
      <p:sp>
        <p:nvSpPr>
          <p:cNvPr id="16" name="Text 12"/>
          <p:cNvSpPr/>
          <p:nvPr/>
        </p:nvSpPr>
        <p:spPr>
          <a:xfrm>
            <a:off x="2501900" y="5067300"/>
            <a:ext cx="26162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 2 seconds</a:t>
            </a:r>
            <a:endParaRPr lang="en-US" sz="1300" dirty="0"/>
          </a:p>
        </p:txBody>
      </p:sp>
      <p:pic>
        <p:nvPicPr>
          <p:cNvPr id="1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59200" y="2171700"/>
            <a:ext cx="101600" cy="355600"/>
          </a:xfrm>
          <a:prstGeom prst="rect">
            <a:avLst/>
          </a:prstGeom>
        </p:spPr>
      </p:pic>
      <p:pic>
        <p:nvPicPr>
          <p:cNvPr id="1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73700" y="2901950"/>
            <a:ext cx="990600" cy="101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46750" y="2667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yes</a:t>
            </a:r>
            <a:endParaRPr lang="en-US" sz="1200" dirty="0"/>
          </a:p>
        </p:txBody>
      </p:sp>
      <p:pic>
        <p:nvPicPr>
          <p:cNvPr id="20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59200" y="3378200"/>
            <a:ext cx="101600" cy="355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05250" y="3429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</a:t>
            </a:r>
            <a:endParaRPr lang="en-US" sz="1200" dirty="0"/>
          </a:p>
        </p:txBody>
      </p:sp>
      <p:pic>
        <p:nvPicPr>
          <p:cNvPr id="22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73700" y="4108450"/>
            <a:ext cx="990600" cy="101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746750" y="38735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yes</a:t>
            </a:r>
            <a:endParaRPr lang="en-US" sz="1200" dirty="0"/>
          </a:p>
        </p:txBody>
      </p:sp>
      <p:pic>
        <p:nvPicPr>
          <p:cNvPr id="24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759200" y="4584700"/>
            <a:ext cx="101600" cy="4191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905250" y="466725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</a:t>
            </a:r>
            <a:endParaRPr lang="en-US" sz="1200" dirty="0"/>
          </a:p>
        </p:txBody>
      </p:sp>
      <p:pic>
        <p:nvPicPr>
          <p:cNvPr id="26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267700" y="2901950"/>
            <a:ext cx="482600" cy="101600"/>
          </a:xfrm>
          <a:prstGeom prst="rect">
            <a:avLst/>
          </a:prstGeom>
        </p:spPr>
      </p:pic>
      <p:pic>
        <p:nvPicPr>
          <p:cNvPr id="27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029200" y="2901950"/>
            <a:ext cx="3721100" cy="2324100"/>
          </a:xfrm>
          <a:prstGeom prst="rect">
            <a:avLst/>
          </a:prstGeom>
        </p:spPr>
      </p:pic>
      <p:pic>
        <p:nvPicPr>
          <p:cNvPr id="28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029200" y="4330700"/>
            <a:ext cx="2387600" cy="895350"/>
          </a:xfrm>
          <a:prstGeom prst="rect">
            <a:avLst/>
          </a:prstGeom>
        </p:spPr>
      </p:pic>
      <p:pic>
        <p:nvPicPr>
          <p:cNvPr id="29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854200" y="5124450"/>
            <a:ext cx="736600" cy="101600"/>
          </a:xfrm>
          <a:prstGeom prst="rect">
            <a:avLst/>
          </a:prstGeom>
        </p:spPr>
      </p:pic>
      <p:pic>
        <p:nvPicPr>
          <p:cNvPr id="30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854200" y="1949450"/>
            <a:ext cx="101600" cy="3276600"/>
          </a:xfrm>
          <a:prstGeom prst="rect">
            <a:avLst/>
          </a:prstGeom>
        </p:spPr>
      </p:pic>
      <p:pic>
        <p:nvPicPr>
          <p:cNvPr id="31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854200" y="1949450"/>
            <a:ext cx="736600" cy="10160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9017000" y="1905000"/>
            <a:ext cx="261620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reading of −1 counts as 100 % wet, so a missing probe never starts the pump.</a:t>
            </a:r>
            <a:endParaRPr lang="en-US" sz="1300" dirty="0"/>
          </a:p>
        </p:txBody>
      </p:sp>
      <p:pic>
        <p:nvPicPr>
          <p:cNvPr id="33" name="Image 13" descr="Incipe Academy">    </p:cNvPr>
          <p:cNvPicPr>
            <a:picLocks noChangeAspect="1"/>
          </p:cNvPicPr>
          <p:nvPr/>
        </p:nvPicPr>
        <p:blipFill>
          <a:blip r:embed="rId14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35" name="Text 19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Lean Canvas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whole product plan on one page, in nine boxes.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63700"/>
          <a:ext cx="10807700" cy="3326805"/>
        </p:xfrm>
        <a:graphic>
          <a:graphicData uri="http://schemas.openxmlformats.org/drawingml/2006/table">
            <a:tbl>
              <a:tblPr/>
              <a:tblGrid>
                <a:gridCol w="648462"/>
                <a:gridCol w="3242310"/>
                <a:gridCol w="691692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#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Box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Question it answers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Customer segments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Who is it for?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are their top 1–3 problems?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Unique value proposition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sentence: why is yours different and worth it?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Solution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does it do about each problem?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Channels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will people hear about it and get it?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 streams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could it earn money, or be funded?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Cost structure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does it cost to make and run?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Key metrics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Which numbers show it’s working?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Unfair advantage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do you have that others can’t easily copy?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Smart Garden’s Lean Canvas.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63700"/>
          <a:ext cx="10807700" cy="2994124"/>
        </p:xfrm>
        <a:graphic>
          <a:graphicData uri="http://schemas.openxmlformats.org/drawingml/2006/table">
            <a:tbl>
              <a:tblPr/>
              <a:tblGrid>
                <a:gridCol w="3026156"/>
                <a:gridCol w="7781544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Box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Smart Garden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Customer segments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Students and young workers in flats with 1–5 indoor plants who travel often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Plants die during trips; they can’t tell when to water; asking a neighbour is awkward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Unique value proposition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“Your plants water themselves — and only when the soil is actually dry.”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Solution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Soil probe + pump with two thresholds: waters on its own, never floods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Channels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School maker fair, a demo video, plant-shop noticeboards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 · Costs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Kits at [price] · board and modules [cost], pot and tubing [cost], your time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Key metrics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Plants alive after a week away; users still using it after a month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Unfair advantage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 interviews, thresholds tuned on real plants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Task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Choose, canvas, check.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930053"/>
        </p:xfrm>
        <a:graphic>
          <a:graphicData uri="http://schemas.openxmlformats.org/drawingml/2006/table">
            <a:tbl>
              <a:tblPr/>
              <a:tblGrid>
                <a:gridCol w="864616"/>
                <a:gridCol w="994308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Choose your final concept: the Smart Garden, the Game Console, or your best Session 1 idea.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Fill in all nine Lean Canvas boxes. Use [ ] for any number you don’t know yet — never invent one.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Interview at least three people from your target audience. Update the Problem box with what they said.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Prepare the 3-minute pitch.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Assignment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3-minute problem-statement pitch.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2377694"/>
                <a:gridCol w="1080770"/>
                <a:gridCol w="734923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Hook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real moment: “Last term, Mei came back from a competition to three dead plants.”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 and who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60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target audience and their pain, as your problem statement and HMW.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Evidence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your interviews found, in their words.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Idea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solution in one sentence, your sketch, and the INCIPE modules it uses.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 need next: testers, feedback, a plant to try it on.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080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Practise out loud with a timer. If you run over, cut features, not the problem.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as a Rehearsal Partner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 the AI time your script.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10820400" cy="106675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336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WORKSPACE AI CHAT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448520"/>
            <a:ext cx="10621772" cy="3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this pitch at a normal speaking pace, and point out any sentence a 14-year-old wouldn’t understand.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005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 check its timing with a real stopwatch — the AI estimates; your voice decides.</a:t>
            </a:r>
            <a:endParaRPr lang="en-US" sz="1400" dirty="0"/>
          </a:p>
        </p:txBody>
      </p:sp>
      <p:pic>
        <p:nvPicPr>
          <p:cNvPr id="9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“My target audience is everyone who likes plants.” Good enough?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Target audience: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everyone who likes plants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Too broad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Narrow it until you can picture one person: “students in flats with a few indoor plants who travel for competitions”.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question gives better evidence?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A: Would you buy a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self-watering pot?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B: Tell me about the last time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one of your plants died.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asks about something that really happened; A invites a polite “yes”.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a flowchart, which shape asks a yes/no question?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Oval · Rectangle 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Diamond · Arrow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Diamond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arrows leave it, one for yes and one for no.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Lean Canvas box says, in one sentence, why your product is different?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Problem · Solution 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Unique value proposition 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Channels · Key metrics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unique value proposition.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3-minute pitch spends two minutes listing features. What’s missing?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Hook ............ 10 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Features ........ 2 min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Ask ............. 50 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problem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the evidence. A problem-statement pitch spends most of its time on who has the problem and what the interviews found.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Product-market fit is when a clear group wants your product enough to keep using it — find that group before you build.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Narrow your audience until you can picture one person; check with five real people by asking what they did, not what they would do.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Prototype on paper — a sketch and a flowchart — then put the plan on one Lean Canvas and pitch the problem in three minutes.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53910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M5 Session 1: Storytelling &amp; product pitching.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Turning your pitch into a story people remember.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2 · Product-Market Fit &amp; Solution Validation">
  <a:themeElements>
    <a:clrScheme name="Session 2 · Product-Market Fit &amp; Solution Validation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2 · Product-Market Fit &amp; Solution Validation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· Product-Market Fit &amp; Solution Validation</dc:title>
  <dc:subject/>
  <dc:creator/>
  <cp:lastModifiedBy/>
  <cp:revision>1</cp:revision>
  <dcterms:created xsi:type="dcterms:W3CDTF">2026-10-09T05:27:03Z</dcterms:created>
  <dcterms:modified xsi:type="dcterms:W3CDTF">2026-10-09T05:27:03Z</dcterms:modified>
</cp:coreProperties>
</file>