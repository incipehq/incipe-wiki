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lesson: first lesson of Module 1, Fundamentals of Programming with C++. We cover the course, the Arduino IDE, setup and loop, data types, errors and the INCIPE library, then play with the INCIPE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AI chat, where students describe what they want and Incipe AI writes the code. Right: the sketchbook (project files) and the code editor. Top bar, left to right: Verify (magnifier icon), Upload (arrow), the Board menu showing the USB-connected board and whether it is online, and the terminal icon for the serial monitor and plotter.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screenshot shows 115200, but every sketch in this lesson uses Serial.begin(9600). If the baud rate does not match, the output looks garbled.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answer: Serial.begin(9600); inside setup().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 AVR boards such as the Arduino Mega, double is stored the same way as float, so both give about 6–7 significant digits.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class which type each number needs, and why extra decimal places do not always help.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6 in Serial.println(b,6) prints six decimal places.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quotes: double quotes for a String, single quotes for a char. Boolean is covered further in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answer: Serial.print("Hi"); or Serial.println("Hi"); after Serial.begin(9600).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i, ii and iii print 1. iv prints the text 0+1, because anything inside quotes is printed as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mistakes: the missing ; after int SensorValue = 10, and SenserValue spelled differently from the variable SensorValue.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compiles and runs, so the IDE reports nothing. Only testing the equal case shows the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lines from the original sketch are left out here to fit the slide; the code itself is unchanged.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it shows 10 in the light1 place on the INCIPE Board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43999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439990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Taster Workshop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143000"/>
            <a:ext cx="10464800" cy="1545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1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Course Overview &amp;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Programming Basics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68379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621899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the IDE to your first library.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576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903710"/>
            <a:ext cx="388822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Course overview &amp; class setup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79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88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534890"/>
            <a:ext cx="516272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Getting started in the INCIPE Workspace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30104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200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166070"/>
            <a:ext cx="467058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Writing codes: setup(), loop() &amp; Serial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6416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512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797250"/>
            <a:ext cx="136695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2728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824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7800" y="4428430"/>
            <a:ext cx="4097298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Errors &amp; the error-free classwork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4904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53521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113586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7800" y="5059611"/>
            <a:ext cx="365396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Libraries &amp; the INCIPE Board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25688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Getting Started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45462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your way around INCIPE Workspace.</a:t>
            </a:r>
            <a:endParaRPr lang="en-US" sz="2800" dirty="0"/>
          </a:p>
        </p:txBody>
      </p:sp>
      <p:pic>
        <p:nvPicPr>
          <p:cNvPr id="6" name="Image 0" descr="INCIPE Workspace: AI chat panel on the left, sketchbook and code editor on the right, toolbar along the top">    </p:cNvPr>
          <p:cNvPicPr>
            <a:picLocks noChangeAspect="1"/>
          </p:cNvPicPr>
          <p:nvPr/>
        </p:nvPicPr>
        <p:blipFill>
          <a:blip r:embed="rId1"/>
          <a:srcRect l="-74" r="-74" t="0" b="0"/>
          <a:stretch/>
        </p:blipFill>
        <p:spPr>
          <a:xfrm>
            <a:off x="692150" y="1891010"/>
            <a:ext cx="6083300" cy="3797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8975" y="1887835"/>
            <a:ext cx="6089650" cy="3803650"/>
          </a:xfrm>
          <a:prstGeom prst="rect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7400" y="1681460"/>
            <a:ext cx="355600" cy="304800"/>
          </a:xfrm>
          <a:prstGeom prst="rect">
            <a:avLst/>
          </a:prstGeom>
        </p:spPr>
      </p:pic>
      <p:pic>
        <p:nvPicPr>
          <p:cNvPr id="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978400" y="1681460"/>
            <a:ext cx="184150" cy="304800"/>
          </a:xfrm>
          <a:prstGeom prst="rect">
            <a:avLst/>
          </a:prstGeom>
        </p:spPr>
      </p:pic>
      <p:pic>
        <p:nvPicPr>
          <p:cNvPr id="1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518150" y="1681460"/>
            <a:ext cx="76200" cy="304800"/>
          </a:xfrm>
          <a:prstGeom prst="rect">
            <a:avLst/>
          </a:prstGeom>
        </p:spPr>
      </p:pic>
      <p:pic>
        <p:nvPicPr>
          <p:cNvPr id="1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04000" y="1681460"/>
            <a:ext cx="76200" cy="3048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14475" y="35388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4498975" y="35388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49897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87997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541972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50557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7137400" y="1443335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7137400" y="1548110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7518400" y="1551285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chat.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Ask Incipe AI to write or change your code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7137400" y="1901775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137400" y="2006550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7518400" y="2009725"/>
            <a:ext cx="442137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Sketchbook &amp; code.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Your project files and the code editor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7137400" y="259769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7137400" y="270247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7518400" y="2705646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Verify.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To verify the code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7137400" y="305613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137400" y="316091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518400" y="3164086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To upload the code to the INCIPE Board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7137400" y="351457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7137400" y="361935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518400" y="3622526"/>
            <a:ext cx="442137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Board menu.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INCIPE Board connected by USB, and its status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7137400" y="421049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137400" y="4906417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137400" y="431527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518400" y="4318446"/>
            <a:ext cx="442137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 &amp; plotter.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terminal icon: see results or plot graphs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44150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Monitor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66971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virtual screen for the result of your code.</a:t>
            </a:r>
            <a:endParaRPr lang="en-US" sz="2800" dirty="0"/>
          </a:p>
        </p:txBody>
      </p:sp>
      <p:pic>
        <p:nvPicPr>
          <p:cNvPr id="6" name="Image 0" descr="INCIPE Workspace Console on the Serial tab: baud rate 115200, Start and Clear buttons, and an empty monitor reading No serial data">    </p:cNvPr>
          <p:cNvPicPr>
            <a:picLocks noChangeAspect="1"/>
          </p:cNvPicPr>
          <p:nvPr/>
        </p:nvPicPr>
        <p:blipFill>
          <a:blip r:embed="rId1"/>
          <a:srcRect l="-74" r="-74" t="0" b="0"/>
          <a:stretch/>
        </p:blipFill>
        <p:spPr>
          <a:xfrm>
            <a:off x="692150" y="1891010"/>
            <a:ext cx="6083300" cy="37973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8975" y="1887835"/>
            <a:ext cx="6089650" cy="3803650"/>
          </a:xfrm>
          <a:prstGeom prst="rect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04000" y="1681460"/>
            <a:ext cx="76200" cy="304800"/>
          </a:xfrm>
          <a:prstGeom prst="rect">
            <a:avLst/>
          </a:prstGeom>
        </p:spPr>
      </p:pic>
      <p:pic>
        <p:nvPicPr>
          <p:cNvPr id="9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212850" y="1681460"/>
            <a:ext cx="76200" cy="698500"/>
          </a:xfrm>
          <a:prstGeom prst="rect">
            <a:avLst/>
          </a:prstGeom>
        </p:spPr>
      </p:pic>
      <p:pic>
        <p:nvPicPr>
          <p:cNvPr id="10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69950" y="2633960"/>
            <a:ext cx="76200" cy="749300"/>
          </a:xfrm>
          <a:prstGeom prst="rect">
            <a:avLst/>
          </a:prstGeom>
        </p:spPr>
      </p:pic>
      <p:pic>
        <p:nvPicPr>
          <p:cNvPr id="11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09800" y="2633960"/>
            <a:ext cx="76200" cy="7493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50557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1114425" y="1443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771525" y="3348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2111375" y="3348335"/>
            <a:ext cx="273050" cy="27305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</p:spPr>
        <p:txBody>
          <a:bodyPr wrap="square" lIns="0" tIns="3175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7137400" y="1440160"/>
            <a:ext cx="4813808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Similar to the screen in front of you, a serial monitor is a virtual screen inside the INCIPE Workspace for you to see the result of your code.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7137400" y="234240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7137400" y="244718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7518400" y="2450356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Terminal icon.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Click it to open the Console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137400" y="280084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137400" y="290562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7518400" y="2908796"/>
            <a:ext cx="4421378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Serial tab.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Shows what your code prints; Plotter draws graphs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7137400" y="3496766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137400" y="3601541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518400" y="3604716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Baud rate.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Match Serial.begin(): 9600 in this lesson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7137400" y="3955207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137400" y="4413647"/>
            <a:ext cx="46736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7137400" y="4059982"/>
            <a:ext cx="2794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7518400" y="4063157"/>
            <a:ext cx="4421378" cy="268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Start.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Opens the monitor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7137400" y="4543822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Connect first: select the board’s port in the Board menu.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55595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Writing Codes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729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sketch has two functions.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ONCE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36080"/>
            <a:ext cx="5153025" cy="93469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68497" bIns="22860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setup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 }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248571"/>
            <a:ext cx="5307616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for setting up the motherboard.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678436"/>
            <a:ext cx="530761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steps inside setup() function will only run once, after each powerup or reset of the INCIPE Board.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5225" y="1744960"/>
            <a:ext cx="6350" cy="268014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6657975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CONTINUOUSLY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657975" y="2136080"/>
            <a:ext cx="5153025" cy="93469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68497" bIns="22860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loop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 }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57975" y="3248571"/>
            <a:ext cx="5307616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Codes written here will run continuously.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57975" y="3678436"/>
            <a:ext cx="5307616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Majority of your codes would be placed here. Codes here will mainly be what you want the INCIPE Board to do, and what data to give you.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48516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Writing Codes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55552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functions for your first sketches.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57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13210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Serial.begin(9600)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84600" y="1713210"/>
            <a:ext cx="8267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 activate your serial monitor.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0795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7050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84600" y="2197050"/>
            <a:ext cx="82671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Prints numbers or words to the serial port. Words need “”, otherwise the computer would not understand. The words or numbers print on the same line.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81230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29781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84600" y="2929781"/>
            <a:ext cx="82671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Similar to Serial.print(), but prints the data and then skips a line, so the next data is printed on a new line.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3545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62511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delay()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84600" y="3662511"/>
            <a:ext cx="8267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Tells the computer to wait before the next order. The unit is millisecond (1s = 1000ms).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" y="4028877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4512717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146352"/>
            <a:ext cx="28778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Serial.parseInt()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84600" y="4146352"/>
            <a:ext cx="82671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Reads the integer input from users.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88464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Examples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52580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Printing “Hello world”.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715000" cy="2692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79400" rIns="151638" bIns="25400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Serial.println("Hello world");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delay(1000);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07200" y="1744960"/>
            <a:ext cx="6350" cy="2692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19950" y="2085280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setup() activates the serial monitor once. loop() prints Hello world on a new line, waits 1000ms, then repeats.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19950" y="2710061"/>
            <a:ext cx="4591050" cy="94481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1" name="Text 9"/>
          <p:cNvSpPr/>
          <p:nvPr/>
        </p:nvSpPr>
        <p:spPr>
          <a:xfrm>
            <a:off x="7448550" y="2913261"/>
            <a:ext cx="42578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PRACTICE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48550" y="3202781"/>
            <a:ext cx="425786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Let’s have a try yourselves.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5191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Slido Check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5174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activate serial monitor?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26995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ANSWER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the line of code on Slido.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2699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in the Slido app.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46117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show once the slide is presenting.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27097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14094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ways to store a number.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06885"/>
            <a:ext cx="3437434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94210"/>
            <a:ext cx="3540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34530"/>
            <a:ext cx="354055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896791"/>
            <a:ext cx="3540557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Integer.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Integer in Maths, can be positive, 0 or negative.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524746"/>
            <a:ext cx="354055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eg 1, 102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9634" y="19068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9634" y="2094210"/>
            <a:ext cx="3540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9634" y="2434530"/>
            <a:ext cx="35406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29634" y="2896791"/>
            <a:ext cx="3540608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Float.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Numbers that can have up to 7 decimal places.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9634" y="3524746"/>
            <a:ext cx="3540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eg 1.234, 2.345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73517" y="19068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3517" y="2094210"/>
            <a:ext cx="3540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73517" y="2434530"/>
            <a:ext cx="354060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double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73517" y="2896791"/>
            <a:ext cx="3540608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Double.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Numbers that can have up to 15 decimal places.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373517" y="3524746"/>
            <a:ext cx="3540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eg 1.234567890123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39316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61339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precise does the number need to be?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005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57710"/>
            <a:ext cx="114589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SUM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98030"/>
            <a:ext cx="11458956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1+1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vs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001.000000000 + 001.000000000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85800" y="31818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46325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439071"/>
            <a:ext cx="114589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ROOM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779391"/>
            <a:ext cx="11458956" cy="4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22°C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vs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22.3°C </a:t>
            </a:r>
            <a:r>
              <a:rPr lang="en-US" sz="2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vs</a:t>
            </a:r>
            <a:r>
              <a:rPr lang="en-US" sz="2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22.3278453624°C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21456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07522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Declaring &amp; printing numbers.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DECLARE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32880"/>
            <a:ext cx="5153025" cy="2174081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203200" rIns="87725" bIns="1778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 = 10;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</a:t>
            </a: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a_const = 10;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 = 10.123456;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</a:t>
            </a: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b_const = 10.123456;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double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 = 10.123456789123456;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</a:t>
            </a:r>
            <a:r>
              <a:rPr lang="en-US" sz="12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double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c_const = 10.123456789123456;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225" y="1592560"/>
            <a:ext cx="6350" cy="339824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9" name="Text 7"/>
          <p:cNvSpPr/>
          <p:nvPr/>
        </p:nvSpPr>
        <p:spPr>
          <a:xfrm>
            <a:off x="6657975" y="15925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57975" y="1932880"/>
            <a:ext cx="5153025" cy="3057922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203200" rIns="87725" bIns="1778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Serial.print("a = 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Serial.print("a_const = 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Serial.println(a_const);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Serial.print("b = 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Serial.println(b,6);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Serial.print("b_const = 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Serial.println(b_const,6);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8386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8993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Storing characters &amp; words.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03710"/>
            <a:ext cx="4578350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– Single character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219275"/>
            <a:ext cx="45783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e.g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623741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499346"/>
            <a:ext cx="4445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79316"/>
            <a:ext cx="4578350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– Multiple characters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094881"/>
            <a:ext cx="457835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e.g ABC, Hello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502521"/>
            <a:ext cx="4445000" cy="1133376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3680321"/>
            <a:ext cx="41597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9000" y="3957141"/>
            <a:ext cx="4159758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Boolean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– A data type whose value is either true or false.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37200" y="1744960"/>
            <a:ext cx="6350" cy="2890937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5949950" y="1744960"/>
            <a:ext cx="5861050" cy="2890937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54000" rIns="120333" bIns="25400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String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text = "I am William";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char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character = 'A';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Serial.println(text);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Serial.println(character);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0081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Slido Check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32985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show a message Hi on serial monitor?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26995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ANSWER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 the line of code on Slido.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2699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in the Slido app.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46117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show once the slide is presenting.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116329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8870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Slido Check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88706" cy="843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of the following can print 1 on serial monitor?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153890"/>
            <a:ext cx="5715000" cy="233164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45869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CHOOSE ALL THAT APPLY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799011"/>
            <a:ext cx="5258562" cy="140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Serial.print(1);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ii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Serial.print("1");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iii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Serial.print(0+1);</a:t>
            </a:r>
            <a:endParaRPr lang="en-US" sz="16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iv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Serial.print("0+1");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07200" y="2153890"/>
            <a:ext cx="6350" cy="233164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215389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49421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in the Slido app.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87010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show once the slide is presenting.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51398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09396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kinds of error.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06885"/>
            <a:ext cx="3437434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94210"/>
            <a:ext cx="3540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34530"/>
            <a:ext cx="3540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 error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2866330"/>
            <a:ext cx="3540557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mistakes.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245396"/>
            <a:ext cx="3540557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eg missing a bracket in a conditional statement, missing a “;” or mixing up single equal and double equal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29634" y="19068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9634" y="2094210"/>
            <a:ext cx="3540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29634" y="2434530"/>
            <a:ext cx="35406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Run-time error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9634" y="2866330"/>
            <a:ext cx="3540608" cy="529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computer could not perform what you tell it to do.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9634" y="3497461"/>
            <a:ext cx="3540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eg 1/0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373517" y="19068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3517" y="2094210"/>
            <a:ext cx="35406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73517" y="2434530"/>
            <a:ext cx="35406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Logical error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73517" y="2866330"/>
            <a:ext cx="3540608" cy="529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computer gives you an outcome, but not the one you expected.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776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 Error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3316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Spot the written mistakes.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6350000" cy="23304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79400" rIns="132588" bIns="25400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SensorValue = 10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5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 (SenserValue);</a:t>
            </a:r>
            <a:endParaRPr lang="en-US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42200" y="1744960"/>
            <a:ext cx="6350" cy="23304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7854950" y="1744960"/>
            <a:ext cx="40747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TRY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54950" y="2085280"/>
            <a:ext cx="407473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Press Verify. The IDE stops at the first written mistake.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854950" y="2710061"/>
            <a:ext cx="407473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many can you find before you run it?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71947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Logical Error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99356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happens when the values are equal.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WRITTEN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10680"/>
            <a:ext cx="5153025" cy="15595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28600" rIns="114649" bIns="2032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(sensorValue &gt;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Print("true"); 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(sensorValue &lt;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Print("false"); }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822601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would be performed when sensorValue = threshold.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225" y="1744960"/>
            <a:ext cx="6350" cy="232653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657975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7975" y="2110680"/>
            <a:ext cx="5153025" cy="155952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28600" rIns="114649" bIns="2032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(sensorValue 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&gt;=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Print("true"); 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(sensorValue &lt; threshold)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Print("false"); 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57975" y="3822601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sensorValue = threshold, it now prints true.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33576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Classwork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391179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Error-free exercise.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897360"/>
            <a:ext cx="5715000" cy="125978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2021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NOTES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517080"/>
            <a:ext cx="525856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 to your note page 7-8.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807200" y="1897360"/>
            <a:ext cx="6350" cy="12597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8973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23768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 every error so each sketch runs.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61357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Suggested answers follow.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63029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Suggested Answer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55957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1: print Hi every second.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6858000" cy="3263801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17348" bIns="2286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main code here, to run repeatedly: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"Hi"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delay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(1000);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0200" y="1643360"/>
            <a:ext cx="6350" cy="326380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362950" y="1643360"/>
            <a:ext cx="35514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62950" y="1983680"/>
            <a:ext cx="3551492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Bronze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marks each fix.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62950" y="2362746"/>
            <a:ext cx="35514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with your own answer on note page 7-8.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31284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Suggested Answer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02467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2: calculate BMI.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90960"/>
            <a:ext cx="7493000" cy="3299718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177800" rIns="44450" bIns="152400" rtlCol="0" anchor="t">
            <a:normAutofit/>
          </a:bodyPr>
          <a:lstStyle/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enter your height in m");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height = Serial.parseFloat();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Please enter your weight in kg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while(Serial.available()==0){}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weight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Serial.parseFloat();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</a:t>
            </a: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BMI =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weight/height /height;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Serial.print("Your BMI is:");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Serial.println(BMI);</a:t>
            </a:r>
            <a:endParaRPr lang="en-US" sz="1200" dirty="0"/>
          </a:p>
          <a:p>
            <a:pPr algn="l" indent="0" marL="0">
              <a:lnSpc>
                <a:spcPts val="1656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85200" y="1490960"/>
            <a:ext cx="6350" cy="3299718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997950" y="1490960"/>
            <a:ext cx="28974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97950" y="1831280"/>
            <a:ext cx="2897442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Bronze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marks each fix.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97950" y="2210346"/>
            <a:ext cx="289744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with your own answer on note page 7-8.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2377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Suggested Answer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27042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 3: print a variable.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6858000" cy="3539381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54000" rIns="117348" bIns="22860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1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setup code here, to run once: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put your main code here, to run repeatedly: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</a:t>
            </a: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400" dirty="0"/>
          </a:p>
          <a:p>
            <a:pPr algn="l" indent="0" marL="0">
              <a:lnSpc>
                <a:spcPts val="217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0200" y="1643360"/>
            <a:ext cx="6350" cy="353938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362950" y="1643360"/>
            <a:ext cx="35514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CORRECTIONS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362950" y="1983680"/>
            <a:ext cx="3551492" cy="277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Bronze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marks each fix.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362950" y="2362746"/>
            <a:ext cx="35514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 with your own answer on note page 7-8.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57608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96407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Pre-written code you can reuse.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6096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25935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09800" y="1903710"/>
            <a:ext cx="47091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collection of pre-written code that we can use to perform specific tasks.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557066"/>
            <a:ext cx="6096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73486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09800" y="2712641"/>
            <a:ext cx="470916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Libraries reduce the amount of code you need by providing reusable functions or classes that can be called upon as needed.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614886"/>
            <a:ext cx="6096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423817"/>
            <a:ext cx="6096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92686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09800" y="3770461"/>
            <a:ext cx="47091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can find different libraries and install them in Arduino IDE.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88200" y="1744960"/>
            <a:ext cx="6350" cy="268203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7600950" y="1744960"/>
            <a:ext cx="4210050" cy="120898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8" name="Text 16"/>
          <p:cNvSpPr/>
          <p:nvPr/>
        </p:nvSpPr>
        <p:spPr>
          <a:xfrm>
            <a:off x="7880350" y="2024360"/>
            <a:ext cx="37607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80350" y="2339280"/>
            <a:ext cx="376078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Install INCIPE library now.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49870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INCIPE Library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57130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lines to put data on the screen.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3863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70000" y="19291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"incipe.h"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81800" y="1941810"/>
            <a:ext cx="51800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Gain access to INCIPE library.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3767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6728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70000" y="255776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 incipe (true);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81800" y="2570460"/>
            <a:ext cx="51800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Activate the library.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0054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63408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9593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70000" y="3186410"/>
            <a:ext cx="53632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incipe.onscreen("place", "data/word")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81800" y="3199110"/>
            <a:ext cx="51800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 “data/word” on that specific “place”.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93356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Slido Check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91288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does the following code do?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64078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716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10;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incipe.onscreen("light1", a);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164078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TO 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Please download and install the Slido app on all computers you use.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19950" y="271006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Results show once the slide is presenting.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74455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Hands-On &amp; Next Lesson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69268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Let’s play with the INCIPE Board.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037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906885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Install the INCIPE library and add #include "incipe.h".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11350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692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9200" y="2470100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Pick a place on the screen and show a value with incipe.onscreen().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3123456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686671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27903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19200" y="3282206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Verify, then upload to the INCIPE Board.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994646"/>
            <a:ext cx="53632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99200" y="1744960"/>
            <a:ext cx="6350" cy="260528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711950" y="1897360"/>
            <a:ext cx="52520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11950" y="2237680"/>
            <a:ext cx="52520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C++ Basics: Operators, Comments, Input &amp; Output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11950" y="2974280"/>
            <a:ext cx="525202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Introduction to Incipe Academy Advanced Sensor Kit.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11950" y="3350171"/>
            <a:ext cx="5099050" cy="607665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03200" tIns="177800" rIns="62421" bIns="1524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Coming up.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Boolean, the true-or-false data type.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WCSS Lesson 1: Course Overview &amp; Programming Basics">
  <a:themeElements>
    <a:clrScheme name="CSWCSS Lesson 1: Course Overview &amp; Programming Basics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CSWCSS Lesson 1: Course Overview &amp; Programming Basics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CSWCSS Lesson 1: Course Overview &amp; Programming Basics</dc:title>
  <dc:subject/>
  <dc:creator/>
  <cp:lastModifiedBy/>
  <cp:revision>1</cp:revision>
  <dcterms:created xsi:type="dcterms:W3CDTF">2026-10-09T05:15:38Z</dcterms:created>
  <dcterms:modified xsi:type="dcterms:W3CDTF">2026-10-09T05:15:38Z</dcterms:modified>
</cp:coreProperties>
</file>