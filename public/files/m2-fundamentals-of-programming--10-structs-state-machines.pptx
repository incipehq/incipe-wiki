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group related values with struct, plan a state machine as a table, and build the curriculum's traffic light. Then AI reviews the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in thirty minutes. Students need the board, the temperature and humidity sensor and the light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FSM stands for finite state machine: finite because the list of states is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card will hold three sensor readings that belong together: temperature, humidity and 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facts are copied from the Wiki pages and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9. A struct design is like printing the blank card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members are the boxes printed on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Forgetting this semicolon is a common Verify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A struct type can be a function's return type: three values from one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The card exists, but its boxes are not filled in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card dot member, like writing in one box on the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Any of these could still be -1 if that sensor is not detected.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One return, three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Session 1 builds its sensor dashboard on this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what the program is doing right now. Transition: moving from one state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enum is a list of named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the plan. Every later change starts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RED, YELLOW and GREEN are the only values a Light can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Where the machine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Every pass of loop() asks one question: which state am I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Show, wait, choose the next state — one row of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loop() runs again from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The YELLOW row: 1000 ms, next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Third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Back to RED. One full cycle: 3 + 1 + 3 = 7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practises the rule: change the table first, then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sentence keeps the answer short enough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 AI as a reviewer, not the author.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21.50.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RED, YELLOW, GREEN,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7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traffic-light task, including the cycle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p:bgPr>
    </p:bg>
    <p:spTree>
      <p:nvGrpSpPr>
        <p:cNvPr id="1" name=""/>
        <p:cNvGrpSpPr/>
        <p:nvPr/>
      </p:nvGrpSpPr>
      <p:grpSpPr>
        <a:xfrm>
          <a:off x="0" y="0"/>
          <a:ext cx="0" cy="0"/>
          <a:chOff x="0" y="0"/>
          <a:chExt cx="0" cy="0"/>
        </a:xfrm>
      </p:grpSpPr>
      <p:sp>
        <p:nvSpPr>
          <p:cNvPr id="2" name="Title Placeholder 1"/>
          <p:cNvSpPr/>
          <p:nvPr>
            <p:ph type="title"/>
          </p:nvPr>
        </p:nvSpPr>
        <p:spPr>
          <a:xfrm>
            <a:off x="685800" y="726430"/>
            <a:ext cx="9220200" cy="408930"/>
          </a:xfrm>
          <a:prstGeom prst="rect">
            <a:avLst/>
          </a:prstGeom>
          <a:noFill/>
          <a:ln/>
        </p:spPr>
        <p:txBody>
          <a:bodyPr wrap="square" lIns="0" tIns="0" rIns="0" bIns="0" rtlCol="0" anchor="t"/>
          <a:lstStyle>
            <a:lvl1pPr algn="l" indent="0" marL="0">
              <a:lnSpc>
                <a:spcPct val="115000"/>
              </a:lnSpc>
              <a:buNone/>
              <a:defRPr lang="en-US" sz="28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85800" y="1440160"/>
            <a:ext cx="10693400" cy="4605040"/>
          </a:xfrm>
          <a:prstGeom prst="rect">
            <a:avLst/>
          </a:prstGeom>
          <a:noFill/>
          <a:ln/>
        </p:spPr>
        <p:txBody>
          <a:bodyPr wrap="square" lIns="0" tIns="0" rIns="0" bIns="0" rtlCol="0" anchor="t"/>
          <a:lstStyle>
            <a:lvl1pPr algn="l" indent="0" marL="0">
              <a:lnSpc>
                <a:spcPct val="140000"/>
              </a:lnSpc>
              <a:buNone/>
              <a:defRPr lang="en-US" sz="1600" dirty="0">
                <a:solidFill>
                  <a:srgbClr val="1D1D1E"/>
                </a:solidFill>
                <a:latin typeface="Helvetica Neue" pitchFamily="34" charset="0"/>
                <a:ea typeface="Helvetica Neue" pitchFamily="34" charset="-122"/>
                <a:cs typeface="Helvetica Neue"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39462" b="39462"/>
          <a:stretch/>
        </p:blipFill>
        <p:spPr>
          <a:xfrm>
            <a:off x="0" y="3003550"/>
            <a:ext cx="12192000" cy="3854450"/>
          </a:xfrm>
          <a:prstGeom prst="rect">
            <a:avLst/>
          </a:prstGeom>
        </p:spPr>
      </p:pic>
      <p:sp>
        <p:nvSpPr>
          <p:cNvPr id="3" name="Text 0"/>
          <p:cNvSpPr/>
          <p:nvPr/>
        </p:nvSpPr>
        <p:spPr>
          <a:xfrm>
            <a:off x="381000" y="381000"/>
            <a:ext cx="3401060" cy="375841"/>
          </a:xfrm>
          <a:prstGeom prst="rect">
            <a:avLst/>
          </a:prstGeom>
          <a:noFill/>
          <a:ln/>
        </p:spPr>
        <p:txBody>
          <a:bodyPr wrap="square" lIns="0" tIns="0" rIns="0" bIns="0" rtlCol="0" anchor="t">
            <a:normAutofit/>
          </a:bodyPr>
          <a:lstStyle/>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 2026 Incipe Academy Limited.</a:t>
            </a:r>
            <a:endParaRPr lang="en-US" sz="1200" dirty="0"/>
          </a:p>
          <a:p>
            <a:pPr algn="l" indent="0" marL="0">
              <a:lnSpc>
                <a:spcPts val="1380"/>
              </a:lnSpc>
              <a:buNone/>
            </a:pPr>
            <a:r>
              <a:rPr lang="en-US" sz="1200" dirty="0">
                <a:solidFill>
                  <a:srgbClr val="B57946"/>
                </a:solidFill>
                <a:latin typeface="Helvetica Neue" pitchFamily="34" charset="0"/>
                <a:ea typeface="Helvetica Neue" pitchFamily="34" charset="-122"/>
                <a:cs typeface="Helvetica Neue" pitchFamily="34" charset="-120"/>
              </a:rPr>
              <a:t>All rights reserved.</a:t>
            </a:r>
            <a:endParaRPr lang="en-US" sz="1200" dirty="0"/>
          </a:p>
        </p:txBody>
      </p:sp>
      <p:sp>
        <p:nvSpPr>
          <p:cNvPr id="4" name="Text 1"/>
          <p:cNvSpPr/>
          <p:nvPr/>
        </p:nvSpPr>
        <p:spPr>
          <a:xfrm>
            <a:off x="4133850" y="406400"/>
            <a:ext cx="39243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Incipe 101</a:t>
            </a:r>
            <a:endParaRPr lang="en-US" sz="1600" dirty="0"/>
          </a:p>
        </p:txBody>
      </p:sp>
      <p:sp>
        <p:nvSpPr>
          <p:cNvPr id="5" name="Text 2"/>
          <p:cNvSpPr/>
          <p:nvPr/>
        </p:nvSpPr>
        <p:spPr>
          <a:xfrm>
            <a:off x="8409940" y="406400"/>
            <a:ext cx="340106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B57946"/>
                </a:solidFill>
                <a:latin typeface="Helvetica Neue" pitchFamily="34" charset="0"/>
                <a:ea typeface="Helvetica Neue" pitchFamily="34" charset="-122"/>
                <a:cs typeface="Helvetica Neue" pitchFamily="34" charset="-120"/>
              </a:rPr>
              <a:t>M2: Programming with C++</a:t>
            </a:r>
            <a:endParaRPr lang="en-US" sz="1600" dirty="0"/>
          </a:p>
        </p:txBody>
      </p:sp>
      <p:sp>
        <p:nvSpPr>
          <p:cNvPr id="6" name="Text 3"/>
          <p:cNvSpPr/>
          <p:nvPr>
            <p:ph type="title"/>
          </p:nvPr>
        </p:nvSpPr>
        <p:spPr>
          <a:xfrm>
            <a:off x="863600" y="1085850"/>
            <a:ext cx="10464800" cy="1454150"/>
          </a:xfrm>
          <a:prstGeom prst="rect">
            <a:avLst/>
          </a:prstGeom>
          <a:noFill/>
          <a:ln/>
        </p:spPr>
        <p:txBody>
          <a:bodyPr wrap="square" lIns="0" tIns="0" rIns="0" bIns="0" rtlCol="0" anchor="t">
            <a:normAutofit/>
          </a:bodyPr>
          <a:lstStyle/>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Session 4</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Structs &amp;</a:t>
            </a:r>
            <a:endParaRPr lang="en-US" sz="3750" dirty="0"/>
          </a:p>
          <a:p>
            <a:pPr algn="ctr" indent="0" marL="0">
              <a:lnSpc>
                <a:spcPts val="3750"/>
              </a:lnSpc>
              <a:buNone/>
            </a:pPr>
            <a:r>
              <a:rPr lang="en-US" sz="3750" b="1" i="0" dirty="0">
                <a:solidFill>
                  <a:srgbClr val="B57946"/>
                </a:solidFill>
                <a:latin typeface="Helvetica Neue" pitchFamily="34" charset="0"/>
                <a:ea typeface="Helvetica Neue" pitchFamily="34" charset="-122"/>
                <a:cs typeface="Helvetica Neue" pitchFamily="34" charset="-120"/>
              </a:rPr>
              <a:t>State Machines</a:t>
            </a:r>
            <a:endParaRPr lang="en-US" sz="3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116329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Lesson Overview</a:t>
            </a:r>
            <a:endParaRPr lang="en-US" sz="1600" dirty="0"/>
          </a:p>
        </p:txBody>
      </p:sp>
      <p:sp>
        <p:nvSpPr>
          <p:cNvPr id="4" name="Text 2"/>
          <p:cNvSpPr/>
          <p:nvPr>
            <p:ph type="title"/>
          </p:nvPr>
        </p:nvSpPr>
        <p:spPr>
          <a:xfrm>
            <a:off x="685800" y="726430"/>
            <a:ext cx="9496806" cy="84326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Keep related values together, and give your program a clear set of moods.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2171700"/>
          <a:ext cx="10807700" cy="1930053"/>
        </p:xfrm>
        <a:graphic>
          <a:graphicData uri="http://schemas.openxmlformats.org/drawingml/2006/table">
            <a:tbl>
              <a:tblPr/>
              <a:tblGrid>
                <a:gridCol w="1080770"/>
                <a:gridCol w="7781544"/>
                <a:gridCol w="194538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Part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Topic</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Time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struct: one card for related values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8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State machines: one state at a time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8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Practice: a traffic light</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9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04</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AI integration: review your state machine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5 min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572000"/>
            <a:ext cx="1114501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6706C"/>
                </a:solidFill>
                <a:latin typeface="Helvetica Neue" pitchFamily="34" charset="0"/>
                <a:ea typeface="Helvetica Neue" pitchFamily="34" charset="-122"/>
                <a:cs typeface="Helvetica Neue" pitchFamily="34" charset="-120"/>
              </a:rPr>
              <a:t>Builds on functions and switch from Session 2, and the sensor readings from Lesson 3.</a:t>
            </a:r>
            <a:endParaRPr lang="en-US" sz="13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Key Words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Six words you will hear today.</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2515245"/>
        </p:xfrm>
        <a:graphic>
          <a:graphicData uri="http://schemas.openxmlformats.org/drawingml/2006/table">
            <a:tbl>
              <a:tblPr/>
              <a:tblGrid>
                <a:gridCol w="2810002"/>
                <a:gridCol w="7997698"/>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Word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Plain meaning</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struct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new type you design yourself, that groups several values under one name.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Member</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One value inside a struct, reached with a dot: d.temperature.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State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What the program is doing right now — like "red" for a traffic light.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Transition</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Moving from one state to the next.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State machine (FSM)</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program that is always in exactly one state and moves between states by clear rules.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enum</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list of named values, like RED, YELLOW, GREEN, so code says names instead of numbers.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struct</a:t>
            </a:r>
            <a:endParaRPr lang="en-US" sz="1600" dirty="0"/>
          </a:p>
        </p:txBody>
      </p:sp>
      <p:sp>
        <p:nvSpPr>
          <p:cNvPr id="4" name="Text 2"/>
          <p:cNvSpPr/>
          <p:nvPr>
            <p:ph type="title"/>
          </p:nvPr>
        </p:nvSpPr>
        <p:spPr>
          <a:xfrm>
            <a:off x="685800" y="209550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A struct is a student ID card for your data.</a:t>
            </a:r>
            <a:endParaRPr lang="en-US" sz="4800" dirty="0"/>
          </a:p>
        </p:txBody>
      </p:sp>
      <p:sp>
        <p:nvSpPr>
          <p:cNvPr id="5" name="Text 3"/>
          <p:cNvSpPr/>
          <p:nvPr/>
        </p:nvSpPr>
        <p:spPr>
          <a:xfrm>
            <a:off x="685800" y="3873500"/>
            <a:ext cx="78486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Name, class and number belong together, so they are printed on one card — not on three loose slips of paper.</a:t>
            </a:r>
            <a:endParaRPr lang="en-US" sz="1600" dirty="0"/>
          </a:p>
        </p:txBody>
      </p:sp>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Meet the Sensors</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Three readings that belong together.</a:t>
            </a:r>
            <a:endParaRPr lang="en-US" sz="2800" dirty="0"/>
          </a:p>
        </p:txBody>
      </p:sp>
      <p:sp>
        <p:nvSpPr>
          <p:cNvPr id="5" name="Shape 3"/>
          <p:cNvSpPr/>
          <p:nvPr/>
        </p:nvSpPr>
        <p:spPr>
          <a:xfrm>
            <a:off x="685800" y="1841500"/>
            <a:ext cx="10820400" cy="1375370"/>
          </a:xfrm>
          <a:prstGeom prst="rect">
            <a:avLst/>
          </a:prstGeom>
          <a:solidFill>
            <a:srgbClr val="E1E1E1"/>
          </a:solidFill>
          <a:ln/>
        </p:spPr>
      </p:sp>
      <p:sp>
        <p:nvSpPr>
          <p:cNvPr id="6" name="Text 4"/>
          <p:cNvSpPr/>
          <p:nvPr/>
        </p:nvSpPr>
        <p:spPr>
          <a:xfrm>
            <a:off x="939800" y="2019300"/>
            <a:ext cx="106217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ONE LINE OF CODE</a:t>
            </a:r>
            <a:endParaRPr lang="en-US" sz="1200" dirty="0"/>
          </a:p>
        </p:txBody>
      </p:sp>
      <p:sp>
        <p:nvSpPr>
          <p:cNvPr id="7" name="Text 5"/>
          <p:cNvSpPr/>
          <p:nvPr/>
        </p:nvSpPr>
        <p:spPr>
          <a:xfrm>
            <a:off x="939800" y="2296120"/>
            <a:ext cx="10621772"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float temperature = incipe.getTemperature();</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float humidity = incipe.getHumidity();</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float light = incipe.getLightIntensity();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8500" y="3441700"/>
          <a:ext cx="10807700" cy="1330722"/>
        </p:xfrm>
        <a:graphic>
          <a:graphicData uri="http://schemas.openxmlformats.org/drawingml/2006/table">
            <a:tbl>
              <a:tblPr/>
              <a:tblGrid>
                <a:gridCol w="3242310"/>
                <a:gridCol w="3890772"/>
                <a:gridCol w="1729232"/>
                <a:gridCol w="1945386"/>
              </a:tblGrid>
              <a:tr h="332680">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Call</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Value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Not detected</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680"/>
                        </a:lnSpc>
                        <a:buNone/>
                      </a:pPr>
                      <a:r>
                        <a:rPr lang="en-US" sz="1200" b="1" dirty="0">
                          <a:solidFill>
                            <a:srgbClr val="1D1D1E"/>
                          </a:solidFill>
                          <a:latin typeface="Helvetica Neue" pitchFamily="34" charset="0"/>
                          <a:ea typeface="Helvetica Neue" pitchFamily="34" charset="-122"/>
                          <a:cs typeface="Helvetica Neue" pitchFamily="34" charset="-120"/>
                        </a:rPr>
                        <a:t>Read it every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incipe.getTemperature()</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float in degrees Celsius (°C)</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2000 ms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incipe.getHumidity()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float, % relative humidity, 0–100</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2000 ms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incipe.getLightIntensity()</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A float from 0 (dark) to 1023 (bright)</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680"/>
                        </a:lnSpc>
                        <a:buNone/>
                      </a:pPr>
                      <a:r>
                        <a:rPr lang="en-US" sz="1200" dirty="0">
                          <a:solidFill>
                            <a:srgbClr val="1D1D1E"/>
                          </a:solidFill>
                          <a:latin typeface="Helvetica Neue" pitchFamily="34" charset="0"/>
                          <a:ea typeface="Helvetica Neue" pitchFamily="34" charset="-122"/>
                          <a:cs typeface="Helvetica Neue" pitchFamily="34" charset="-120"/>
                        </a:rPr>
                        <a:t>20–500 ms</a:t>
                      </a:r>
                      <a:endParaRPr lang="en-US" sz="1200" dirty="0">
                        <a:latin typeface="Helvetica Neue" charset="0"/>
                        <a:ea typeface="Helvetica Neue" charset="0"/>
                        <a:cs typeface="Helvetica Neue" charset="0"/>
                      </a:endParaRPr>
                    </a:p>
                  </a:txBody>
                  <a:tcPr marL="53340" marR="53340" marT="53340" marB="5334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9" name="Text 6"/>
          <p:cNvSpPr/>
          <p:nvPr/>
        </p:nvSpPr>
        <p:spPr>
          <a:xfrm>
            <a:off x="685800" y="5270500"/>
            <a:ext cx="111450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Full details: Wiki › Temperature &amp; humidity sensor, Wiki › Light sensor.</a:t>
            </a:r>
            <a:endParaRPr lang="en-US" sz="1200" dirty="0"/>
          </a:p>
        </p:txBody>
      </p:sp>
      <p:pic>
        <p:nvPicPr>
          <p:cNvPr id="10"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1"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2"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2095500"/>
            <a:ext cx="6604000" cy="254000"/>
          </a:xfrm>
          <a:prstGeom prst="rect">
            <a:avLst/>
          </a:prstGeom>
          <a:solidFill>
            <a:srgbClr val="FFFFFF"/>
          </a:solidFill>
          <a:ln/>
        </p:spPr>
      </p:sp>
      <p:sp>
        <p:nvSpPr>
          <p:cNvPr id="7" name="Shape 5"/>
          <p:cNvSpPr/>
          <p:nvPr/>
        </p:nvSpPr>
        <p:spPr>
          <a:xfrm>
            <a:off x="685800" y="2095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9</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Design a new type called SensorData — the blank card.</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Not made yet.</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2349500"/>
            <a:ext cx="6604000" cy="254000"/>
          </a:xfrm>
          <a:prstGeom prst="rect">
            <a:avLst/>
          </a:prstGeom>
          <a:solidFill>
            <a:srgbClr val="FFFFFF"/>
          </a:solidFill>
          <a:ln/>
        </p:spPr>
      </p:sp>
      <p:sp>
        <p:nvSpPr>
          <p:cNvPr id="7" name="Shape 5"/>
          <p:cNvSpPr/>
          <p:nvPr/>
        </p:nvSpPr>
        <p:spPr>
          <a:xfrm>
            <a:off x="685800" y="2349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2 OF 9</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It has three members. Each is a float, with a comment saying its unit.</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Not made yet.</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3111500"/>
            <a:ext cx="6604000" cy="254000"/>
          </a:xfrm>
          <a:prstGeom prst="rect">
            <a:avLst/>
          </a:prstGeom>
          <a:solidFill>
            <a:srgbClr val="FFFFFF"/>
          </a:solidFill>
          <a:ln/>
        </p:spPr>
      </p:sp>
      <p:sp>
        <p:nvSpPr>
          <p:cNvPr id="7" name="Shape 5"/>
          <p:cNvSpPr/>
          <p:nvPr/>
        </p:nvSpPr>
        <p:spPr>
          <a:xfrm>
            <a:off x="685800" y="3111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5 · STEP 3 OF 9</a:t>
            </a:r>
            <a:endParaRPr lang="en-US" sz="1200" dirty="0"/>
          </a:p>
        </p:txBody>
      </p:sp>
      <p:sp>
        <p:nvSpPr>
          <p:cNvPr id="10" name="Text 8"/>
          <p:cNvSpPr/>
          <p:nvPr/>
        </p:nvSpPr>
        <p:spPr>
          <a:xfrm>
            <a:off x="7670800" y="2190750"/>
            <a:ext cx="4521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 after } ends the design. Nothing is stored yet.</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Not made yet.</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3619500"/>
            <a:ext cx="6604000" cy="254000"/>
          </a:xfrm>
          <a:prstGeom prst="rect">
            <a:avLst/>
          </a:prstGeom>
          <a:solidFill>
            <a:srgbClr val="FFFFFF"/>
          </a:solidFill>
          <a:ln/>
        </p:spPr>
      </p:sp>
      <p:sp>
        <p:nvSpPr>
          <p:cNvPr id="7" name="Shape 5"/>
          <p:cNvSpPr/>
          <p:nvPr/>
        </p:nvSpPr>
        <p:spPr>
          <a:xfrm>
            <a:off x="685800" y="3619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7 · STEP 4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A function that hands back a whole SensorData.</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76706C"/>
                </a:solidFill>
                <a:latin typeface="Helvetica Neue" pitchFamily="34" charset="0"/>
                <a:ea typeface="Helvetica Neue" pitchFamily="34" charset="-122"/>
                <a:cs typeface="Helvetica Neue" pitchFamily="34" charset="-120"/>
              </a:rPr>
              <a:t>Not made yet.</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3873500"/>
            <a:ext cx="6604000" cy="254000"/>
          </a:xfrm>
          <a:prstGeom prst="rect">
            <a:avLst/>
          </a:prstGeom>
          <a:solidFill>
            <a:srgbClr val="FFFFFF"/>
          </a:solidFill>
          <a:ln/>
        </p:spPr>
      </p:sp>
      <p:sp>
        <p:nvSpPr>
          <p:cNvPr id="7" name="Shape 5"/>
          <p:cNvSpPr/>
          <p:nvPr/>
        </p:nvSpPr>
        <p:spPr>
          <a:xfrm>
            <a:off x="685800" y="3873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8 · STEP 5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Make one empty card, d.</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d.temperature = ?</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d.humidity = ?</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d.light = ?</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4127500"/>
            <a:ext cx="6604000" cy="254000"/>
          </a:xfrm>
          <a:prstGeom prst="rect">
            <a:avLst/>
          </a:prstGeom>
          <a:solidFill>
            <a:srgbClr val="FFFFFF"/>
          </a:solidFill>
          <a:ln/>
        </p:spPr>
      </p:sp>
      <p:sp>
        <p:nvSpPr>
          <p:cNvPr id="7" name="Shape 5"/>
          <p:cNvSpPr/>
          <p:nvPr/>
        </p:nvSpPr>
        <p:spPr>
          <a:xfrm>
            <a:off x="685800" y="4127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9 · STEP 6 OF 9</a:t>
            </a:r>
            <a:endParaRPr lang="en-US" sz="1200" dirty="0"/>
          </a:p>
        </p:txBody>
      </p:sp>
      <p:sp>
        <p:nvSpPr>
          <p:cNvPr id="10" name="Text 8"/>
          <p:cNvSpPr/>
          <p:nvPr/>
        </p:nvSpPr>
        <p:spPr>
          <a:xfrm>
            <a:off x="7670800" y="2190750"/>
            <a:ext cx="42644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dot reaches inside: fill in the temperature. Say it is 23.4.</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d.temperature = </a:t>
            </a:r>
            <a:r>
              <a:rPr lang="en-US" sz="1300" dirty="0">
                <a:solidFill>
                  <a:srgbClr val="8F5C33"/>
                </a:solidFill>
                <a:latin typeface="Courier New" pitchFamily="49" charset="0"/>
                <a:ea typeface="Courier New" pitchFamily="49" charset="-122"/>
                <a:cs typeface="Courier New" pitchFamily="49" charset="-120"/>
              </a:rPr>
              <a:t>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d.humidity = ?</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d.light = ?</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4381500"/>
            <a:ext cx="6604000" cy="254000"/>
          </a:xfrm>
          <a:prstGeom prst="rect">
            <a:avLst/>
          </a:prstGeom>
          <a:solidFill>
            <a:srgbClr val="FFFFFF"/>
          </a:solidFill>
          <a:ln/>
        </p:spPr>
      </p:sp>
      <p:sp>
        <p:nvSpPr>
          <p:cNvPr id="7" name="Shape 5"/>
          <p:cNvSpPr/>
          <p:nvPr/>
        </p:nvSpPr>
        <p:spPr>
          <a:xfrm>
            <a:off x="685800" y="4381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10 · STEP 7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Fill in the humidity: 51.</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d.humidity = </a:t>
            </a:r>
            <a:r>
              <a:rPr lang="en-US" sz="1300" dirty="0">
                <a:solidFill>
                  <a:srgbClr val="8F5C33"/>
                </a:solidFill>
                <a:latin typeface="Courier New" pitchFamily="49" charset="0"/>
                <a:ea typeface="Courier New" pitchFamily="49" charset="-122"/>
                <a:cs typeface="Courier New" pitchFamily="49" charset="-120"/>
              </a:rPr>
              <a:t>51.0</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d.light = ?</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4635500"/>
            <a:ext cx="6604000" cy="254000"/>
          </a:xfrm>
          <a:prstGeom prst="rect">
            <a:avLst/>
          </a:prstGeom>
          <a:solidFill>
            <a:srgbClr val="FFFFFF"/>
          </a:solidFill>
          <a:ln/>
        </p:spPr>
      </p:sp>
      <p:sp>
        <p:nvSpPr>
          <p:cNvPr id="7" name="Shape 5"/>
          <p:cNvSpPr/>
          <p:nvPr/>
        </p:nvSpPr>
        <p:spPr>
          <a:xfrm>
            <a:off x="685800" y="4635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11 · STEP 8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Fill in the light: 700.</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d.humidity = 51.0</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d.light = </a:t>
            </a:r>
            <a:r>
              <a:rPr lang="en-US" sz="1300" dirty="0">
                <a:solidFill>
                  <a:srgbClr val="8F5C33"/>
                </a:solidFill>
                <a:latin typeface="Courier New" pitchFamily="49" charset="0"/>
                <a:ea typeface="Courier New" pitchFamily="49" charset="-122"/>
                <a:cs typeface="Courier New" pitchFamily="49" charset="-120"/>
              </a:rPr>
              <a:t>700.0</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Design the card, then fill it in.</a:t>
            </a:r>
            <a:endParaRPr lang="en-US" sz="2800" dirty="0"/>
          </a:p>
        </p:txBody>
      </p:sp>
      <p:sp>
        <p:nvSpPr>
          <p:cNvPr id="5" name="Shape 3"/>
          <p:cNvSpPr/>
          <p:nvPr/>
        </p:nvSpPr>
        <p:spPr>
          <a:xfrm>
            <a:off x="685800" y="1905000"/>
            <a:ext cx="6604000" cy="3619500"/>
          </a:xfrm>
          <a:prstGeom prst="rect">
            <a:avLst/>
          </a:prstGeom>
          <a:solidFill>
            <a:srgbClr val="E1E1E1"/>
          </a:solidFill>
          <a:ln/>
        </p:spPr>
      </p:sp>
      <p:sp>
        <p:nvSpPr>
          <p:cNvPr id="6" name="Shape 4"/>
          <p:cNvSpPr/>
          <p:nvPr/>
        </p:nvSpPr>
        <p:spPr>
          <a:xfrm>
            <a:off x="685800" y="4889500"/>
            <a:ext cx="6604000" cy="254000"/>
          </a:xfrm>
          <a:prstGeom prst="rect">
            <a:avLst/>
          </a:prstGeom>
          <a:solidFill>
            <a:srgbClr val="FFFFFF"/>
          </a:solidFill>
          <a:ln/>
        </p:spPr>
      </p:sp>
      <p:sp>
        <p:nvSpPr>
          <p:cNvPr id="7" name="Shape 5"/>
          <p:cNvSpPr/>
          <p:nvPr/>
        </p:nvSpPr>
        <p:spPr>
          <a:xfrm>
            <a:off x="685800" y="4889500"/>
            <a:ext cx="31750" cy="254000"/>
          </a:xfrm>
          <a:prstGeom prst="rect">
            <a:avLst/>
          </a:prstGeom>
          <a:solidFill>
            <a:srgbClr val="B57946"/>
          </a:solidFill>
          <a:ln/>
        </p:spPr>
      </p:sp>
      <p:sp>
        <p:nvSpPr>
          <p:cNvPr id="8" name="Text 6"/>
          <p:cNvSpPr/>
          <p:nvPr/>
        </p:nvSpPr>
        <p:spPr>
          <a:xfrm>
            <a:off x="889000" y="2095500"/>
            <a:ext cx="6475095" cy="3333849"/>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struct SensorData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float temperature;   // °C</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float humidity;      //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float light;         // 0–1023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SensorData readAll()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SensorData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d.temperature = incipe.getTemperature();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d.humidity = incipe.getHumidity();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11</a:t>
            </a:r>
            <a:r>
              <a:rPr lang="en-US" sz="1200" dirty="0">
                <a:solidFill>
                  <a:srgbClr val="1D1D1E"/>
                </a:solidFill>
                <a:latin typeface="Courier New" pitchFamily="49" charset="0"/>
                <a:ea typeface="Courier New" pitchFamily="49" charset="-122"/>
                <a:cs typeface="Courier New" pitchFamily="49" charset="-120"/>
              </a:rPr>
              <a:t>    d.light = incipe.getLightIntensity();</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12</a:t>
            </a:r>
            <a:r>
              <a:rPr lang="en-US" sz="1200" dirty="0">
                <a:solidFill>
                  <a:srgbClr val="1D1D1E"/>
                </a:solidFill>
                <a:latin typeface="Courier New" pitchFamily="49" charset="0"/>
                <a:ea typeface="Courier New" pitchFamily="49" charset="-122"/>
                <a:cs typeface="Courier New" pitchFamily="49" charset="-120"/>
              </a:rPr>
              <a:t>    return 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13</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7670800" y="190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12 · STEP 9 OF 9</a:t>
            </a:r>
            <a:endParaRPr lang="en-US" sz="1200" dirty="0"/>
          </a:p>
        </p:txBody>
      </p:sp>
      <p:sp>
        <p:nvSpPr>
          <p:cNvPr id="10" name="Text 8"/>
          <p:cNvSpPr/>
          <p:nvPr/>
        </p:nvSpPr>
        <p:spPr>
          <a:xfrm>
            <a:off x="7670800" y="2190750"/>
            <a:ext cx="42644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Hand back the whole card in one go.</a:t>
            </a:r>
            <a:endParaRPr lang="en-US" sz="1400" dirty="0"/>
          </a:p>
        </p:txBody>
      </p:sp>
      <p:sp>
        <p:nvSpPr>
          <p:cNvPr id="11" name="Text 9"/>
          <p:cNvSpPr/>
          <p:nvPr/>
        </p:nvSpPr>
        <p:spPr>
          <a:xfrm>
            <a:off x="7670800" y="3175000"/>
            <a:ext cx="426440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THE CARD D</a:t>
            </a:r>
            <a:endParaRPr lang="en-US" sz="1200" dirty="0"/>
          </a:p>
        </p:txBody>
      </p:sp>
      <p:sp>
        <p:nvSpPr>
          <p:cNvPr id="12" name="Text 10"/>
          <p:cNvSpPr/>
          <p:nvPr/>
        </p:nvSpPr>
        <p:spPr>
          <a:xfrm>
            <a:off x="7670800" y="3429000"/>
            <a:ext cx="4264406"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d.temperature = 23.4</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d.humidity = 51.0</a:t>
            </a:r>
            <a:endParaRPr lang="en-US" sz="1300" dirty="0"/>
          </a:p>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d.light = 700.0</a:t>
            </a:r>
            <a:endParaRPr lang="en-US" sz="13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Using It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One call, one card, every value.</a:t>
            </a:r>
            <a:endParaRPr lang="en-US" sz="2800" dirty="0"/>
          </a:p>
        </p:txBody>
      </p:sp>
      <p:sp>
        <p:nvSpPr>
          <p:cNvPr id="5" name="Shape 3"/>
          <p:cNvSpPr/>
          <p:nvPr/>
        </p:nvSpPr>
        <p:spPr>
          <a:xfrm>
            <a:off x="685800" y="1905000"/>
            <a:ext cx="6604000" cy="1587500"/>
          </a:xfrm>
          <a:prstGeom prst="rect">
            <a:avLst/>
          </a:prstGeom>
          <a:solidFill>
            <a:srgbClr val="E1E1E1"/>
          </a:solidFill>
          <a:ln/>
        </p:spPr>
      </p:sp>
      <p:sp>
        <p:nvSpPr>
          <p:cNvPr id="6" name="Text 4"/>
          <p:cNvSpPr/>
          <p:nvPr/>
        </p:nvSpPr>
        <p:spPr>
          <a:xfrm>
            <a:off x="889000" y="2095500"/>
            <a:ext cx="6475095" cy="1043384"/>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SensorData now = readAll();</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Serial.print(now.temperature);</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r>
              <a:rPr lang="en-US" sz="1200" dirty="0">
                <a:solidFill>
                  <a:srgbClr val="1D1D1E"/>
                </a:solidFill>
                <a:latin typeface="Courier New" pitchFamily="49" charset="0"/>
                <a:ea typeface="Courier New" pitchFamily="49" charset="-122"/>
                <a:cs typeface="Courier New" pitchFamily="49" charset="-120"/>
              </a:rPr>
              <a:t>  Serial.print("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Serial.println(now.light);</a:t>
            </a:r>
            <a:endParaRPr lang="en-US" sz="1200" dirty="0"/>
          </a:p>
        </p:txBody>
      </p:sp>
      <p:sp>
        <p:nvSpPr>
          <p:cNvPr id="7" name="Text 5"/>
          <p:cNvSpPr/>
          <p:nvPr/>
        </p:nvSpPr>
        <p:spPr>
          <a:xfrm>
            <a:off x="7670800" y="19050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8" name="Shape 6"/>
          <p:cNvSpPr/>
          <p:nvPr/>
        </p:nvSpPr>
        <p:spPr>
          <a:xfrm>
            <a:off x="7670800" y="2159000"/>
            <a:ext cx="3835400" cy="698500"/>
          </a:xfrm>
          <a:prstGeom prst="rect">
            <a:avLst/>
          </a:prstGeom>
          <a:solidFill>
            <a:srgbClr val="FFFFFF"/>
          </a:solidFill>
          <a:ln/>
        </p:spPr>
      </p:sp>
      <p:sp>
        <p:nvSpPr>
          <p:cNvPr id="9" name="Text 7"/>
          <p:cNvSpPr/>
          <p:nvPr/>
        </p:nvSpPr>
        <p:spPr>
          <a:xfrm>
            <a:off x="7823200" y="2362200"/>
            <a:ext cx="3636518"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5C33"/>
                </a:solidFill>
                <a:latin typeface="Courier New" pitchFamily="49" charset="0"/>
                <a:ea typeface="Courier New" pitchFamily="49" charset="-122"/>
                <a:cs typeface="Courier New" pitchFamily="49" charset="-120"/>
              </a:rPr>
              <a:t>23.40 700.00</a:t>
            </a:r>
            <a:endParaRPr lang="en-US" sz="1300" dirty="0"/>
          </a:p>
        </p:txBody>
      </p:sp>
      <p:sp>
        <p:nvSpPr>
          <p:cNvPr id="10" name="Text 8"/>
          <p:cNvSpPr/>
          <p:nvPr/>
        </p:nvSpPr>
        <p:spPr>
          <a:xfrm>
            <a:off x="7670800" y="2984500"/>
            <a:ext cx="39504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With the values from the walkthrough.</a:t>
            </a:r>
            <a:endParaRPr lang="en-US" sz="1200" dirty="0"/>
          </a:p>
        </p:txBody>
      </p:sp>
      <p:sp>
        <p:nvSpPr>
          <p:cNvPr id="11" name="Text 9"/>
          <p:cNvSpPr/>
          <p:nvPr/>
        </p:nvSpPr>
        <p:spPr>
          <a:xfrm>
            <a:off x="685800" y="3873500"/>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STILL CHECK FOR −1</a:t>
            </a:r>
            <a:endParaRPr lang="en-US" sz="1200" dirty="0"/>
          </a:p>
        </p:txBody>
      </p:sp>
      <p:sp>
        <p:nvSpPr>
          <p:cNvPr id="12" name="Text 10"/>
          <p:cNvSpPr/>
          <p:nvPr/>
        </p:nvSpPr>
        <p:spPr>
          <a:xfrm>
            <a:off x="685800" y="4163020"/>
            <a:ext cx="350570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Each member can be −1 if its sensor is not detected. Check now.temperature &gt;= 0 before you use it.</a:t>
            </a:r>
            <a:endParaRPr lang="en-US" sz="1400" dirty="0"/>
          </a:p>
        </p:txBody>
      </p:sp>
      <p:sp>
        <p:nvSpPr>
          <p:cNvPr id="13" name="Text 11"/>
          <p:cNvSpPr/>
          <p:nvPr/>
        </p:nvSpPr>
        <p:spPr>
          <a:xfrm>
            <a:off x="4394200" y="3873500"/>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 BOTHER?</a:t>
            </a:r>
            <a:endParaRPr lang="en-US" sz="1200" dirty="0"/>
          </a:p>
        </p:txBody>
      </p:sp>
      <p:sp>
        <p:nvSpPr>
          <p:cNvPr id="14" name="Text 12"/>
          <p:cNvSpPr/>
          <p:nvPr/>
        </p:nvSpPr>
        <p:spPr>
          <a:xfrm>
            <a:off x="4394200" y="4163020"/>
            <a:ext cx="350570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One function returns all three values. An array of SensorData keeps a whole log in order.</a:t>
            </a:r>
            <a:endParaRPr lang="en-US" sz="1400" dirty="0"/>
          </a:p>
        </p:txBody>
      </p:sp>
      <p:sp>
        <p:nvSpPr>
          <p:cNvPr id="15" name="Text 13"/>
          <p:cNvSpPr/>
          <p:nvPr/>
        </p:nvSpPr>
        <p:spPr>
          <a:xfrm>
            <a:off x="8102600" y="3873500"/>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SIZE</a:t>
            </a:r>
            <a:endParaRPr lang="en-US" sz="1200" dirty="0"/>
          </a:p>
        </p:txBody>
      </p:sp>
      <p:sp>
        <p:nvSpPr>
          <p:cNvPr id="16" name="Text 14"/>
          <p:cNvSpPr/>
          <p:nvPr/>
        </p:nvSpPr>
        <p:spPr>
          <a:xfrm>
            <a:off x="8102600" y="4163020"/>
            <a:ext cx="350570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12 bytes on the INCIPE Board: three floats of 4 bytes each.</a:t>
            </a:r>
            <a:endParaRPr lang="en-US" sz="1400" dirty="0"/>
          </a:p>
        </p:txBody>
      </p:sp>
      <p:pic>
        <p:nvPicPr>
          <p:cNvPr id="1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8" name="Text 1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9" name="Text 1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24383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State Machines</a:t>
            </a:r>
            <a:endParaRPr lang="en-US" sz="1600" dirty="0"/>
          </a:p>
        </p:txBody>
      </p:sp>
      <p:sp>
        <p:nvSpPr>
          <p:cNvPr id="4" name="Text 2"/>
          <p:cNvSpPr/>
          <p:nvPr>
            <p:ph type="title"/>
          </p:nvPr>
        </p:nvSpPr>
        <p:spPr>
          <a:xfrm>
            <a:off x="685800" y="2095500"/>
            <a:ext cx="11430000"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D1D1E"/>
                </a:solidFill>
                <a:latin typeface="Helvetica Neue" pitchFamily="34" charset="0"/>
                <a:ea typeface="Helvetica Neue" pitchFamily="34" charset="-122"/>
                <a:cs typeface="Helvetica Neue" pitchFamily="34" charset="-120"/>
              </a:rPr>
              <a:t>A state machine is a traffic light.</a:t>
            </a:r>
            <a:endParaRPr lang="en-US" sz="4800" dirty="0"/>
          </a:p>
        </p:txBody>
      </p:sp>
      <p:sp>
        <p:nvSpPr>
          <p:cNvPr id="5" name="Text 3"/>
          <p:cNvSpPr/>
          <p:nvPr/>
        </p:nvSpPr>
        <p:spPr>
          <a:xfrm>
            <a:off x="685800" y="3873500"/>
            <a:ext cx="85026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00000"/>
                </a:solidFill>
                <a:latin typeface="Helvetica Neue" pitchFamily="34" charset="0"/>
                <a:ea typeface="Helvetica Neue" pitchFamily="34" charset="-122"/>
                <a:cs typeface="Helvetica Neue" pitchFamily="34" charset="-120"/>
              </a:rPr>
              <a:t>At any moment it shows exactly one colour — never two, never none. After a set time it moves to the next colour, always in the same order.</a:t>
            </a:r>
            <a:endParaRPr lang="en-US" sz="1600" dirty="0"/>
          </a:p>
        </p:txBody>
      </p:sp>
      <p:sp>
        <p:nvSpPr>
          <p:cNvPr id="6" name="Text 4"/>
          <p:cNvSpPr/>
          <p:nvPr/>
        </p:nvSpPr>
        <p:spPr>
          <a:xfrm>
            <a:off x="685800" y="4826000"/>
            <a:ext cx="850265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6706C"/>
                </a:solidFill>
                <a:latin typeface="Helvetica Neue" pitchFamily="34" charset="0"/>
                <a:ea typeface="Helvetica Neue" pitchFamily="34" charset="-122"/>
                <a:cs typeface="Helvetica Neue" pitchFamily="34" charset="-120"/>
              </a:rPr>
              <a:t>A fixed list of states, and clear rules for each transition. FSM = finite state machine.</a:t>
            </a:r>
            <a:endParaRPr lang="en-US" sz="14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enum</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Give each state a name.</a:t>
            </a:r>
            <a:endParaRPr lang="en-US" sz="2800" dirty="0"/>
          </a:p>
        </p:txBody>
      </p:sp>
      <p:sp>
        <p:nvSpPr>
          <p:cNvPr id="5" name="Shape 3"/>
          <p:cNvSpPr/>
          <p:nvPr/>
        </p:nvSpPr>
        <p:spPr>
          <a:xfrm>
            <a:off x="685800" y="1905000"/>
            <a:ext cx="10820400" cy="952500"/>
          </a:xfrm>
          <a:prstGeom prst="rect">
            <a:avLst/>
          </a:prstGeom>
          <a:solidFill>
            <a:srgbClr val="E1E1E1"/>
          </a:solidFill>
          <a:ln/>
        </p:spPr>
      </p:sp>
      <p:sp>
        <p:nvSpPr>
          <p:cNvPr id="6" name="Text 4"/>
          <p:cNvSpPr/>
          <p:nvPr/>
        </p:nvSpPr>
        <p:spPr>
          <a:xfrm>
            <a:off x="889000" y="2127250"/>
            <a:ext cx="10726420" cy="533896"/>
          </a:xfrm>
          <a:prstGeom prst="rect">
            <a:avLst/>
          </a:prstGeom>
          <a:noFill/>
          <a:ln/>
        </p:spPr>
        <p:txBody>
          <a:bodyPr wrap="square" lIns="0" tIns="0" rIns="0" bIns="0" rtlCol="0" anchor="t">
            <a:normAutofit/>
          </a:bodyPr>
          <a:lstStyle/>
          <a:p>
            <a:pPr algn="l" indent="0" marL="0">
              <a:lnSpc>
                <a:spcPts val="2002"/>
              </a:lnSpc>
              <a:buNone/>
            </a:pPr>
            <a:r>
              <a:rPr lang="en-US" sz="1400" dirty="0">
                <a:solidFill>
                  <a:srgbClr val="76706C"/>
                </a:solidFill>
                <a:latin typeface="Courier New" pitchFamily="49" charset="0"/>
                <a:ea typeface="Courier New" pitchFamily="49" charset="-122"/>
                <a:cs typeface="Courier New" pitchFamily="49" charset="-120"/>
              </a:rPr>
              <a:t> 1</a:t>
            </a:r>
            <a:r>
              <a:rPr lang="en-US" sz="1400" dirty="0">
                <a:solidFill>
                  <a:srgbClr val="1D1D1E"/>
                </a:solidFill>
                <a:latin typeface="Courier New" pitchFamily="49" charset="0"/>
                <a:ea typeface="Courier New" pitchFamily="49" charset="-122"/>
                <a:cs typeface="Courier New" pitchFamily="49" charset="-120"/>
              </a:rPr>
              <a:t>  enum Light { RED, YELLOW, GREEN };</a:t>
            </a:r>
            <a:endParaRPr lang="en-US" sz="1400" dirty="0"/>
          </a:p>
          <a:p>
            <a:pPr algn="l" indent="0" marL="0">
              <a:lnSpc>
                <a:spcPts val="2002"/>
              </a:lnSpc>
              <a:buNone/>
            </a:pPr>
            <a:r>
              <a:rPr lang="en-US" sz="1400" dirty="0">
                <a:solidFill>
                  <a:srgbClr val="76706C"/>
                </a:solidFill>
                <a:latin typeface="Courier New" pitchFamily="49" charset="0"/>
                <a:ea typeface="Courier New" pitchFamily="49" charset="-122"/>
                <a:cs typeface="Courier New" pitchFamily="49" charset="-120"/>
              </a:rPr>
              <a:t> 2</a:t>
            </a:r>
            <a:r>
              <a:rPr lang="en-US" sz="1400" dirty="0">
                <a:solidFill>
                  <a:srgbClr val="1D1D1E"/>
                </a:solidFill>
                <a:latin typeface="Courier New" pitchFamily="49" charset="0"/>
                <a:ea typeface="Courier New" pitchFamily="49" charset="-122"/>
                <a:cs typeface="Courier New" pitchFamily="49" charset="-120"/>
              </a:rPr>
              <a:t>  Light state = RED;</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98500" y="3251200"/>
          <a:ext cx="10807700" cy="1158032"/>
        </p:xfrm>
        <a:graphic>
          <a:graphicData uri="http://schemas.openxmlformats.org/drawingml/2006/table">
            <a:tbl>
              <a:tblPr/>
              <a:tblGrid>
                <a:gridCol w="1296924"/>
                <a:gridCol w="9510776"/>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Line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What it does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 new type Light that can only be RED, YELLOW or GREEN.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The light starts in the RED state.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8" name="Text 5"/>
          <p:cNvSpPr/>
          <p:nvPr/>
        </p:nvSpPr>
        <p:spPr>
          <a:xfrm>
            <a:off x="685800" y="4826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6706C"/>
                </a:solidFill>
                <a:latin typeface="Helvetica Neue" pitchFamily="34" charset="0"/>
                <a:ea typeface="Helvetica Neue" pitchFamily="34" charset="-122"/>
                <a:cs typeface="Helvetica Neue" pitchFamily="34" charset="-120"/>
              </a:rPr>
              <a:t>The code now reads RED instead of a mystery number.</a:t>
            </a:r>
            <a:endParaRPr lang="en-US" sz="1400" dirty="0"/>
          </a:p>
        </p:txBody>
      </p:sp>
      <p:pic>
        <p:nvPicPr>
          <p:cNvPr id="9"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0" name="Text 6"/>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1" name="Text 7"/>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Plan First</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Write the machine as a table before you code it.</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917700"/>
          <a:ext cx="10807700" cy="1544042"/>
        </p:xfrm>
        <a:graphic>
          <a:graphicData uri="http://schemas.openxmlformats.org/drawingml/2006/table">
            <a:tbl>
              <a:tblPr/>
              <a:tblGrid>
                <a:gridCol w="2701925"/>
                <a:gridCol w="2701925"/>
                <a:gridCol w="2701925"/>
                <a:gridCol w="2701925"/>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State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Shows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Lasts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Next state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3000 ms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YELLOW</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YELLOW</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Yellow</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1000 ms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GREEN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GREEN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Green</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3000 ms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RED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064000"/>
            <a:ext cx="111450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000000"/>
                </a:solidFill>
                <a:latin typeface="Helvetica Neue" pitchFamily="34" charset="0"/>
                <a:ea typeface="Helvetica Neue" pitchFamily="34" charset="-122"/>
                <a:cs typeface="Helvetica Neue" pitchFamily="34" charset="-120"/>
              </a:rPr>
              <a:t>The curriculum order: Red → Yellow → Green → Red. Each row of the table becomes one case.</a:t>
            </a:r>
            <a:endParaRPr lang="en-US" sz="1500" dirty="0"/>
          </a:p>
        </p:txBody>
      </p:sp>
      <p:sp>
        <p:nvSpPr>
          <p:cNvPr id="7" name="Text 4"/>
          <p:cNvSpPr/>
          <p:nvPr/>
        </p:nvSpPr>
        <p:spPr>
          <a:xfrm>
            <a:off x="685800" y="4699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6706C"/>
                </a:solidFill>
                <a:latin typeface="Helvetica Neue" pitchFamily="34" charset="0"/>
                <a:ea typeface="Helvetica Neue" pitchFamily="34" charset="-122"/>
                <a:cs typeface="Helvetica Neue" pitchFamily="34" charset="-120"/>
              </a:rPr>
              <a:t>Real traffic lights differ from country to country. Change the table, and the code follows.</a:t>
            </a:r>
            <a:endParaRPr lang="en-US" sz="1400" dirty="0"/>
          </a:p>
        </p:txBody>
      </p:sp>
      <p:pic>
        <p:nvPicPr>
          <p:cNvPr id="8"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9" name="Text 5"/>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0" name="Text 6"/>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1905000"/>
            <a:ext cx="10820400" cy="254000"/>
          </a:xfrm>
          <a:prstGeom prst="rect">
            <a:avLst/>
          </a:prstGeom>
          <a:solidFill>
            <a:srgbClr val="FFFFFF"/>
          </a:solidFill>
          <a:ln/>
        </p:spPr>
      </p:sp>
      <p:sp>
        <p:nvSpPr>
          <p:cNvPr id="7" name="Shape 5"/>
          <p:cNvSpPr/>
          <p:nvPr/>
        </p:nvSpPr>
        <p:spPr>
          <a:xfrm>
            <a:off x="685800" y="1905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1 · STEP 1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Three named states.</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2159000"/>
            <a:ext cx="10820400" cy="254000"/>
          </a:xfrm>
          <a:prstGeom prst="rect">
            <a:avLst/>
          </a:prstGeom>
          <a:solidFill>
            <a:srgbClr val="FFFFFF"/>
          </a:solidFill>
          <a:ln/>
        </p:spPr>
      </p:sp>
      <p:sp>
        <p:nvSpPr>
          <p:cNvPr id="7" name="Shape 5"/>
          <p:cNvSpPr/>
          <p:nvPr/>
        </p:nvSpPr>
        <p:spPr>
          <a:xfrm>
            <a:off x="685800" y="2159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2 · STEP 2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Start in RED.</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a:t>
            </a:r>
            <a:r>
              <a:rPr lang="en-US" sz="1300" dirty="0">
                <a:solidFill>
                  <a:srgbClr val="8F5C33"/>
                </a:solidFill>
                <a:latin typeface="Courier New" pitchFamily="49" charset="0"/>
                <a:ea typeface="Courier New" pitchFamily="49" charset="-122"/>
                <a:cs typeface="Courier New" pitchFamily="49" charset="-120"/>
              </a:rPr>
              <a:t>RED</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2921000"/>
            <a:ext cx="10820400" cy="254000"/>
          </a:xfrm>
          <a:prstGeom prst="rect">
            <a:avLst/>
          </a:prstGeom>
          <a:solidFill>
            <a:srgbClr val="FFFFFF"/>
          </a:solidFill>
          <a:ln/>
        </p:spPr>
      </p:sp>
      <p:sp>
        <p:nvSpPr>
          <p:cNvPr id="7" name="Shape 5"/>
          <p:cNvSpPr/>
          <p:nvPr/>
        </p:nvSpPr>
        <p:spPr>
          <a:xfrm>
            <a:off x="685800" y="2921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5 · STEP 3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First pass of loop(): which state are we in? RED.</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RED</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pic>
        <p:nvPicPr>
          <p:cNvPr id="15"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6" name="Text 1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7" name="Text 1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3175000"/>
            <a:ext cx="10820400" cy="254000"/>
          </a:xfrm>
          <a:prstGeom prst="rect">
            <a:avLst/>
          </a:prstGeom>
          <a:solidFill>
            <a:srgbClr val="FFFFFF"/>
          </a:solidFill>
          <a:ln/>
        </p:spPr>
      </p:sp>
      <p:sp>
        <p:nvSpPr>
          <p:cNvPr id="7" name="Shape 5"/>
          <p:cNvSpPr/>
          <p:nvPr/>
        </p:nvSpPr>
        <p:spPr>
          <a:xfrm>
            <a:off x="685800" y="3175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6 · STEP 4 OF 8</a:t>
            </a:r>
            <a:endParaRPr lang="en-US" sz="1200" dirty="0"/>
          </a:p>
        </p:txBody>
      </p:sp>
      <p:sp>
        <p:nvSpPr>
          <p:cNvPr id="10" name="Text 8"/>
          <p:cNvSpPr/>
          <p:nvPr/>
        </p:nvSpPr>
        <p:spPr>
          <a:xfrm>
            <a:off x="685800" y="5111750"/>
            <a:ext cx="536321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Show red, wait 3 s, then move to YELLOW. break leaves the switch.</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a:t>
            </a:r>
            <a:r>
              <a:rPr lang="en-US" sz="1300" dirty="0">
                <a:solidFill>
                  <a:srgbClr val="8F5C33"/>
                </a:solidFill>
                <a:latin typeface="Courier New" pitchFamily="49" charset="0"/>
                <a:ea typeface="Courier New" pitchFamily="49" charset="-122"/>
                <a:cs typeface="Courier New" pitchFamily="49" charset="-120"/>
              </a:rPr>
              <a:t>YELLOW</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sp>
        <p:nvSpPr>
          <p:cNvPr id="15" name="Text 13"/>
          <p:cNvSpPr/>
          <p:nvPr/>
        </p:nvSpPr>
        <p:spPr>
          <a:xfrm>
            <a:off x="8966200" y="515620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RED</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2921000"/>
            <a:ext cx="10820400" cy="254000"/>
          </a:xfrm>
          <a:prstGeom prst="rect">
            <a:avLst/>
          </a:prstGeom>
          <a:solidFill>
            <a:srgbClr val="FFFFFF"/>
          </a:solidFill>
          <a:ln/>
        </p:spPr>
      </p:sp>
      <p:sp>
        <p:nvSpPr>
          <p:cNvPr id="7" name="Shape 5"/>
          <p:cNvSpPr/>
          <p:nvPr/>
        </p:nvSpPr>
        <p:spPr>
          <a:xfrm>
            <a:off x="685800" y="2921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5 · STEP 5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Next pass: state is YELLOW.</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YELLOW</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sp>
        <p:nvSpPr>
          <p:cNvPr id="15" name="Text 13"/>
          <p:cNvSpPr/>
          <p:nvPr/>
        </p:nvSpPr>
        <p:spPr>
          <a:xfrm>
            <a:off x="8966200" y="515620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RED</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3429000"/>
            <a:ext cx="10820400" cy="254000"/>
          </a:xfrm>
          <a:prstGeom prst="rect">
            <a:avLst/>
          </a:prstGeom>
          <a:solidFill>
            <a:srgbClr val="FFFFFF"/>
          </a:solidFill>
          <a:ln/>
        </p:spPr>
      </p:sp>
      <p:sp>
        <p:nvSpPr>
          <p:cNvPr id="7" name="Shape 5"/>
          <p:cNvSpPr/>
          <p:nvPr/>
        </p:nvSpPr>
        <p:spPr>
          <a:xfrm>
            <a:off x="685800" y="3429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7 · STEP 6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Show yellow for 1 s, then move to GREEN.</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a:t>
            </a:r>
            <a:r>
              <a:rPr lang="en-US" sz="1300" dirty="0">
                <a:solidFill>
                  <a:srgbClr val="8F5C33"/>
                </a:solidFill>
                <a:latin typeface="Courier New" pitchFamily="49" charset="0"/>
                <a:ea typeface="Courier New" pitchFamily="49" charset="-122"/>
                <a:cs typeface="Courier New" pitchFamily="49" charset="-120"/>
              </a:rPr>
              <a:t>GREEN</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sp>
        <p:nvSpPr>
          <p:cNvPr id="15" name="Text 13"/>
          <p:cNvSpPr/>
          <p:nvPr/>
        </p:nvSpPr>
        <p:spPr>
          <a:xfrm>
            <a:off x="8966200" y="5156200"/>
            <a:ext cx="24592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RED</a:t>
            </a:r>
            <a:endParaRPr lang="en-US" sz="1200" dirty="0"/>
          </a:p>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YELLOW</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2921000"/>
            <a:ext cx="10820400" cy="254000"/>
          </a:xfrm>
          <a:prstGeom prst="rect">
            <a:avLst/>
          </a:prstGeom>
          <a:solidFill>
            <a:srgbClr val="FFFFFF"/>
          </a:solidFill>
          <a:ln/>
        </p:spPr>
      </p:sp>
      <p:sp>
        <p:nvSpPr>
          <p:cNvPr id="7" name="Shape 5"/>
          <p:cNvSpPr/>
          <p:nvPr/>
        </p:nvSpPr>
        <p:spPr>
          <a:xfrm>
            <a:off x="685800" y="2921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5 · STEP 7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Next pass: GREEN.</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GREEN</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sp>
        <p:nvSpPr>
          <p:cNvPr id="15" name="Text 13"/>
          <p:cNvSpPr/>
          <p:nvPr/>
        </p:nvSpPr>
        <p:spPr>
          <a:xfrm>
            <a:off x="8966200" y="5156200"/>
            <a:ext cx="24592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RED</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YELLOW</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Line by Line</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traffic light, one pass at a time.</a:t>
            </a:r>
            <a:endParaRPr lang="en-US" sz="2800" dirty="0"/>
          </a:p>
        </p:txBody>
      </p:sp>
      <p:sp>
        <p:nvSpPr>
          <p:cNvPr id="5" name="Shape 3"/>
          <p:cNvSpPr/>
          <p:nvPr/>
        </p:nvSpPr>
        <p:spPr>
          <a:xfrm>
            <a:off x="685800" y="1778000"/>
            <a:ext cx="10820400" cy="2794000"/>
          </a:xfrm>
          <a:prstGeom prst="rect">
            <a:avLst/>
          </a:prstGeom>
          <a:solidFill>
            <a:srgbClr val="E1E1E1"/>
          </a:solidFill>
          <a:ln/>
        </p:spPr>
      </p:sp>
      <p:sp>
        <p:nvSpPr>
          <p:cNvPr id="6" name="Shape 4"/>
          <p:cNvSpPr/>
          <p:nvPr/>
        </p:nvSpPr>
        <p:spPr>
          <a:xfrm>
            <a:off x="685800" y="3683000"/>
            <a:ext cx="10820400" cy="254000"/>
          </a:xfrm>
          <a:prstGeom prst="rect">
            <a:avLst/>
          </a:prstGeom>
          <a:solidFill>
            <a:srgbClr val="FFFFFF"/>
          </a:solidFill>
          <a:ln/>
        </p:spPr>
      </p:sp>
      <p:sp>
        <p:nvSpPr>
          <p:cNvPr id="7" name="Shape 5"/>
          <p:cNvSpPr/>
          <p:nvPr/>
        </p:nvSpPr>
        <p:spPr>
          <a:xfrm>
            <a:off x="685800" y="3683000"/>
            <a:ext cx="31750" cy="254000"/>
          </a:xfrm>
          <a:prstGeom prst="rect">
            <a:avLst/>
          </a:prstGeom>
          <a:solidFill>
            <a:srgbClr val="B57946"/>
          </a:solidFill>
          <a:ln/>
        </p:spPr>
      </p:sp>
      <p:sp>
        <p:nvSpPr>
          <p:cNvPr id="8" name="Text 6"/>
          <p:cNvSpPr/>
          <p:nvPr/>
        </p:nvSpPr>
        <p:spPr>
          <a:xfrm>
            <a:off x="889000" y="1905000"/>
            <a:ext cx="10791825" cy="2570361"/>
          </a:xfrm>
          <a:prstGeom prst="rect">
            <a:avLst/>
          </a:prstGeom>
          <a:noFill/>
          <a:ln/>
        </p:spPr>
        <p:txBody>
          <a:bodyPr wrap="square" lIns="0" tIns="0" rIns="0" bIns="0" rtlCol="0" anchor="t">
            <a:normAutofit/>
          </a:bodyPr>
          <a:lstStyle/>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1</a:t>
            </a:r>
            <a:r>
              <a:rPr lang="en-US" sz="1200" dirty="0">
                <a:solidFill>
                  <a:srgbClr val="1D1D1E"/>
                </a:solidFill>
                <a:latin typeface="Courier New" pitchFamily="49" charset="0"/>
                <a:ea typeface="Courier New" pitchFamily="49" charset="-122"/>
                <a:cs typeface="Courier New" pitchFamily="49" charset="-120"/>
              </a:rPr>
              <a:t>  enum Light { RED, YELLOW, GREEN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2</a:t>
            </a:r>
            <a:r>
              <a:rPr lang="en-US" sz="1200" dirty="0">
                <a:solidFill>
                  <a:srgbClr val="1D1D1E"/>
                </a:solidFill>
                <a:latin typeface="Courier New" pitchFamily="49" charset="0"/>
                <a:ea typeface="Courier New" pitchFamily="49" charset="-122"/>
                <a:cs typeface="Courier New" pitchFamily="49" charset="-120"/>
              </a:rPr>
              <a:t>  Light state = RED;</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3</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4</a:t>
            </a:r>
            <a:r>
              <a:rPr lang="en-US" sz="1200" dirty="0">
                <a:solidFill>
                  <a:srgbClr val="1D1D1E"/>
                </a:solidFill>
                <a:latin typeface="Courier New" pitchFamily="49" charset="0"/>
                <a:ea typeface="Courier New" pitchFamily="49" charset="-122"/>
                <a:cs typeface="Courier New" pitchFamily="49" charset="-120"/>
              </a:rPr>
              <a:t>  void loop()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5</a:t>
            </a:r>
            <a:r>
              <a:rPr lang="en-US" sz="1200" dirty="0">
                <a:solidFill>
                  <a:srgbClr val="1D1D1E"/>
                </a:solidFill>
                <a:latin typeface="Courier New" pitchFamily="49" charset="0"/>
                <a:ea typeface="Courier New" pitchFamily="49" charset="-122"/>
                <a:cs typeface="Courier New" pitchFamily="49" charset="-120"/>
              </a:rPr>
              <a:t>    switch (state)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6</a:t>
            </a:r>
            <a:r>
              <a:rPr lang="en-US" sz="1200" dirty="0">
                <a:solidFill>
                  <a:srgbClr val="1D1D1E"/>
                </a:solidFill>
                <a:latin typeface="Courier New" pitchFamily="49" charset="0"/>
                <a:ea typeface="Courier New" pitchFamily="49" charset="-122"/>
                <a:cs typeface="Courier New" pitchFamily="49" charset="-120"/>
              </a:rPr>
              <a:t>      case RED:    Serial.println("RED");    delay(3000); state = YELLOW;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7</a:t>
            </a:r>
            <a:r>
              <a:rPr lang="en-US" sz="1200" dirty="0">
                <a:solidFill>
                  <a:srgbClr val="1D1D1E"/>
                </a:solidFill>
                <a:latin typeface="Courier New" pitchFamily="49" charset="0"/>
                <a:ea typeface="Courier New" pitchFamily="49" charset="-122"/>
                <a:cs typeface="Courier New" pitchFamily="49" charset="-120"/>
              </a:rPr>
              <a:t>      case YELLOW: Serial.println("YELLOW"); delay(1000); state = GREEN;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8</a:t>
            </a:r>
            <a:r>
              <a:rPr lang="en-US" sz="1200" dirty="0">
                <a:solidFill>
                  <a:srgbClr val="1D1D1E"/>
                </a:solidFill>
                <a:latin typeface="Courier New" pitchFamily="49" charset="0"/>
                <a:ea typeface="Courier New" pitchFamily="49" charset="-122"/>
                <a:cs typeface="Courier New" pitchFamily="49" charset="-120"/>
              </a:rPr>
              <a:t>      case GREEN:  Serial.println("GREEN");  delay(3000); state = RED;    break;</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 9</a:t>
            </a:r>
            <a:r>
              <a:rPr lang="en-US" sz="1200" dirty="0">
                <a:solidFill>
                  <a:srgbClr val="1D1D1E"/>
                </a:solidFill>
                <a:latin typeface="Courier New" pitchFamily="49" charset="0"/>
                <a:ea typeface="Courier New" pitchFamily="49" charset="-122"/>
                <a:cs typeface="Courier New" pitchFamily="49" charset="-120"/>
              </a:rPr>
              <a:t>    }</a:t>
            </a:r>
            <a:endParaRPr lang="en-US" sz="1200" dirty="0"/>
          </a:p>
          <a:p>
            <a:pPr algn="l" indent="0" marL="0">
              <a:lnSpc>
                <a:spcPts val="2004"/>
              </a:lnSpc>
              <a:buNone/>
            </a:pPr>
            <a:r>
              <a:rPr lang="en-US" sz="1200" dirty="0">
                <a:solidFill>
                  <a:srgbClr val="76706C"/>
                </a:solidFill>
                <a:latin typeface="Courier New" pitchFamily="49" charset="0"/>
                <a:ea typeface="Courier New" pitchFamily="49" charset="-122"/>
                <a:cs typeface="Courier New" pitchFamily="49" charset="-120"/>
              </a:rPr>
              <a:t>10</a:t>
            </a:r>
            <a:r>
              <a:rPr lang="en-US" sz="1200" dirty="0">
                <a:solidFill>
                  <a:srgbClr val="1D1D1E"/>
                </a:solidFill>
                <a:latin typeface="Courier New" pitchFamily="49" charset="0"/>
                <a:ea typeface="Courier New" pitchFamily="49" charset="-122"/>
                <a:cs typeface="Courier New" pitchFamily="49" charset="-120"/>
              </a:rPr>
              <a:t>  }</a:t>
            </a:r>
            <a:endParaRPr lang="en-US" sz="1200" dirty="0"/>
          </a:p>
        </p:txBody>
      </p:sp>
      <p:sp>
        <p:nvSpPr>
          <p:cNvPr id="9" name="Text 7"/>
          <p:cNvSpPr/>
          <p:nvPr/>
        </p:nvSpPr>
        <p:spPr>
          <a:xfrm>
            <a:off x="685800" y="4826000"/>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LINE 8 · STEP 8 OF 8</a:t>
            </a:r>
            <a:endParaRPr lang="en-US" sz="1200" dirty="0"/>
          </a:p>
        </p:txBody>
      </p:sp>
      <p:sp>
        <p:nvSpPr>
          <p:cNvPr id="10" name="Text 8"/>
          <p:cNvSpPr/>
          <p:nvPr/>
        </p:nvSpPr>
        <p:spPr>
          <a:xfrm>
            <a:off x="685800" y="5111750"/>
            <a:ext cx="536321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Show green for 3 s, then back to RED — the cycle repeats.</a:t>
            </a:r>
            <a:endParaRPr lang="en-US" sz="1400" dirty="0"/>
          </a:p>
        </p:txBody>
      </p:sp>
      <p:sp>
        <p:nvSpPr>
          <p:cNvPr id="11" name="Text 9"/>
          <p:cNvSpPr/>
          <p:nvPr/>
        </p:nvSpPr>
        <p:spPr>
          <a:xfrm>
            <a:off x="6273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VARIABLES</a:t>
            </a:r>
            <a:endParaRPr lang="en-US" sz="1200" dirty="0"/>
          </a:p>
        </p:txBody>
      </p:sp>
      <p:sp>
        <p:nvSpPr>
          <p:cNvPr id="12" name="Text 10"/>
          <p:cNvSpPr/>
          <p:nvPr/>
        </p:nvSpPr>
        <p:spPr>
          <a:xfrm>
            <a:off x="6273800" y="5080000"/>
            <a:ext cx="222377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D1D1E"/>
                </a:solidFill>
                <a:latin typeface="Courier New" pitchFamily="49" charset="0"/>
                <a:ea typeface="Courier New" pitchFamily="49" charset="-122"/>
                <a:cs typeface="Courier New" pitchFamily="49" charset="-120"/>
              </a:rPr>
              <a:t>state = </a:t>
            </a:r>
            <a:r>
              <a:rPr lang="en-US" sz="1300" dirty="0">
                <a:solidFill>
                  <a:srgbClr val="8F5C33"/>
                </a:solidFill>
                <a:latin typeface="Courier New" pitchFamily="49" charset="0"/>
                <a:ea typeface="Courier New" pitchFamily="49" charset="-122"/>
                <a:cs typeface="Courier New" pitchFamily="49" charset="-120"/>
              </a:rPr>
              <a:t>RED</a:t>
            </a:r>
            <a:endParaRPr lang="en-US" sz="1300" dirty="0"/>
          </a:p>
        </p:txBody>
      </p:sp>
      <p:sp>
        <p:nvSpPr>
          <p:cNvPr id="13" name="Text 11"/>
          <p:cNvSpPr/>
          <p:nvPr/>
        </p:nvSpPr>
        <p:spPr>
          <a:xfrm>
            <a:off x="8813800" y="4826000"/>
            <a:ext cx="27731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SERIAL MONITOR</a:t>
            </a:r>
            <a:endParaRPr lang="en-US" sz="1200" dirty="0"/>
          </a:p>
        </p:txBody>
      </p:sp>
      <p:sp>
        <p:nvSpPr>
          <p:cNvPr id="14" name="Shape 12"/>
          <p:cNvSpPr/>
          <p:nvPr/>
        </p:nvSpPr>
        <p:spPr>
          <a:xfrm>
            <a:off x="8813800" y="5080000"/>
            <a:ext cx="2692400" cy="952500"/>
          </a:xfrm>
          <a:prstGeom prst="rect">
            <a:avLst/>
          </a:prstGeom>
          <a:solidFill>
            <a:srgbClr val="FFFFFF"/>
          </a:solidFill>
          <a:ln/>
        </p:spPr>
      </p:sp>
      <p:sp>
        <p:nvSpPr>
          <p:cNvPr id="15" name="Text 13"/>
          <p:cNvSpPr/>
          <p:nvPr/>
        </p:nvSpPr>
        <p:spPr>
          <a:xfrm>
            <a:off x="8966200" y="5156200"/>
            <a:ext cx="245922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RED</a:t>
            </a:r>
            <a:endParaRPr lang="en-US" sz="1200" dirty="0"/>
          </a:p>
          <a:p>
            <a:pPr algn="l" indent="0" marL="0">
              <a:lnSpc>
                <a:spcPts val="1680"/>
              </a:lnSpc>
              <a:buNone/>
            </a:pPr>
            <a:r>
              <a:rPr lang="en-US" sz="1200" dirty="0">
                <a:solidFill>
                  <a:srgbClr val="1D1D1E"/>
                </a:solidFill>
                <a:latin typeface="Courier New" pitchFamily="49" charset="0"/>
                <a:ea typeface="Courier New" pitchFamily="49" charset="-122"/>
                <a:cs typeface="Courier New" pitchFamily="49" charset="-120"/>
              </a:rPr>
              <a:t>YELLOW</a:t>
            </a:r>
            <a:endParaRPr lang="en-US" sz="1200" dirty="0"/>
          </a:p>
          <a:p>
            <a:pPr algn="l" indent="0" marL="0">
              <a:lnSpc>
                <a:spcPts val="1680"/>
              </a:lnSpc>
              <a:buNone/>
            </a:pPr>
            <a:r>
              <a:rPr lang="en-US" sz="1200" dirty="0">
                <a:solidFill>
                  <a:srgbClr val="8F5C33"/>
                </a:solidFill>
                <a:latin typeface="Courier New" pitchFamily="49" charset="0"/>
                <a:ea typeface="Courier New" pitchFamily="49" charset="-122"/>
                <a:cs typeface="Courier New" pitchFamily="49" charset="-120"/>
              </a:rPr>
              <a:t>GREEN</a:t>
            </a:r>
            <a:endParaRPr lang="en-US" sz="1200" dirty="0"/>
          </a:p>
        </p:txBody>
      </p:sp>
      <p:pic>
        <p:nvPicPr>
          <p:cNvPr id="1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7" name="Text 1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8" name="Text 1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Your Task</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Run it, extend it, count it.</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1792932"/>
        </p:xfrm>
        <a:graphic>
          <a:graphicData uri="http://schemas.openxmlformats.org/drawingml/2006/table">
            <a:tbl>
              <a:tblPr/>
              <a:tblGrid>
                <a:gridCol w="864616"/>
                <a:gridCol w="9943084"/>
              </a:tblGrid>
              <a:tr h="386011">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Step</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960"/>
                        </a:lnSpc>
                        <a:buNone/>
                      </a:pPr>
                      <a:r>
                        <a:rPr lang="en-US" sz="1400" b="1" dirty="0">
                          <a:solidFill>
                            <a:srgbClr val="1D1D1E"/>
                          </a:solidFill>
                          <a:latin typeface="Helvetica Neue" pitchFamily="34" charset="0"/>
                          <a:ea typeface="Helvetica Neue" pitchFamily="34" charset="-122"/>
                          <a:cs typeface="Helvetica Neue" pitchFamily="34" charset="-120"/>
                        </a:rPr>
                        <a:t>Do this</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1</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Add setup() with Serial.begin(9600);, Upload, and time one full cycle.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63490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2</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Add a fourth state, RED_YELLOW, between RED and GREEN (shown as "RED + YELLOW" for 1 s), as many countries use. Update the table first, then the code.</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86011">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3</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960"/>
                        </a:lnSpc>
                        <a:buNone/>
                      </a:pPr>
                      <a:r>
                        <a:rPr lang="en-US" sz="1400" dirty="0">
                          <a:solidFill>
                            <a:srgbClr val="1D1D1E"/>
                          </a:solidFill>
                          <a:latin typeface="Helvetica Neue" pitchFamily="34" charset="0"/>
                          <a:ea typeface="Helvetica Neue" pitchFamily="34" charset="-122"/>
                          <a:cs typeface="Helvetica Neue" pitchFamily="34" charset="-120"/>
                        </a:rPr>
                        <a:t>Keep a count of how many full cycles have run, and print it every time the light turns red.</a:t>
                      </a:r>
                      <a:endParaRPr lang="en-US" sz="1400" dirty="0">
                        <a:latin typeface="Helvetica Neue" charset="0"/>
                        <a:ea typeface="Helvetica Neue" charset="0"/>
                        <a:cs typeface="Helvetica Neue" charset="0"/>
                      </a:endParaRPr>
                    </a:p>
                  </a:txBody>
                  <a:tcPr marL="62230" marR="62230" marT="62230" marB="62230"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sp>
        <p:nvSpPr>
          <p:cNvPr id="6" name="Text 3"/>
          <p:cNvSpPr/>
          <p:nvPr/>
        </p:nvSpPr>
        <p:spPr>
          <a:xfrm>
            <a:off x="685800" y="4826000"/>
            <a:ext cx="1114501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6706C"/>
                </a:solidFill>
                <a:latin typeface="Helvetica Neue" pitchFamily="34" charset="0"/>
                <a:ea typeface="Helvetica Neue" pitchFamily="34" charset="-122"/>
                <a:cs typeface="Helvetica Neue" pitchFamily="34" charset="-120"/>
              </a:rPr>
              <a:t>On the LED strip: that version will be added once the Wiki page lists what incipe.setLEDcolour(...) and incipe.showLED() take. Each Serial.println is where the LED call will go.</a:t>
            </a:r>
            <a:endParaRPr lang="en-US" sz="1300" dirty="0"/>
          </a:p>
        </p:txBody>
      </p:sp>
      <p:pic>
        <p:nvPicPr>
          <p:cNvPr id="7"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8" name="Text 4"/>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9" name="Text 5"/>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AI Integration</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Ask the AI to review your state machine.</a:t>
            </a:r>
            <a:endParaRPr lang="en-US" sz="2800" dirty="0"/>
          </a:p>
        </p:txBody>
      </p:sp>
      <p:sp>
        <p:nvSpPr>
          <p:cNvPr id="5" name="Shape 3"/>
          <p:cNvSpPr/>
          <p:nvPr/>
        </p:nvSpPr>
        <p:spPr>
          <a:xfrm>
            <a:off x="685800" y="1905000"/>
            <a:ext cx="10820400" cy="1732211"/>
          </a:xfrm>
          <a:prstGeom prst="rect">
            <a:avLst/>
          </a:prstGeom>
          <a:solidFill>
            <a:srgbClr val="E1E1E1"/>
          </a:solidFill>
          <a:ln/>
        </p:spPr>
      </p:sp>
      <p:sp>
        <p:nvSpPr>
          <p:cNvPr id="6" name="Text 4"/>
          <p:cNvSpPr/>
          <p:nvPr/>
        </p:nvSpPr>
        <p:spPr>
          <a:xfrm>
            <a:off x="939800" y="2159000"/>
            <a:ext cx="1062177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PASTE YOUR CODE INTO THE WORKSPACE AI CHAT WITH</a:t>
            </a:r>
            <a:endParaRPr lang="en-US" sz="1200" dirty="0"/>
          </a:p>
        </p:txBody>
      </p:sp>
      <p:sp>
        <p:nvSpPr>
          <p:cNvPr id="7" name="Text 5"/>
          <p:cNvSpPr/>
          <p:nvPr/>
        </p:nvSpPr>
        <p:spPr>
          <a:xfrm>
            <a:off x="939800" y="2499320"/>
            <a:ext cx="10621772" cy="90929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D1D1E"/>
                </a:solidFill>
                <a:latin typeface="Helvetica Neue" pitchFamily="34" charset="0"/>
                <a:ea typeface="Helvetica Neue" pitchFamily="34" charset="-122"/>
                <a:cs typeface="Helvetica Neue" pitchFamily="34" charset="-120"/>
              </a:rPr>
              <a:t>Review this traffic-light state machine. Check that every state has exactly one next state and that no state can be skipped or reached by mistake. Suggest up to three improvements and explain each in one sentence for a beginner. Do not rewrite the whole program.</a:t>
            </a:r>
            <a:endParaRPr lang="en-US" sz="1600" dirty="0"/>
          </a:p>
        </p:txBody>
      </p:sp>
      <p:sp>
        <p:nvSpPr>
          <p:cNvPr id="8" name="Text 6"/>
          <p:cNvSpPr/>
          <p:nvPr/>
        </p:nvSpPr>
        <p:spPr>
          <a:xfrm>
            <a:off x="685800" y="4826000"/>
            <a:ext cx="111450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6706C"/>
                </a:solidFill>
                <a:latin typeface="Helvetica Neue" pitchFamily="34" charset="0"/>
                <a:ea typeface="Helvetica Neue" pitchFamily="34" charset="-122"/>
                <a:cs typeface="Helvetica Neue" pitchFamily="34" charset="-120"/>
              </a:rPr>
              <a:t>The curriculum task: have AI review your FSM logic and suggest improvements.</a:t>
            </a:r>
            <a:endParaRPr lang="en-US" sz="1400" dirty="0"/>
          </a:p>
        </p:txBody>
      </p:sp>
      <p:pic>
        <p:nvPicPr>
          <p:cNvPr id="9"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0" name="Text 7"/>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1" name="Text 8"/>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AI Integration</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Check what comes back like a reviewer.</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8500" y="1854200"/>
          <a:ext cx="10807700" cy="2258864"/>
        </p:xfrm>
        <a:graphic>
          <a:graphicData uri="http://schemas.openxmlformats.org/drawingml/2006/table">
            <a:tbl>
              <a:tblPr/>
              <a:tblGrid>
                <a:gridCol w="4539234"/>
                <a:gridCol w="6268466"/>
              </a:tblGrid>
              <a:tr h="359321">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Ask yourself</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c>
                  <a:txBody>
                    <a:bodyPr/>
                    <a:lstStyle/>
                    <a:p>
                      <a:pPr indent="0" marL="0">
                        <a:lnSpc>
                          <a:spcPts val="1820"/>
                        </a:lnSpc>
                        <a:buNone/>
                      </a:pPr>
                      <a:r>
                        <a:rPr lang="en-US" sz="1300" b="1" dirty="0">
                          <a:solidFill>
                            <a:srgbClr val="1D1D1E"/>
                          </a:solidFill>
                          <a:latin typeface="Helvetica Neue" pitchFamily="34" charset="0"/>
                          <a:ea typeface="Helvetica Neue" pitchFamily="34" charset="-122"/>
                          <a:cs typeface="Helvetica Neue" pitchFamily="34" charset="-120"/>
                        </a:rPr>
                        <a:t>Why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BEBEBE"/>
                      </a:solidFill>
                      <a:prstDash val="solid"/>
                      <a:round/>
                      <a:headEnd type="none" w="med" len="med"/>
                      <a:tailEnd type="none" w="med" len="med"/>
                    </a:lnL>
                    <a:lnR w="12700" cap="flat" cmpd="sng" algn="ctr">
                      <a:solidFill>
                        <a:srgbClr val="BEBEBE"/>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BEBEBE"/>
                      </a:solidFill>
                      <a:prstDash val="solid"/>
                      <a:round/>
                      <a:headEnd type="none" w="med" len="med"/>
                      <a:tailEnd type="none" w="med" len="med"/>
                    </a:lnB>
                    <a:solidFill>
                      <a:srgbClr val="EEEEEE"/>
                    </a:solidFill>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Does every suggested change still match my state table?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The table is the plan. Change the table first, then the code.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BEBEBE"/>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Did it add a default: case?</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A good idea: if state ever holds something unexpected, go back to a safe state like RED.</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59045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Did it suggest millis() instead of delay()?</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Useful later: with delay() the board cannot read a button during a light. M3 Session 4 covers it.</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r h="359321">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Did it rename my incipe.* calls or invent new ones?</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c>
                  <a:txBody>
                    <a:bodyPr/>
                    <a:lstStyle/>
                    <a:p>
                      <a:pPr indent="0" marL="0">
                        <a:lnSpc>
                          <a:spcPts val="1820"/>
                        </a:lnSpc>
                        <a:buNone/>
                      </a:pPr>
                      <a:r>
                        <a:rPr lang="en-US" sz="1300" dirty="0">
                          <a:solidFill>
                            <a:srgbClr val="1D1D1E"/>
                          </a:solidFill>
                          <a:latin typeface="Helvetica Neue" pitchFamily="34" charset="0"/>
                          <a:ea typeface="Helvetica Neue" pitchFamily="34" charset="-122"/>
                          <a:cs typeface="Helvetica Neue" pitchFamily="34" charset="-120"/>
                        </a:rPr>
                        <a:t>Never accept that — compare with the Wiki.</a:t>
                      </a:r>
                      <a:endParaRPr lang="en-US" sz="1300" dirty="0">
                        <a:latin typeface="Helvetica Neue" charset="0"/>
                        <a:ea typeface="Helvetica Neue" charset="0"/>
                        <a:cs typeface="Helvetica Neue" charset="0"/>
                      </a:endParaRPr>
                    </a:p>
                  </a:txBody>
                  <a:tcPr marL="57785" marR="57785" marT="57785" marB="57785" anchor="t">
                    <a:lnL w="12700" cap="flat" cmpd="sng" algn="ctr">
                      <a:solidFill>
                        <a:srgbClr val="C4C4C3"/>
                      </a:solidFill>
                      <a:prstDash val="solid"/>
                      <a:round/>
                      <a:headEnd type="none" w="med" len="med"/>
                      <a:tailEnd type="none" w="med" len="med"/>
                    </a:lnL>
                    <a:lnR w="12700" cap="flat" cmpd="sng" algn="ctr">
                      <a:solidFill>
                        <a:srgbClr val="C4C4C3"/>
                      </a:solidFill>
                      <a:prstDash val="solid"/>
                      <a:round/>
                      <a:headEnd type="none" w="med" len="med"/>
                      <a:tailEnd type="none" w="med" len="med"/>
                    </a:lnR>
                    <a:lnT w="12700" cap="flat" cmpd="sng" algn="ctr">
                      <a:solidFill>
                        <a:srgbClr val="C4C4C3"/>
                      </a:solidFill>
                      <a:prstDash val="solid"/>
                      <a:round/>
                      <a:headEnd type="none" w="med" len="med"/>
                      <a:tailEnd type="none" w="med" len="med"/>
                    </a:lnT>
                    <a:lnB w="12700" cap="flat" cmpd="sng" algn="ctr">
                      <a:solidFill>
                        <a:srgbClr val="C4C4C3"/>
                      </a:solidFill>
                      <a:prstDash val="solid"/>
                      <a:round/>
                      <a:headEnd type="none" w="med" len="med"/>
                      <a:tailEnd type="none" w="med" len="med"/>
                    </a:lnB>
                  </a:tcPr>
                </a:tc>
              </a:tr>
            </a:tbl>
          </a:graphicData>
        </a:graphic>
      </p:graphicFrame>
      <p:pic>
        <p:nvPicPr>
          <p:cNvPr id="6"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7" name="Text 3"/>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8" name="Text 4"/>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1</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How many bytes is one SensorData?</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struct SensorData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float temperature;</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float humidity;</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float light;</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Courier New" pitchFamily="49" charset="0"/>
                <a:ea typeface="Courier New" pitchFamily="49" charset="-122"/>
                <a:cs typeface="Courier New" pitchFamily="49" charset="-120"/>
              </a:rPr>
              <a:t>12</a:t>
            </a:r>
            <a:endParaRPr lang="en-US" sz="3200" dirty="0"/>
          </a:p>
        </p:txBody>
      </p:sp>
      <p:sp>
        <p:nvSpPr>
          <p:cNvPr id="11" name="Text 9"/>
          <p:cNvSpPr/>
          <p:nvPr/>
        </p:nvSpPr>
        <p:spPr>
          <a:xfrm>
            <a:off x="6527800" y="2890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25616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Three floats of 4 bytes each on the INCIPE Board.</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2</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What prints?</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SensorData x;</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x.temperature = 21.5;</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Serial.println(x.temperature);</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Courier New" pitchFamily="49" charset="0"/>
                <a:ea typeface="Courier New" pitchFamily="49" charset="-122"/>
                <a:cs typeface="Courier New" pitchFamily="49" charset="-120"/>
              </a:rPr>
              <a:t>21.50</a:t>
            </a:r>
            <a:endParaRPr lang="en-US" sz="3200" dirty="0"/>
          </a:p>
        </p:txBody>
      </p:sp>
      <p:sp>
        <p:nvSpPr>
          <p:cNvPr id="11" name="Text 9"/>
          <p:cNvSpPr/>
          <p:nvPr/>
        </p:nvSpPr>
        <p:spPr>
          <a:xfrm>
            <a:off x="6527800" y="2890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256161"/>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dot reaches the temperature member; Arduino prints a float with two decimal places.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3</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The light starts in RED. What are the first four lines?</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RED:    ... state = YELLOW;</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YELLOW: ... state = GREEN;</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GREEN:  ... state = RED;</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1427361"/>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B57946"/>
                </a:solidFill>
                <a:latin typeface="Courier New" pitchFamily="49" charset="0"/>
                <a:ea typeface="Courier New" pitchFamily="49" charset="-122"/>
                <a:cs typeface="Courier New" pitchFamily="49" charset="-120"/>
              </a:rPr>
              <a:t>RED</a:t>
            </a:r>
            <a:endParaRPr lang="en-US" sz="2400" dirty="0"/>
          </a:p>
          <a:p>
            <a:pPr algn="l" indent="0" marL="0">
              <a:lnSpc>
                <a:spcPts val="2760"/>
              </a:lnSpc>
              <a:buNone/>
            </a:pPr>
            <a:r>
              <a:rPr lang="en-US" sz="2400" b="1" dirty="0">
                <a:solidFill>
                  <a:srgbClr val="B57946"/>
                </a:solidFill>
                <a:latin typeface="Courier New" pitchFamily="49" charset="0"/>
                <a:ea typeface="Courier New" pitchFamily="49" charset="-122"/>
                <a:cs typeface="Courier New" pitchFamily="49" charset="-120"/>
              </a:rPr>
              <a:t>YELLOW</a:t>
            </a:r>
            <a:endParaRPr lang="en-US" sz="2400" dirty="0"/>
          </a:p>
          <a:p>
            <a:pPr algn="l" indent="0" marL="0">
              <a:lnSpc>
                <a:spcPts val="2760"/>
              </a:lnSpc>
              <a:buNone/>
            </a:pPr>
            <a:r>
              <a:rPr lang="en-US" sz="2400" b="1" dirty="0">
                <a:solidFill>
                  <a:srgbClr val="B57946"/>
                </a:solidFill>
                <a:latin typeface="Courier New" pitchFamily="49" charset="0"/>
                <a:ea typeface="Courier New" pitchFamily="49" charset="-122"/>
                <a:cs typeface="Courier New" pitchFamily="49" charset="-120"/>
              </a:rPr>
              <a:t>GREEN</a:t>
            </a:r>
            <a:endParaRPr lang="en-US" sz="2400" dirty="0"/>
          </a:p>
          <a:p>
            <a:pPr algn="l" indent="0" marL="0">
              <a:lnSpc>
                <a:spcPts val="2760"/>
              </a:lnSpc>
              <a:buNone/>
            </a:pPr>
            <a:r>
              <a:rPr lang="en-US" sz="2400" b="1" dirty="0">
                <a:solidFill>
                  <a:srgbClr val="B57946"/>
                </a:solidFill>
                <a:latin typeface="Courier New" pitchFamily="49" charset="0"/>
                <a:ea typeface="Courier New" pitchFamily="49" charset="-122"/>
                <a:cs typeface="Courier New" pitchFamily="49" charset="-120"/>
              </a:rPr>
              <a:t>RED</a:t>
            </a:r>
            <a:endParaRPr lang="en-US" sz="2400" dirty="0"/>
          </a:p>
        </p:txBody>
      </p:sp>
      <p:sp>
        <p:nvSpPr>
          <p:cNvPr id="11" name="Text 9"/>
          <p:cNvSpPr/>
          <p:nvPr/>
        </p:nvSpPr>
        <p:spPr>
          <a:xfrm>
            <a:off x="6527800" y="382508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4190802"/>
            <a:ext cx="512775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Each pass shows the current state, then moves on; after GREEN it goes back to RED.</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4</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Which state comes straight after YELLOW?</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124455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YELLOW:</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Serial.println("YELLOW");</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delay(1000);</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state = GREEN;</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  break;</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Courier New" pitchFamily="49" charset="0"/>
                <a:ea typeface="Courier New" pitchFamily="49" charset="-122"/>
                <a:cs typeface="Courier New" pitchFamily="49" charset="-120"/>
              </a:rPr>
              <a:t>GREEN</a:t>
            </a:r>
            <a:endParaRPr lang="en-US" sz="3200" dirty="0"/>
          </a:p>
        </p:txBody>
      </p:sp>
      <p:sp>
        <p:nvSpPr>
          <p:cNvPr id="11" name="Text 9"/>
          <p:cNvSpPr/>
          <p:nvPr/>
        </p:nvSpPr>
        <p:spPr>
          <a:xfrm>
            <a:off x="6527800" y="2890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25616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The YELLOW case sets state = GREEN.</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Checkpoint 5</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How long is one full Red → Yellow → Green cycle?</a:t>
            </a:r>
            <a:endParaRPr lang="en-US" sz="2800" dirty="0"/>
          </a:p>
        </p:txBody>
      </p:sp>
      <p:sp>
        <p:nvSpPr>
          <p:cNvPr id="5" name="Shape 3"/>
          <p:cNvSpPr/>
          <p:nvPr/>
        </p:nvSpPr>
        <p:spPr>
          <a:xfrm>
            <a:off x="685800" y="1905000"/>
            <a:ext cx="5334000" cy="3556000"/>
          </a:xfrm>
          <a:prstGeom prst="rect">
            <a:avLst/>
          </a:prstGeom>
          <a:solidFill>
            <a:srgbClr val="E1E1E1"/>
          </a:solidFill>
          <a:ln/>
        </p:spPr>
      </p:sp>
      <p:sp>
        <p:nvSpPr>
          <p:cNvPr id="6" name="Text 4"/>
          <p:cNvSpPr/>
          <p:nvPr/>
        </p:nvSpPr>
        <p:spPr>
          <a:xfrm>
            <a:off x="939800" y="21590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READ THE CODE</a:t>
            </a:r>
            <a:endParaRPr lang="en-US" sz="1200" dirty="0"/>
          </a:p>
        </p:txBody>
      </p:sp>
      <p:sp>
        <p:nvSpPr>
          <p:cNvPr id="7" name="Text 5"/>
          <p:cNvSpPr/>
          <p:nvPr/>
        </p:nvSpPr>
        <p:spPr>
          <a:xfrm>
            <a:off x="939800" y="2524720"/>
            <a:ext cx="4970780" cy="75689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RED:    ... delay(3000);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YELLOW: ... delay(1000); ...</a:t>
            </a:r>
            <a:endParaRPr lang="en-US" sz="1200" dirty="0"/>
          </a:p>
          <a:p>
            <a:pPr algn="l" indent="0" marL="0">
              <a:lnSpc>
                <a:spcPts val="1920"/>
              </a:lnSpc>
              <a:buNone/>
            </a:pPr>
            <a:r>
              <a:rPr lang="en-US" sz="1200" dirty="0">
                <a:solidFill>
                  <a:srgbClr val="1D1D1E"/>
                </a:solidFill>
                <a:latin typeface="Courier New" pitchFamily="49" charset="0"/>
                <a:ea typeface="Courier New" pitchFamily="49" charset="-122"/>
                <a:cs typeface="Courier New" pitchFamily="49" charset="-120"/>
              </a:rPr>
              <a:t>case GREEN:  ... delay(3000); ...</a:t>
            </a:r>
            <a:endParaRPr lang="en-US" sz="1200" dirty="0"/>
          </a:p>
        </p:txBody>
      </p:sp>
      <p:sp>
        <p:nvSpPr>
          <p:cNvPr id="8" name="Shape 6"/>
          <p:cNvSpPr/>
          <p:nvPr/>
        </p:nvSpPr>
        <p:spPr>
          <a:xfrm>
            <a:off x="6273800" y="1905000"/>
            <a:ext cx="6350" cy="3556000"/>
          </a:xfrm>
          <a:prstGeom prst="rect">
            <a:avLst/>
          </a:prstGeom>
          <a:solidFill>
            <a:srgbClr val="D4D4D4"/>
          </a:solidFill>
          <a:ln/>
        </p:spPr>
      </p:sp>
      <p:sp>
        <p:nvSpPr>
          <p:cNvPr id="9" name="Text 7"/>
          <p:cNvSpPr/>
          <p:nvPr/>
        </p:nvSpPr>
        <p:spPr>
          <a:xfrm>
            <a:off x="6527800" y="1905000"/>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ANSWER</a:t>
            </a:r>
            <a:endParaRPr lang="en-US" sz="1200" dirty="0"/>
          </a:p>
        </p:txBody>
      </p:sp>
      <p:sp>
        <p:nvSpPr>
          <p:cNvPr id="10" name="Text 8"/>
          <p:cNvSpPr/>
          <p:nvPr/>
        </p:nvSpPr>
        <p:spPr>
          <a:xfrm>
            <a:off x="6527800" y="2270720"/>
            <a:ext cx="512775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Courier New" pitchFamily="49" charset="0"/>
                <a:ea typeface="Courier New" pitchFamily="49" charset="-122"/>
                <a:cs typeface="Courier New" pitchFamily="49" charset="-120"/>
              </a:rPr>
              <a:t>7 s</a:t>
            </a:r>
            <a:endParaRPr lang="en-US" sz="3200" dirty="0"/>
          </a:p>
        </p:txBody>
      </p:sp>
      <p:sp>
        <p:nvSpPr>
          <p:cNvPr id="11" name="Text 9"/>
          <p:cNvSpPr/>
          <p:nvPr/>
        </p:nvSpPr>
        <p:spPr>
          <a:xfrm>
            <a:off x="6527800" y="2890441"/>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1D1E"/>
                </a:solidFill>
                <a:latin typeface="Helvetica Neue" pitchFamily="34" charset="0"/>
                <a:ea typeface="Helvetica Neue" pitchFamily="34" charset="-122"/>
                <a:cs typeface="Helvetica Neue" pitchFamily="34" charset="-120"/>
              </a:rPr>
              <a:t>WHY</a:t>
            </a:r>
            <a:endParaRPr lang="en-US" sz="1200" dirty="0"/>
          </a:p>
        </p:txBody>
      </p:sp>
      <p:sp>
        <p:nvSpPr>
          <p:cNvPr id="12" name="Text 10"/>
          <p:cNvSpPr/>
          <p:nvPr/>
        </p:nvSpPr>
        <p:spPr>
          <a:xfrm>
            <a:off x="6527800" y="3256161"/>
            <a:ext cx="512775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0000"/>
                </a:solidFill>
                <a:latin typeface="Helvetica Neue" pitchFamily="34" charset="0"/>
                <a:ea typeface="Helvetica Neue" pitchFamily="34" charset="-122"/>
                <a:cs typeface="Helvetica Neue" pitchFamily="34" charset="-120"/>
              </a:rPr>
              <a:t>3000 + 1000 + 3000 = 7000 ms.</a:t>
            </a:r>
            <a:endParaRPr lang="en-US" sz="1400" dirty="0"/>
          </a:p>
        </p:txBody>
      </p:sp>
      <p:pic>
        <p:nvPicPr>
          <p:cNvPr id="13"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4" name="Text 11"/>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5" name="Text 12"/>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381000" y="381000"/>
            <a:ext cx="31750" cy="754360"/>
          </a:xfrm>
          <a:prstGeom prst="rect">
            <a:avLst/>
          </a:prstGeom>
          <a:solidFill>
            <a:srgbClr val="B57946"/>
          </a:solidFill>
          <a:ln/>
        </p:spPr>
      </p:sp>
      <p:sp>
        <p:nvSpPr>
          <p:cNvPr id="3" name="Text 1"/>
          <p:cNvSpPr/>
          <p:nvPr/>
        </p:nvSpPr>
        <p:spPr>
          <a:xfrm>
            <a:off x="685800" y="381000"/>
            <a:ext cx="949680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57946"/>
                </a:solidFill>
                <a:latin typeface="Helvetica Neue" pitchFamily="34" charset="0"/>
                <a:ea typeface="Helvetica Neue" pitchFamily="34" charset="-122"/>
                <a:cs typeface="Helvetica Neue" pitchFamily="34" charset="-120"/>
              </a:rPr>
              <a:t>Recap</a:t>
            </a:r>
            <a:endParaRPr lang="en-US" sz="1600" dirty="0"/>
          </a:p>
        </p:txBody>
      </p:sp>
      <p:sp>
        <p:nvSpPr>
          <p:cNvPr id="4" name="Text 2"/>
          <p:cNvSpPr/>
          <p:nvPr>
            <p:ph type="title"/>
          </p:nvPr>
        </p:nvSpPr>
        <p:spPr>
          <a:xfrm>
            <a:off x="685800" y="726430"/>
            <a:ext cx="9496806"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D1D1E"/>
                </a:solidFill>
                <a:latin typeface="Helvetica Neue" pitchFamily="34" charset="0"/>
                <a:ea typeface="Helvetica Neue" pitchFamily="34" charset="-122"/>
                <a:cs typeface="Helvetica Neue" pitchFamily="34" charset="-120"/>
              </a:rPr>
              <a:t>Three things to take away.</a:t>
            </a:r>
            <a:endParaRPr lang="en-US" sz="2800" dirty="0"/>
          </a:p>
        </p:txBody>
      </p:sp>
      <p:sp>
        <p:nvSpPr>
          <p:cNvPr id="5" name="Text 3"/>
          <p:cNvSpPr/>
          <p:nvPr/>
        </p:nvSpPr>
        <p:spPr>
          <a:xfrm>
            <a:off x="685800" y="1905000"/>
            <a:ext cx="3435909"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1</a:t>
            </a:r>
            <a:endParaRPr lang="en-US" sz="3200" dirty="0"/>
          </a:p>
        </p:txBody>
      </p:sp>
      <p:sp>
        <p:nvSpPr>
          <p:cNvPr id="6" name="Text 4"/>
          <p:cNvSpPr/>
          <p:nvPr/>
        </p:nvSpPr>
        <p:spPr>
          <a:xfrm>
            <a:off x="685800" y="2473920"/>
            <a:ext cx="343590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 struct groups related values under one name; reach each member with a dot, and return the whole card from a function.</a:t>
            </a:r>
            <a:endParaRPr lang="en-US" sz="1500" dirty="0"/>
          </a:p>
        </p:txBody>
      </p:sp>
      <p:sp>
        <p:nvSpPr>
          <p:cNvPr id="7" name="Text 5"/>
          <p:cNvSpPr/>
          <p:nvPr/>
        </p:nvSpPr>
        <p:spPr>
          <a:xfrm>
            <a:off x="4428034"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2</a:t>
            </a:r>
            <a:endParaRPr lang="en-US" sz="3200" dirty="0"/>
          </a:p>
        </p:txBody>
      </p:sp>
      <p:sp>
        <p:nvSpPr>
          <p:cNvPr id="8" name="Text 6"/>
          <p:cNvSpPr/>
          <p:nvPr/>
        </p:nvSpPr>
        <p:spPr>
          <a:xfrm>
            <a:off x="4428034" y="2473920"/>
            <a:ext cx="343596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 state machine is always in exactly one state; plan the states and transitions as a table, then write one case per row.</a:t>
            </a:r>
            <a:endParaRPr lang="en-US" sz="1500" dirty="0"/>
          </a:p>
        </p:txBody>
      </p:sp>
      <p:sp>
        <p:nvSpPr>
          <p:cNvPr id="9" name="Text 7"/>
          <p:cNvSpPr/>
          <p:nvPr/>
        </p:nvSpPr>
        <p:spPr>
          <a:xfrm>
            <a:off x="8170317" y="1905000"/>
            <a:ext cx="3435960"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B57946"/>
                </a:solidFill>
                <a:latin typeface="Helvetica Neue" pitchFamily="34" charset="0"/>
                <a:ea typeface="Helvetica Neue" pitchFamily="34" charset="-122"/>
                <a:cs typeface="Helvetica Neue" pitchFamily="34" charset="-120"/>
              </a:rPr>
              <a:t>3</a:t>
            </a:r>
            <a:endParaRPr lang="en-US" sz="3200" dirty="0"/>
          </a:p>
        </p:txBody>
      </p:sp>
      <p:sp>
        <p:nvSpPr>
          <p:cNvPr id="10" name="Text 8"/>
          <p:cNvSpPr/>
          <p:nvPr/>
        </p:nvSpPr>
        <p:spPr>
          <a:xfrm>
            <a:off x="8170317" y="2473920"/>
            <a:ext cx="34359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D1D1E"/>
                </a:solidFill>
                <a:latin typeface="Helvetica Neue" pitchFamily="34" charset="0"/>
                <a:ea typeface="Helvetica Neue" pitchFamily="34" charset="-122"/>
                <a:cs typeface="Helvetica Neue" pitchFamily="34" charset="-120"/>
              </a:rPr>
              <a:t>An enum gives states readable names — and the AI’s review should improve your table, not replace it.</a:t>
            </a:r>
            <a:endParaRPr lang="en-US" sz="1500" dirty="0"/>
          </a:p>
        </p:txBody>
      </p:sp>
      <p:sp>
        <p:nvSpPr>
          <p:cNvPr id="11" name="Text 9"/>
          <p:cNvSpPr/>
          <p:nvPr/>
        </p:nvSpPr>
        <p:spPr>
          <a:xfrm>
            <a:off x="685800" y="4953000"/>
            <a:ext cx="10820400" cy="539105"/>
          </a:xfrm>
          <a:prstGeom prst="rect">
            <a:avLst/>
          </a:prstGeom>
          <a:solidFill>
            <a:srgbClr val="E1E1E1"/>
          </a:solidFill>
          <a:ln/>
        </p:spPr>
        <p:txBody>
          <a:bodyPr wrap="square" lIns="203200" tIns="152400" rIns="0" bIns="127000" rtlCol="0" anchor="t">
            <a:normAutofit/>
          </a:bodyPr>
          <a:lstStyle/>
          <a:p>
            <a:pPr algn="l" indent="0" marL="0">
              <a:lnSpc>
                <a:spcPts val="1820"/>
              </a:lnSpc>
              <a:buNone/>
            </a:pPr>
            <a:r>
              <a:rPr lang="en-US" sz="1300" b="1" dirty="0">
                <a:solidFill>
                  <a:srgbClr val="000000"/>
                </a:solidFill>
                <a:latin typeface="Helvetica Neue" pitchFamily="34" charset="0"/>
                <a:ea typeface="Helvetica Neue" pitchFamily="34" charset="-122"/>
                <a:cs typeface="Helvetica Neue" pitchFamily="34" charset="-120"/>
              </a:rPr>
              <a:t>Next — M3 Session 1: Analog sensors &amp; ADC.</a:t>
            </a:r>
            <a:r>
              <a:rPr lang="en-US" sz="1300" dirty="0">
                <a:solidFill>
                  <a:srgbClr val="000000"/>
                </a:solidFill>
                <a:latin typeface="Helvetica Neue" pitchFamily="34" charset="0"/>
                <a:ea typeface="Helvetica Neue" pitchFamily="34" charset="-122"/>
                <a:cs typeface="Helvetica Neue" pitchFamily="34" charset="-120"/>
              </a:rPr>
              <a:t> How the board turns a voltage into a number, and a live Serial Monitor dashboard.</a:t>
            </a:r>
            <a:endParaRPr lang="en-US" sz="1300" dirty="0"/>
          </a:p>
        </p:txBody>
      </p:sp>
      <p:pic>
        <p:nvPicPr>
          <p:cNvPr id="12" name="Image 0" descr="Incipe Academy">    </p:cNvPr>
          <p:cNvPicPr>
            <a:picLocks noChangeAspect="1"/>
          </p:cNvPicPr>
          <p:nvPr/>
        </p:nvPicPr>
        <p:blipFill>
          <a:blip r:embed="rId1"/>
          <a:srcRect l="0" r="0" t="-507" b="-507"/>
          <a:stretch/>
        </p:blipFill>
        <p:spPr>
          <a:xfrm>
            <a:off x="10490200" y="381000"/>
            <a:ext cx="1320800" cy="273050"/>
          </a:xfrm>
          <a:prstGeom prst="rect">
            <a:avLst/>
          </a:prstGeom>
        </p:spPr>
      </p:pic>
      <p:sp>
        <p:nvSpPr>
          <p:cNvPr id="13" name="Text 10"/>
          <p:cNvSpPr/>
          <p:nvPr/>
        </p:nvSpPr>
        <p:spPr>
          <a:xfrm>
            <a:off x="381000" y="62636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 2026 Incipe Academy Limited. All rights reserved.</a:t>
            </a:r>
            <a:endParaRPr lang="en-US" sz="1200" dirty="0"/>
          </a:p>
        </p:txBody>
      </p:sp>
      <p:sp>
        <p:nvSpPr>
          <p:cNvPr id="14" name="Text 11"/>
          <p:cNvSpPr/>
          <p:nvPr/>
        </p:nvSpPr>
        <p:spPr>
          <a:xfrm>
            <a:off x="10998200" y="62636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76706C"/>
                </a:solidFill>
                <a:latin typeface="Helvetica Neue" pitchFamily="34" charset="0"/>
                <a:ea typeface="Helvetica Neue" pitchFamily="34" charset="-122"/>
                <a:cs typeface="Helvetica Neue" pitchFamily="34" charset="-120"/>
              </a:rPr>
              <a:t>35</a:t>
            </a:r>
            <a:endParaRPr lang="en-US" sz="1200" dirty="0"/>
          </a:p>
        </p:txBody>
      </p:sp>
    </p:spTree>
  </p:cSld>
  <p:clrMapOvr>
    <a:masterClrMapping/>
  </p:clrMapOvr>
</p:sld>
</file>

<file path=ppt/theme/theme1.xml><?xml version="1.0" encoding="utf-8"?>
<a:theme xmlns:a="http://schemas.openxmlformats.org/drawingml/2006/main" name="Session 4 · Structs &amp; State Machines">
  <a:themeElements>
    <a:clrScheme name="Session 4 · Structs &amp; State Machines">
      <a:dk1>
        <a:srgbClr val="1D1D1E"/>
      </a:dk1>
      <a:lt1>
        <a:srgbClr val="F5F5F5"/>
      </a:lt1>
      <a:dk2>
        <a:srgbClr val="535354"/>
      </a:dk2>
      <a:lt2>
        <a:srgbClr val="DFDFE0"/>
      </a:lt2>
      <a:accent1>
        <a:srgbClr val="B57946"/>
      </a:accent1>
      <a:accent2>
        <a:srgbClr val="8F5C33"/>
      </a:accent2>
      <a:accent3>
        <a:srgbClr val="76706C"/>
      </a:accent3>
      <a:accent4>
        <a:srgbClr val="D4D4D4"/>
      </a:accent4>
      <a:accent5>
        <a:srgbClr val="9AA0A6"/>
      </a:accent5>
      <a:accent6>
        <a:srgbClr val="737374"/>
      </a:accent6>
      <a:hlink>
        <a:srgbClr val="0563C1"/>
      </a:hlink>
      <a:folHlink>
        <a:srgbClr val="954F72"/>
      </a:folHlink>
    </a:clrScheme>
    <a:fontScheme name="Session 4 · Structs &amp; State Machines">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4 · Structs &amp; State Machines</dc:title>
  <dc:subject/>
  <dc:creator/>
  <cp:lastModifiedBy/>
  <cp:revision>1</cp:revision>
  <dcterms:created xsi:type="dcterms:W3CDTF">2026-10-09T04:59:29Z</dcterms:created>
  <dcterms:modified xsi:type="dcterms:W3CDTF">2026-10-09T04:59:29Z</dcterms:modified>
</cp:coreProperties>
</file>